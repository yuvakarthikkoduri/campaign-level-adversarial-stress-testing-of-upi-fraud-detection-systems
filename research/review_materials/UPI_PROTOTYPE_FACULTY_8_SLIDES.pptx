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charts/chart1.xml" ContentType="application/vnd.openxmlformats-officedocument.drawingml.chart+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XGBoost</c:v>
                </c:pt>
              </c:strCache>
            </c:strRef>
          </c:tx>
          <c:spPr>
            <a:solidFill>
              <a:srgbClr val="01696F"/>
            </a:solidFill>
            <a:effectLst/>
          </c:spPr>
          <c:invertIfNegative val="0"/>
          <c:dLbls>
            <c:numFmt formatCode="0" sourceLinked="0"/>
            <c:txPr>
              <a:bodyPr/>
              <a:lstStyle/>
              <a:p>
                <a:pPr>
                  <a:defRPr b="0" i="0" strike="noStrike" sz="1000" u="none">
                    <a:solidFill>
                      <a:srgbClr val="FFFFFF"/>
                    </a:solidFill>
                    <a:latin typeface="Arial"/>
                  </a:defRPr>
                </a:pPr>
              </a:p>
            </c:txPr>
            <c:dLblPos val="inEnd"/>
            <c:showLegendKey val="0"/>
            <c:showVal val="1"/>
            <c:showCatName val="0"/>
            <c:showSerName val="0"/>
            <c:showPercent val="0"/>
            <c:showBubbleSize val="0"/>
            <c:showLeaderLines val="0"/>
          </c:dLbls>
          <c:cat>
            <c:strRef>
              <c:f>Sheet1!$A$2:$A$5</c:f>
              <c:strCache>
                <c:ptCount val="4"/>
                <c:pt idx="0">
                  <c:v>Static</c:v>
                </c:pt>
                <c:pt idx="1">
                  <c:v>Rule-adaptive</c:v>
                </c:pt>
                <c:pt idx="2">
                  <c:v>Trained RL</c:v>
                </c:pt>
                <c:pt idx="3">
                  <c:v>Zero Q</c:v>
                </c:pt>
              </c:strCache>
            </c:strRef>
          </c:cat>
          <c:val>
            <c:numRef>
              <c:f>Sheet1!$B$2:$B$5</c:f>
              <c:numCache>
                <c:formatCode>General</c:formatCode>
                <c:ptCount val="4"/>
                <c:pt idx="0">
                  <c:v>100</c:v>
                </c:pt>
                <c:pt idx="1">
                  <c:v>100</c:v>
                </c:pt>
                <c:pt idx="2">
                  <c:v>100</c:v>
                </c:pt>
                <c:pt idx="3">
                  <c:v>58.33333333333333</c:v>
                </c:pt>
              </c:numCache>
            </c:numRef>
          </c:val>
        </c:ser>
        <c:ser>
          <c:idx val="1"/>
          <c:order val="1"/>
          <c:tx>
            <c:strRef>
              <c:f>Sheet1!$C$1</c:f>
              <c:strCache>
                <c:ptCount val="1"/>
                <c:pt idx="0">
                  <c:v>Random Forest</c:v>
                </c:pt>
              </c:strCache>
            </c:strRef>
          </c:tx>
          <c:spPr>
            <a:solidFill>
              <a:srgbClr val="707F82"/>
            </a:solidFill>
            <a:effectLst/>
          </c:spPr>
          <c:invertIfNegative val="0"/>
          <c:dLbls>
            <c:numFmt formatCode="0" sourceLinked="0"/>
            <c:txPr>
              <a:bodyPr/>
              <a:lstStyle/>
              <a:p>
                <a:pPr>
                  <a:defRPr b="0" i="0" strike="noStrike" sz="1000" u="none">
                    <a:solidFill>
                      <a:srgbClr val="FFFFFF"/>
                    </a:solidFill>
                    <a:latin typeface="Arial"/>
                  </a:defRPr>
                </a:pPr>
              </a:p>
            </c:txPr>
            <c:dLblPos val="inEnd"/>
            <c:showLegendKey val="0"/>
            <c:showVal val="1"/>
            <c:showCatName val="0"/>
            <c:showSerName val="0"/>
            <c:showPercent val="0"/>
            <c:showBubbleSize val="0"/>
            <c:showLeaderLines val="0"/>
          </c:dLbls>
          <c:cat>
            <c:strRef>
              <c:f>Sheet1!$A$2:$A$5</c:f>
              <c:strCache>
                <c:ptCount val="4"/>
                <c:pt idx="0">
                  <c:v>Static</c:v>
                </c:pt>
                <c:pt idx="1">
                  <c:v>Rule-adaptive</c:v>
                </c:pt>
                <c:pt idx="2">
                  <c:v>Trained RL</c:v>
                </c:pt>
                <c:pt idx="3">
                  <c:v>Zero Q</c:v>
                </c:pt>
              </c:strCache>
            </c:strRef>
          </c:cat>
          <c:val>
            <c:numRef>
              <c:f>Sheet1!$C$2:$C$5</c:f>
              <c:numCache>
                <c:formatCode>General</c:formatCode>
                <c:ptCount val="4"/>
                <c:pt idx="0">
                  <c:v>100</c:v>
                </c:pt>
                <c:pt idx="1">
                  <c:v>100</c:v>
                </c:pt>
                <c:pt idx="2">
                  <c:v>98.61111111111111</c:v>
                </c:pt>
                <c:pt idx="3">
                  <c:v>58.33333333333333</c:v>
                </c:pt>
              </c:numCache>
            </c:numRef>
          </c:val>
        </c:ser>
        <c:dLbls>
          <c:numFmt formatCode="0" sourceLinked="0"/>
          <c:txPr>
            <a:bodyPr/>
            <a:lstStyle/>
            <a:p>
              <a:pPr>
                <a:defRPr b="0" i="0" strike="noStrike" sz="1000" u="none">
                  <a:solidFill>
                    <a:srgbClr val="FFFFFF"/>
                  </a:solidFill>
                  <a:latin typeface="Arial"/>
                </a:defRPr>
              </a:pPr>
            </a:p>
          </c:txPr>
          <c:dLblPos val="inEnd"/>
          <c:showLegendKey val="0"/>
          <c:showVal val="1"/>
          <c:showCatName val="0"/>
          <c:showSerName val="0"/>
          <c:showPercent val="0"/>
          <c:showBubbleSize val="0"/>
          <c:showLeaderLines val="0"/>
        </c:dLbls>
        <c:gapWidth val="150"/>
        <c:overlap val="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172D30"/>
                </a:solidFill>
                <a:latin typeface="Arial"/>
              </a:defRPr>
            </a:pPr>
            <a:endParaRPr lang="en-US"/>
          </a:p>
        </c:txPr>
        <c:crossAx val="2094734552"/>
        <c:crosses val="autoZero"/>
        <c:auto val="1"/>
        <c:lblAlgn val="ctr"/>
        <c:noMultiLvlLbl val="1"/>
      </c:catAx>
      <c:valAx>
        <c:axId val="2094734552"/>
        <c:scaling>
          <c:orientation val="minMax"/>
          <c:max val="100"/>
          <c:min val="0"/>
        </c:scaling>
        <c:delete val="0"/>
        <c:axPos val="l"/>
        <c:majorGridlines>
          <c:spPr>
            <a:ln w="6350" cap="flat">
              <a:solidFill>
                <a:srgbClr val="E4EAE8"/>
              </a:solidFill>
              <a:prstDash val="solid"/>
              <a:round/>
            </a:ln>
          </c:spPr>
        </c:majorGridlines>
        <c:title>
          <c:tx>
            <c:rich>
              <a:bodyPr/>
              <a:lstStyle/>
              <a:p>
                <a:pPr>
                  <a:defRPr sz="1000" b="0" i="0" u="none" strike="noStrike">
                    <a:solidFill>
                      <a:srgbClr val="000000"/>
                    </a:solidFill>
                    <a:latin typeface="Arial"/>
                  </a:defRPr>
                </a:pPr>
                <a:r>
                  <a:rPr sz="1000" b="0" i="0" u="none" strike="noStrike">
                    <a:solidFill>
                      <a:srgbClr val="000000"/>
                    </a:solidFill>
                    <a:latin typeface="Arial"/>
                  </a:rPr>
                  <a:t>Completion (%)</a:t>
                </a:r>
              </a:p>
            </c:rich>
          </c:tx>
          <c:layout/>
          <c:overlay val="0"/>
        </c:title>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172D30"/>
                </a:solidFill>
                <a:latin typeface="Arial"/>
              </a:defRPr>
            </a:pPr>
            <a:endParaRPr lang="en-US"/>
          </a:p>
        </c:txPr>
        <c:crossAx val="2094734554"/>
        <c:crosses val="autoZero"/>
        <c:crossBetween val="between"/>
        <c:majorUnit val="25"/>
      </c:valAx>
      <c:spPr>
        <a:solidFill>
          <a:srgbClr val="FFFFFF"/>
        </a:solidFill>
        <a:ln w="12700" cap="flat">
          <a:solidFill>
            <a:srgbClr val="FFFFFF"/>
          </a:solidFill>
        </a:ln>
        <a:effectLst/>
      </c:spPr>
    </c:plotArea>
    <c:legend>
      <c:legendPos val="b"/>
      <c:overlay val="0"/>
      <c:txPr>
        <a:bodyPr/>
        <a:lstStyle/>
        <a:p>
          <a:pPr>
            <a:defRPr sz="1100">
              <a:solidFill>
                <a:srgbClr val="172D30"/>
              </a:solidFill>
            </a:defRPr>
          </a:pPr>
          <a:endParaRPr lang="en-US"/>
        </a:p>
      </c:txPr>
    </c:legend>
    <c:plotVisOnly val="1"/>
    <c:dispBlanksAs val="span"/>
  </c:chart>
  <c:spPr>
    <a:solidFill>
      <a:srgbClr val="FFFFFF"/>
    </a:solidFill>
    <a:ln w="12700" cap="flat">
      <a:solidFill>
        <a:srgbClr val="FFFFFF"/>
      </a:solid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Lecturer pitch: The project is a Python laboratory, not a deployed fraud-prevention service. It connects attacker decisions, detector responses and simulated account transfers in inspectable campaigns. The user selected prototype/rl-academic-complete as the final project branch for this presentation; final selection is not scientific certification. Guide and student names/IDs were supplied by the user. No phone numbers or pasted-chat timestamps are included. The later dashboard and matched pilot live on the separate review branch.
Repository: https://github.com/YuvakarthikKoduri/Campaign-Level-Adversarial-Stress-Testing-of-UPI-Fraud-Detection-Systems
Code baseline: 92a12966ec49fd6dcd147fd4d7411382715bc729. Not the later corrected legacy or matched-pilot study.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semantic explanation of the simulator, not an observed three-transaction trajectory. FLAG is not treated as a prevented transfer. Gross debit is internal simulated money flow, not actual victim loss or proven money saved. Source: src/environment/simulator.py and src/campaigns/executor.py.
Code baseline: 92a12966ec49fd6dcd147fd4d7411382715bc729. Not the later corrected legacy or matched-pilot study.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Implementation source: src/campaigns/generator.py, src/campaigns/executor.py, src/attackers/, src/detectors/baseline.py and src/experiments/prototype.py. The legacy family labels describe workload generation and pacing; the RL action trajectory need not preserve each family's original shape. This branch does not contain run_dashboard.py or the later mechanism_pilot module.
Code baseline: 92a12966ec49fd6dcd147fd4d7411382715bc729. Not the later corrected legacy or matched-pilot study.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docs/PROTOTYPE_GUIDE.md and src/attackers/q_learning.py. RL learns only on high-value-burst workloads. Other families are excluded from attacker training, not demonstrably excluded from historical detector training. Action spaces, pacing, clipping and offline costs differ across the legacy policies, so these are not fully matched comparisons. The newer label-blind arm belongs to the later pilot, not this branch.
Code baseline: 92a12966ec49fd6dcd147fd4d7411382715bc729. Not the later corrected legacy or matched-pilot study.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Exact source: prototype_evidence/comparison-final/{campaigns.json,transactions.csv,summary.csv,config.json} at code baseline 92a1296. New read-only arithmetic checked the historical records, not a new full run. Completion is target-reaching campaigns / attempted campaigns. Bar labels are rounded to whole percentages to separate adjacent values; the underlying native-chart series retain unrounded values. The counts are not the corrected legacy 4,161 transactions or matched pilot 7,200 campaigns. No error bars are plotted; sample seed SD in percentage points in category order Static, Rule, RL, Zero Q:
XGBoost: 0.000, 0.000, 0.000, 7.217
Random Forest: 0.000, 0.000, 2.406, 7.217
Raw pooled completions: 1077. Pooling is descriptive, not a common strategy effect.
Code baseline: 92a12966ec49fd6dcd147fd4d7411382715bc729. Not the later corrected legacy or matched-pilot study.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three displayed lines are exact selected lines from previously executed short-main.stdout, not simulated terminal text and not a new experiment in this revision. The original 16-cell run used seed 101, two training episodes per detector and one campaign per detector/kind/attacker cell; all 16 cells completed. Recorded command exit code: 0. See prototype_terminal_excerpt.json for the full output hash, command, selected lines and record hashes. Exposure is the mean gross simulated debit within the cell; here its denominator is one campaign. Static and RL action/amount clipping differ, so the displayed exposure difference does not establish learned superiority or actual savings. The original stderr contains a model portability warning. The full-study counts on slide 5 are separate records.
Code baseline: 92a12966ec49fd6dcd147fd4d7411382715bc729. Not the later corrected legacy or matched-pilot study.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small demonstration is not a reproduction of the retained 300-training-episode, 24-campaign-per-cell full study. Use a new output directory for every run; outputs are not overwritten. The exact small configuration was newly executed in an isolated workspace. The existing environment was reused, not clean-installed. Full clone/setup commands, reload and regression commands are in the revised README. Dashboard startup requires the later review branch, not this one.
Code baseline: 92a12966ec49fd6dcd147fd4d7411382715bc729. Not the later corrected legacy or matched-pilot study.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Final is the user's selected delivery branch, not production or scientific-validation certification. Verified comparison: master 1e2ca9e3db4a19bb72e0433f07f10425f74b82fa versus prototype documentation head 25c28300ca738ee2d0a530b99683033668c312ca; research-code baseline 92a12966ec49fd6dcd147fd4d7411382715bc729. Master already contains static/rule attackers, two saved detectors, campaign simulation and scenario JSON reports. Prototype adds src/attackers/q_learning.py, src/experiments/prototype.py, run_prototype.py, saved policies and prototype RL tests. The models/ and data/ trees have zero diff. This comparison is of implementation features, not a controlled performance experiment against master. The prototype branch has no local dashboard; later dashboard, matched pilot and repaired study are on the separate review branch. Historical detector-family exclusion remains unverified and policy comparisons are confounded. Later money, evaluation-state and schema repairs are not backported by this presentation revision. The later IEEE draft remains AI-assisted; human authorship review and university-approved AI-content/similarity checks remain pending. Do not promise a zero AI-content or unmeasured similarity score.
Prior research already addresses fraud classification, sequential modelling, adversarial evasion and learning-based attackers; the implemented combination is campaign-ledger execution, inspectable tabular policies, checkpoints and traces. No first-ever algorithm or literature-wide novelty claim is made. Literature matrix: https://github.com/YuvakarthikKoduri/Campaign-Level-Adversarial-Stress-Testing-of-UPI-Fraud-Detection-Systems/blob/review/academic-dashboard-paper-v1/research/literature_review/comparison_matrix.csv . Examples: Carminati et al., RAID 2020, https://www.usenix.org/conference/raid2020/presentation/carminati ; Henderson et al., Deep Reinforcement Learning That Matters, https://arxiv.org/abs/1709.06560 .
Code baseline: 92a12966ec49fd6dcd147fd4d7411382715bc729. Not the later corrected legacy or matched-pilot study.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hyperlink" Target="https://github.com/YuvakarthikKoduri/Campaign-Level-Adversarial-Stress-Testing-of-UPI-Fraud-Detection-Systems/tree/prototype/rl-academic-complete" TargetMode="External"/><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hyperlink" Target="https://github.com/YuvakarthikKoduri/Campaign-Level-Adversarial-Stress-Testing-of-UPI-Fraud-Detection-Systems/tree/prototype/rl-academic-complete" TargetMode="External"/><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hyperlink" Target="https://github.com/YuvakarthikKoduri/Campaign-Level-Adversarial-Stress-Testing-of-UPI-Fraud-Detection-Systems/tree/prototype/rl-academic-complete" TargetMode="External"/><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hyperlink" Target="https://github.com/YuvakarthikKoduri/Campaign-Level-Adversarial-Stress-Testing-of-UPI-Fraud-Detection-Systems/tree/prototype/rl-academic-complete" TargetMode="External"/><Relationship Id="rId2" Type="http://schemas.openxmlformats.org/officeDocument/2006/relationships/chart" Target="/ppt/charts/chart1.xml"/><Relationship Id="rId3" Type="http://schemas.openxmlformats.org/officeDocument/2006/relationships/slideLayout" Target="../slideLayouts/slideLayout1.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hyperlink" Target="https://github.com/YuvakarthikKoduri/Campaign-Level-Adversarial-Stress-Testing-of-UPI-Fraud-Detection-Systems/blob/prototype/rl-academic-complete/research/review_materials/prototype_terminal_excerpt.json" TargetMode="External"/><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hyperlink" Target="https://github.com/YuvakarthikKoduri/Campaign-Level-Adversarial-Stress-Testing-of-UPI-Fraud-Detection-Systems/tree/prototype/rl-academic-complete" TargetMode="External"/><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hyperlink" Target="https://github.com/YuvakarthikKoduri/Campaign-Level-Adversarial-Stress-Testing-of-UPI-Fraud-Detection-Systems/compare/1e2ca9e3db4a19bb72e0433f07f10425f74b82fa...25c28300ca738ee2d0a530b99683033668c312ca" TargetMode="External"/><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72D30"/>
        </a:solidFill>
      </p:bgPr>
    </p:bg>
    <p:spTree>
      <p:nvGrpSpPr>
        <p:cNvPr id="1" name=""/>
        <p:cNvGrpSpPr/>
        <p:nvPr/>
      </p:nvGrpSpPr>
      <p:grpSpPr>
        <a:xfrm>
          <a:off x="0" y="0"/>
          <a:ext cx="0" cy="0"/>
          <a:chOff x="0" y="0"/>
          <a:chExt cx="0" cy="0"/>
        </a:xfrm>
      </p:grpSpPr>
      <p:sp>
        <p:nvSpPr>
          <p:cNvPr id="2" name="Text 0"/>
          <p:cNvSpPr/>
          <p:nvPr/>
        </p:nvSpPr>
        <p:spPr>
          <a:xfrm>
            <a:off x="548640" y="640080"/>
            <a:ext cx="4114800" cy="1508760"/>
          </a:xfrm>
          <a:prstGeom prst="rect">
            <a:avLst/>
          </a:prstGeom>
          <a:noFill/>
          <a:ln/>
        </p:spPr>
        <p:txBody>
          <a:bodyPr wrap="square" lIns="0" tIns="0" rIns="0" bIns="0" rtlCol="0" anchor="t"/>
          <a:lstStyle/>
          <a:p>
            <a:pPr indent="0" marL="0">
              <a:buNone/>
            </a:pPr>
            <a:r>
              <a:rPr lang="en-US" sz="4600" b="1" dirty="0">
                <a:solidFill>
                  <a:srgbClr val="FFFFFF"/>
                </a:solidFill>
                <a:latin typeface="Arial" pitchFamily="34" charset="0"/>
                <a:ea typeface="Arial" pitchFamily="34" charset="-122"/>
                <a:cs typeface="Arial" pitchFamily="34" charset="-120"/>
              </a:rPr>
              <a:t>UPI Fraud</a:t>
            </a:r>
            <a:endParaRPr lang="en-US" sz="4600" dirty="0"/>
          </a:p>
          <a:p>
            <a:pPr indent="0" marL="0">
              <a:buNone/>
            </a:pPr>
            <a:r>
              <a:rPr lang="en-US" sz="4600" b="1" dirty="0">
                <a:solidFill>
                  <a:srgbClr val="FFFFFF"/>
                </a:solidFill>
                <a:latin typeface="Arial" pitchFamily="34" charset="0"/>
                <a:ea typeface="Arial" pitchFamily="34" charset="-122"/>
                <a:cs typeface="Arial" pitchFamily="34" charset="-120"/>
              </a:rPr>
              <a:t>Stress Lab</a:t>
            </a:r>
            <a:endParaRPr lang="en-US" sz="4600" dirty="0"/>
          </a:p>
        </p:txBody>
      </p:sp>
      <p:sp>
        <p:nvSpPr>
          <p:cNvPr id="3" name="Text 1"/>
          <p:cNvSpPr/>
          <p:nvPr/>
        </p:nvSpPr>
        <p:spPr>
          <a:xfrm>
            <a:off x="594360" y="2423160"/>
            <a:ext cx="3977640" cy="1097280"/>
          </a:xfrm>
          <a:prstGeom prst="rect">
            <a:avLst/>
          </a:prstGeom>
          <a:noFill/>
          <a:ln/>
        </p:spPr>
        <p:txBody>
          <a:bodyPr wrap="square" lIns="0" tIns="0" rIns="0" bIns="0" rtlCol="0" anchor="t"/>
          <a:lstStyle/>
          <a:p>
            <a:pPr indent="0" marL="0">
              <a:buNone/>
            </a:pPr>
            <a:r>
              <a:rPr lang="en-US" sz="2300" dirty="0">
                <a:solidFill>
                  <a:srgbClr val="BCE2E7"/>
                </a:solidFill>
                <a:latin typeface="Arial" pitchFamily="34" charset="0"/>
                <a:ea typeface="Arial" pitchFamily="34" charset="-122"/>
                <a:cs typeface="Arial" pitchFamily="34" charset="-120"/>
              </a:rPr>
              <a:t>Can an attack campaign</a:t>
            </a:r>
            <a:endParaRPr lang="en-US" sz="2300" dirty="0"/>
          </a:p>
          <a:p>
            <a:pPr indent="0" marL="0">
              <a:buNone/>
            </a:pPr>
            <a:r>
              <a:rPr lang="en-US" sz="2300" dirty="0">
                <a:solidFill>
                  <a:srgbClr val="BCE2E7"/>
                </a:solidFill>
                <a:latin typeface="Arial" pitchFamily="34" charset="0"/>
                <a:ea typeface="Arial" pitchFamily="34" charset="-122"/>
                <a:cs typeface="Arial" pitchFamily="34" charset="-120"/>
              </a:rPr>
              <a:t>reach its target before a</a:t>
            </a:r>
            <a:endParaRPr lang="en-US" sz="2300" dirty="0"/>
          </a:p>
          <a:p>
            <a:pPr indent="0" marL="0">
              <a:buNone/>
            </a:pPr>
            <a:r>
              <a:rPr lang="en-US" sz="2300" dirty="0">
                <a:solidFill>
                  <a:srgbClr val="BCE2E7"/>
                </a:solidFill>
                <a:latin typeface="Arial" pitchFamily="34" charset="0"/>
                <a:ea typeface="Arial" pitchFamily="34" charset="-122"/>
                <a:cs typeface="Arial" pitchFamily="34" charset="-120"/>
              </a:rPr>
              <a:t>detector stops it?</a:t>
            </a:r>
            <a:endParaRPr lang="en-US" sz="2300" dirty="0"/>
          </a:p>
        </p:txBody>
      </p:sp>
      <p:sp>
        <p:nvSpPr>
          <p:cNvPr id="4" name="Text 2"/>
          <p:cNvSpPr/>
          <p:nvPr/>
        </p:nvSpPr>
        <p:spPr>
          <a:xfrm>
            <a:off x="594360" y="3703320"/>
            <a:ext cx="3977640" cy="411480"/>
          </a:xfrm>
          <a:prstGeom prst="rect">
            <a:avLst/>
          </a:prstGeom>
          <a:noFill/>
          <a:ln/>
        </p:spPr>
        <p:txBody>
          <a:bodyPr wrap="square" lIns="0" tIns="0" rIns="0" bIns="0" rtlCol="0" anchor="t"/>
          <a:lstStyle/>
          <a:p>
            <a:pPr indent="0" marL="0">
              <a:buNone/>
            </a:pPr>
            <a:r>
              <a:rPr lang="en-US" sz="1500" dirty="0">
                <a:solidFill>
                  <a:srgbClr val="FFFFFF"/>
                </a:solidFill>
                <a:latin typeface="Arial" pitchFamily="34" charset="0"/>
                <a:ea typeface="Arial" pitchFamily="34" charset="-122"/>
                <a:cs typeface="Arial" pitchFamily="34" charset="-120"/>
              </a:rPr>
              <a:t>A synthetic campaign-level research laboratory</a:t>
            </a:r>
            <a:endParaRPr lang="en-US" sz="1500" dirty="0"/>
          </a:p>
        </p:txBody>
      </p:sp>
      <p:sp>
        <p:nvSpPr>
          <p:cNvPr id="5" name="Text 3"/>
          <p:cNvSpPr/>
          <p:nvPr/>
        </p:nvSpPr>
        <p:spPr>
          <a:xfrm>
            <a:off x="4892040" y="731520"/>
            <a:ext cx="3657600" cy="228600"/>
          </a:xfrm>
          <a:prstGeom prst="rect">
            <a:avLst/>
          </a:prstGeom>
          <a:noFill/>
          <a:ln/>
        </p:spPr>
        <p:txBody>
          <a:bodyPr wrap="square" lIns="0" tIns="0" rIns="0" bIns="0" rtlCol="0" anchor="t"/>
          <a:lstStyle/>
          <a:p>
            <a:pPr indent="0" marL="0">
              <a:buNone/>
            </a:pPr>
            <a:r>
              <a:rPr lang="en-US" sz="1200" b="1" dirty="0">
                <a:solidFill>
                  <a:srgbClr val="BCE2E7"/>
                </a:solidFill>
                <a:latin typeface="Arial" pitchFamily="34" charset="0"/>
                <a:ea typeface="Arial" pitchFamily="34" charset="-122"/>
                <a:cs typeface="Arial" pitchFamily="34" charset="-120"/>
              </a:rPr>
              <a:t>PROJECT GUIDE</a:t>
            </a:r>
            <a:endParaRPr lang="en-US" sz="1200" dirty="0"/>
          </a:p>
        </p:txBody>
      </p:sp>
      <p:sp>
        <p:nvSpPr>
          <p:cNvPr id="6" name="Text 4"/>
          <p:cNvSpPr/>
          <p:nvPr/>
        </p:nvSpPr>
        <p:spPr>
          <a:xfrm>
            <a:off x="4892040" y="1060704"/>
            <a:ext cx="3657600" cy="365760"/>
          </a:xfrm>
          <a:prstGeom prst="rect">
            <a:avLst/>
          </a:prstGeom>
          <a:noFill/>
          <a:ln/>
        </p:spPr>
        <p:txBody>
          <a:bodyPr wrap="square" lIns="0" tIns="0" rIns="0" bIns="0" rtlCol="0" anchor="t"/>
          <a:lstStyle/>
          <a:p>
            <a:pPr indent="0" marL="0">
              <a:buNone/>
            </a:pPr>
            <a:r>
              <a:rPr lang="en-US" sz="2200" b="1" dirty="0">
                <a:solidFill>
                  <a:srgbClr val="FFFFFF"/>
                </a:solidFill>
                <a:latin typeface="Arial" pitchFamily="34" charset="0"/>
                <a:ea typeface="Arial" pitchFamily="34" charset="-122"/>
                <a:cs typeface="Arial" pitchFamily="34" charset="-120"/>
              </a:rPr>
              <a:t>Dr S. KALYANI</a:t>
            </a:r>
            <a:endParaRPr lang="en-US" sz="2200" dirty="0"/>
          </a:p>
        </p:txBody>
      </p:sp>
      <p:sp>
        <p:nvSpPr>
          <p:cNvPr id="7" name="Text 5"/>
          <p:cNvSpPr/>
          <p:nvPr/>
        </p:nvSpPr>
        <p:spPr>
          <a:xfrm>
            <a:off x="4892040" y="1737360"/>
            <a:ext cx="3657600" cy="228600"/>
          </a:xfrm>
          <a:prstGeom prst="rect">
            <a:avLst/>
          </a:prstGeom>
          <a:noFill/>
          <a:ln/>
        </p:spPr>
        <p:txBody>
          <a:bodyPr wrap="square" lIns="0" tIns="0" rIns="0" bIns="0" rtlCol="0" anchor="t"/>
          <a:lstStyle/>
          <a:p>
            <a:pPr indent="0" marL="0">
              <a:buNone/>
            </a:pPr>
            <a:r>
              <a:rPr lang="en-US" sz="1200" b="1" dirty="0">
                <a:solidFill>
                  <a:srgbClr val="BCE2E7"/>
                </a:solidFill>
                <a:latin typeface="Arial" pitchFamily="34" charset="0"/>
                <a:ea typeface="Arial" pitchFamily="34" charset="-122"/>
                <a:cs typeface="Arial" pitchFamily="34" charset="-120"/>
              </a:rPr>
              <a:t>STUDENTS</a:t>
            </a:r>
            <a:endParaRPr lang="en-US" sz="1200" dirty="0"/>
          </a:p>
        </p:txBody>
      </p:sp>
      <p:sp>
        <p:nvSpPr>
          <p:cNvPr id="8" name="Text 6"/>
          <p:cNvSpPr/>
          <p:nvPr/>
        </p:nvSpPr>
        <p:spPr>
          <a:xfrm>
            <a:off x="4892040" y="2148840"/>
            <a:ext cx="3703320" cy="292608"/>
          </a:xfrm>
          <a:prstGeom prst="rect">
            <a:avLst/>
          </a:prstGeom>
          <a:noFill/>
          <a:ln/>
        </p:spPr>
        <p:txBody>
          <a:bodyPr wrap="square" lIns="0" tIns="0" rIns="0" bIns="0" rtlCol="0" anchor="t"/>
          <a:lstStyle/>
          <a:p>
            <a:pPr indent="0" marL="0">
              <a:buNone/>
            </a:pPr>
            <a:r>
              <a:rPr lang="en-US" sz="1600" dirty="0">
                <a:solidFill>
                  <a:srgbClr val="FFFFFF"/>
                </a:solidFill>
                <a:latin typeface="Arial" pitchFamily="34" charset="0"/>
                <a:ea typeface="Arial" pitchFamily="34" charset="-122"/>
                <a:cs typeface="Arial" pitchFamily="34" charset="-120"/>
              </a:rPr>
              <a:t>24BCA7401 - SHAURYA SINGH</a:t>
            </a:r>
            <a:endParaRPr lang="en-US" sz="1600" dirty="0"/>
          </a:p>
        </p:txBody>
      </p:sp>
      <p:sp>
        <p:nvSpPr>
          <p:cNvPr id="9" name="Text 7"/>
          <p:cNvSpPr/>
          <p:nvPr/>
        </p:nvSpPr>
        <p:spPr>
          <a:xfrm>
            <a:off x="4892040" y="2542032"/>
            <a:ext cx="3703320" cy="292608"/>
          </a:xfrm>
          <a:prstGeom prst="rect">
            <a:avLst/>
          </a:prstGeom>
          <a:noFill/>
          <a:ln/>
        </p:spPr>
        <p:txBody>
          <a:bodyPr wrap="square" lIns="0" tIns="0" rIns="0" bIns="0" rtlCol="0" anchor="t"/>
          <a:lstStyle/>
          <a:p>
            <a:pPr indent="0" marL="0">
              <a:buNone/>
            </a:pPr>
            <a:r>
              <a:rPr lang="en-US" sz="1600" dirty="0">
                <a:solidFill>
                  <a:srgbClr val="FFFFFF"/>
                </a:solidFill>
                <a:latin typeface="Arial" pitchFamily="34" charset="0"/>
                <a:ea typeface="Arial" pitchFamily="34" charset="-122"/>
                <a:cs typeface="Arial" pitchFamily="34" charset="-120"/>
              </a:rPr>
              <a:t>24BCA7167 - K.H.A.Revanth</a:t>
            </a:r>
            <a:endParaRPr lang="en-US" sz="1600" dirty="0"/>
          </a:p>
        </p:txBody>
      </p:sp>
      <p:sp>
        <p:nvSpPr>
          <p:cNvPr id="10" name="Text 8"/>
          <p:cNvSpPr/>
          <p:nvPr/>
        </p:nvSpPr>
        <p:spPr>
          <a:xfrm>
            <a:off x="4892040" y="2935224"/>
            <a:ext cx="3703320" cy="292608"/>
          </a:xfrm>
          <a:prstGeom prst="rect">
            <a:avLst/>
          </a:prstGeom>
          <a:noFill/>
          <a:ln/>
        </p:spPr>
        <p:txBody>
          <a:bodyPr wrap="square" lIns="0" tIns="0" rIns="0" bIns="0" rtlCol="0" anchor="t"/>
          <a:lstStyle/>
          <a:p>
            <a:pPr indent="0" marL="0">
              <a:buNone/>
            </a:pPr>
            <a:r>
              <a:rPr lang="en-US" sz="1600" dirty="0">
                <a:solidFill>
                  <a:srgbClr val="FFFFFF"/>
                </a:solidFill>
                <a:latin typeface="Arial" pitchFamily="34" charset="0"/>
                <a:ea typeface="Arial" pitchFamily="34" charset="-122"/>
                <a:cs typeface="Arial" pitchFamily="34" charset="-120"/>
              </a:rPr>
              <a:t>24BCA7171 - K Yuva Karthik</a:t>
            </a:r>
            <a:endParaRPr lang="en-US" sz="1600" dirty="0"/>
          </a:p>
        </p:txBody>
      </p:sp>
      <p:sp>
        <p:nvSpPr>
          <p:cNvPr id="11" name="Text 9"/>
          <p:cNvSpPr/>
          <p:nvPr/>
        </p:nvSpPr>
        <p:spPr>
          <a:xfrm>
            <a:off x="4892040" y="3328416"/>
            <a:ext cx="3703320" cy="292608"/>
          </a:xfrm>
          <a:prstGeom prst="rect">
            <a:avLst/>
          </a:prstGeom>
          <a:noFill/>
          <a:ln/>
        </p:spPr>
        <p:txBody>
          <a:bodyPr wrap="square" lIns="0" tIns="0" rIns="0" bIns="0" rtlCol="0" anchor="t"/>
          <a:lstStyle/>
          <a:p>
            <a:pPr indent="0" marL="0">
              <a:buNone/>
            </a:pPr>
            <a:r>
              <a:rPr lang="en-US" sz="1600" dirty="0">
                <a:solidFill>
                  <a:srgbClr val="FFFFFF"/>
                </a:solidFill>
                <a:latin typeface="Arial" pitchFamily="34" charset="0"/>
                <a:ea typeface="Arial" pitchFamily="34" charset="-122"/>
                <a:cs typeface="Arial" pitchFamily="34" charset="-120"/>
              </a:rPr>
              <a:t>24BCE7026 - Likith R</a:t>
            </a:r>
            <a:endParaRPr lang="en-US" sz="1600" dirty="0"/>
          </a:p>
        </p:txBody>
      </p:sp>
      <p:sp>
        <p:nvSpPr>
          <p:cNvPr id="12" name="Text 10"/>
          <p:cNvSpPr/>
          <p:nvPr/>
        </p:nvSpPr>
        <p:spPr>
          <a:xfrm>
            <a:off x="4892040" y="3721608"/>
            <a:ext cx="3703320" cy="292608"/>
          </a:xfrm>
          <a:prstGeom prst="rect">
            <a:avLst/>
          </a:prstGeom>
          <a:noFill/>
          <a:ln/>
        </p:spPr>
        <p:txBody>
          <a:bodyPr wrap="square" lIns="0" tIns="0" rIns="0" bIns="0" rtlCol="0" anchor="t"/>
          <a:lstStyle/>
          <a:p>
            <a:pPr indent="0" marL="0">
              <a:buNone/>
            </a:pPr>
            <a:r>
              <a:rPr lang="en-US" sz="1600" dirty="0">
                <a:solidFill>
                  <a:srgbClr val="FFFFFF"/>
                </a:solidFill>
                <a:latin typeface="Arial" pitchFamily="34" charset="0"/>
                <a:ea typeface="Arial" pitchFamily="34" charset="-122"/>
                <a:cs typeface="Arial" pitchFamily="34" charset="-120"/>
              </a:rPr>
              <a:t>24BCA7040 - Hima Tejaswi</a:t>
            </a:r>
            <a:endParaRPr lang="en-US" sz="1600" dirty="0"/>
          </a:p>
        </p:txBody>
      </p:sp>
      <p:sp>
        <p:nvSpPr>
          <p:cNvPr id="13" name="Text 11"/>
          <p:cNvSpPr/>
          <p:nvPr/>
        </p:nvSpPr>
        <p:spPr>
          <a:xfrm>
            <a:off x="594360" y="4251960"/>
            <a:ext cx="7955280" cy="274320"/>
          </a:xfrm>
          <a:prstGeom prst="rect">
            <a:avLst/>
          </a:prstGeom>
          <a:noFill/>
          <a:ln/>
        </p:spPr>
        <p:txBody>
          <a:bodyPr wrap="square" lIns="0" tIns="0" rIns="0" bIns="0" rtlCol="0" anchor="t"/>
          <a:lstStyle/>
          <a:p>
            <a:pPr indent="0" marL="0">
              <a:buNone/>
            </a:pPr>
            <a:r>
              <a:rPr lang="en-US" sz="1400" b="1" dirty="0">
                <a:solidFill>
                  <a:srgbClr val="BCE2E7"/>
                </a:solidFill>
                <a:latin typeface="Arial" pitchFamily="34" charset="0"/>
                <a:ea typeface="Arial" pitchFamily="34" charset="-122"/>
                <a:cs typeface="Arial" pitchFamily="34" charset="-120"/>
              </a:rPr>
              <a:t>Final project branch: prototype/rl-academic-complete</a:t>
            </a:r>
            <a:endParaRPr lang="en-US" sz="1400" dirty="0"/>
          </a:p>
        </p:txBody>
      </p:sp>
      <p:sp>
        <p:nvSpPr>
          <p:cNvPr id="14" name="Text 12"/>
          <p:cNvSpPr/>
          <p:nvPr/>
        </p:nvSpPr>
        <p:spPr>
          <a:xfrm>
            <a:off x="594360" y="4645152"/>
            <a:ext cx="7955280" cy="228600"/>
          </a:xfrm>
          <a:prstGeom prst="rect">
            <a:avLst/>
          </a:prstGeom>
          <a:noFill/>
          <a:ln/>
        </p:spPr>
        <p:txBody>
          <a:bodyPr wrap="square" lIns="0" tIns="0" rIns="0" bIns="0" rtlCol="0" anchor="t"/>
          <a:lstStyle/>
          <a:p>
            <a:pPr indent="0" marL="0">
              <a:buNone/>
            </a:pPr>
            <a:r>
              <a:rPr lang="en-US" sz="1200" dirty="0">
                <a:solidFill>
                  <a:srgbClr val="BCE2E7"/>
                </a:solidFill>
                <a:latin typeface="Arial" pitchFamily="34" charset="0"/>
                <a:ea typeface="Arial" pitchFamily="34" charset="-122"/>
                <a:cs typeface="Arial" pitchFamily="34" charset="-120"/>
              </a:rPr>
              <a:t>Offline simulation only. No real payments. Gate C remains HOLD.</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47472"/>
            <a:ext cx="8229600" cy="868680"/>
          </a:xfrm>
          <a:prstGeom prst="rect">
            <a:avLst/>
          </a:prstGeom>
          <a:noFill/>
          <a:ln/>
        </p:spPr>
        <p:txBody>
          <a:bodyPr wrap="square" lIns="0" tIns="0" rIns="0" bIns="0" rtlCol="0" anchor="t"/>
          <a:lstStyle/>
          <a:p>
            <a:pPr indent="0" marL="0">
              <a:buNone/>
            </a:pPr>
            <a:r>
              <a:rPr lang="en-US" sz="3400" b="1" dirty="0">
                <a:solidFill>
                  <a:srgbClr val="172D30"/>
                </a:solidFill>
                <a:latin typeface="Arial" pitchFamily="34" charset="0"/>
                <a:ea typeface="Arial" pitchFamily="34" charset="-122"/>
                <a:cs typeface="Arial" pitchFamily="34" charset="-120"/>
              </a:rPr>
              <a:t>Why measure a whole campaign?</a:t>
            </a:r>
            <a:endParaRPr lang="en-US" sz="3400" dirty="0"/>
          </a:p>
        </p:txBody>
      </p:sp>
      <p:sp>
        <p:nvSpPr>
          <p:cNvPr id="3" name="Shape 1"/>
          <p:cNvSpPr/>
          <p:nvPr/>
        </p:nvSpPr>
        <p:spPr>
          <a:xfrm>
            <a:off x="8503920" y="4663440"/>
            <a:ext cx="292608" cy="292608"/>
          </a:xfrm>
          <a:prstGeom prst="ellipse">
            <a:avLst/>
          </a:prstGeom>
          <a:solidFill>
            <a:srgbClr val="01696F"/>
          </a:solidFill>
          <a:ln w="12700">
            <a:solidFill>
              <a:srgbClr val="01696F">
                <a:alpha val="0"/>
              </a:srgbClr>
            </a:solidFill>
            <a:prstDash val="solid"/>
          </a:ln>
        </p:spPr>
      </p:sp>
      <p:sp>
        <p:nvSpPr>
          <p:cNvPr id="4" name="Text 2"/>
          <p:cNvSpPr/>
          <p:nvPr/>
        </p:nvSpPr>
        <p:spPr>
          <a:xfrm>
            <a:off x="8503920" y="4695444"/>
            <a:ext cx="292608" cy="182880"/>
          </a:xfrm>
          <a:prstGeom prst="rect">
            <a:avLst/>
          </a:prstGeom>
          <a:noFill/>
          <a:ln/>
        </p:spPr>
        <p:txBody>
          <a:bodyPr wrap="square" lIns="0" tIns="0" rIns="0" bIns="0" rtlCol="0" anchor="t"/>
          <a:lstStyle/>
          <a:p>
            <a:pPr algn="ctr" indent="0" marL="0">
              <a:buNone/>
            </a:pPr>
            <a:r>
              <a:rPr lang="en-US" sz="1000" b="1" dirty="0">
                <a:solidFill>
                  <a:srgbClr val="FFFFFF"/>
                </a:solidFill>
                <a:latin typeface="Arial" pitchFamily="34" charset="0"/>
                <a:ea typeface="Arial" pitchFamily="34" charset="-122"/>
                <a:cs typeface="Arial" pitchFamily="34" charset="-120"/>
              </a:rPr>
              <a:t>2</a:t>
            </a:r>
            <a:endParaRPr lang="en-US" sz="1000" dirty="0"/>
          </a:p>
        </p:txBody>
      </p:sp>
      <p:sp>
        <p:nvSpPr>
          <p:cNvPr id="5" name="Text 3"/>
          <p:cNvSpPr/>
          <p:nvPr/>
        </p:nvSpPr>
        <p:spPr>
          <a:xfrm>
            <a:off x="457200" y="4663440"/>
            <a:ext cx="4206240" cy="201168"/>
          </a:xfrm>
          <a:prstGeom prst="rect">
            <a:avLst/>
          </a:prstGeom>
          <a:noFill/>
          <a:ln/>
        </p:spPr>
        <p:txBody>
          <a:bodyPr wrap="square" lIns="0" tIns="0" rIns="0" bIns="0" rtlCol="0" anchor="t"/>
          <a:lstStyle/>
          <a:p>
            <a:pPr indent="0" marL="0">
              <a:buNone/>
            </a:pPr>
            <a:r>
              <a:rPr lang="en-US" sz="1000" dirty="0">
                <a:solidFill>
                  <a:srgbClr val="465E62"/>
                </a:solidFill>
                <a:latin typeface="Arial" pitchFamily="34" charset="0"/>
                <a:ea typeface="Arial" pitchFamily="34" charset="-122"/>
                <a:cs typeface="Arial" pitchFamily="34" charset="-120"/>
              </a:rPr>
              <a:t>SYNTHETIC RESEARCH  |  GATE C HOLD</a:t>
            </a:r>
            <a:endParaRPr lang="en-US" sz="1000" dirty="0"/>
          </a:p>
        </p:txBody>
      </p:sp>
      <p:sp>
        <p:nvSpPr>
          <p:cNvPr id="6" name="Text 4"/>
          <p:cNvSpPr/>
          <p:nvPr/>
        </p:nvSpPr>
        <p:spPr>
          <a:xfrm>
            <a:off x="457200" y="4370832"/>
            <a:ext cx="8001000" cy="201168"/>
          </a:xfrm>
          <a:prstGeom prst="rect">
            <a:avLst/>
          </a:prstGeom>
          <a:noFill/>
          <a:ln/>
        </p:spPr>
        <p:txBody>
          <a:bodyPr wrap="square" lIns="0" tIns="0" rIns="0" bIns="0" rtlCol="0" anchor="ctr"/>
          <a:lstStyle/>
          <a:p>
            <a:pPr indent="0" marL="0">
              <a:buNone/>
            </a:pPr>
            <a:r>
              <a:rPr lang="en-US" sz="1000" dirty="0">
                <a:solidFill>
                  <a:srgbClr val="465E62"/>
                </a:solidFill>
                <a:latin typeface="Arial" pitchFamily="34" charset="0"/>
                <a:ea typeface="Arial" pitchFamily="34" charset="-122"/>
                <a:cs typeface="Arial" pitchFamily="34" charset="-120"/>
              </a:rPr>
              <a:t>Source: </a:t>
            </a:r>
            <a:r>
              <a:rPr lang="en-US" sz="1000" u="sng" dirty="0">
                <a:solidFill>
                  <a:srgbClr val="01696F"/>
                </a:solidFill>
                <a:latin typeface="Arial" pitchFamily="34" charset="0"/>
                <a:ea typeface="Arial" pitchFamily="34" charset="-122"/>
                <a:cs typeface="Arial" pitchFamily="34" charset="-120"/>
                <a:hlinkClick r:id="rId1" invalidUrl="" action="" tgtFrame="" tooltip="" history="1" highlightClick="0" endSnd="0">
                  <a:extLst>
                    <a:ext uri="{A12FA001-AC4F-418D-AE19-62706E023703}">
                      <ahyp:hlinkClr xmlns:ahyp="http://schemas.microsoft.com/office/drawing/2018/hyperlinkcolor" val="tx"/>
                    </a:ext>
                  </a:extLst>
                </a:hlinkClick>
              </a:rPr>
              <a:t>prototype source and retained records</a:t>
            </a:r>
            <a:endParaRPr lang="en-US" sz="1000" dirty="0"/>
          </a:p>
        </p:txBody>
      </p:sp>
      <p:sp>
        <p:nvSpPr>
          <p:cNvPr id="7" name="Text 5"/>
          <p:cNvSpPr/>
          <p:nvPr/>
        </p:nvSpPr>
        <p:spPr>
          <a:xfrm>
            <a:off x="457200" y="1371600"/>
            <a:ext cx="8229600" cy="411480"/>
          </a:xfrm>
          <a:prstGeom prst="rect">
            <a:avLst/>
          </a:prstGeom>
          <a:noFill/>
          <a:ln/>
        </p:spPr>
        <p:txBody>
          <a:bodyPr wrap="square" lIns="0" tIns="0" rIns="0" bIns="0" rtlCol="0" anchor="t"/>
          <a:lstStyle/>
          <a:p>
            <a:pPr indent="0" marL="0">
              <a:buNone/>
            </a:pPr>
            <a:r>
              <a:rPr lang="en-US" sz="2000" b="1" dirty="0">
                <a:solidFill>
                  <a:srgbClr val="01696F"/>
                </a:solidFill>
                <a:latin typeface="Arial" pitchFamily="34" charset="0"/>
                <a:ea typeface="Arial" pitchFamily="34" charset="-122"/>
                <a:cs typeface="Arial" pitchFamily="34" charset="-120"/>
              </a:rPr>
              <a:t>A transaction label is not the same as an intervention outcome.</a:t>
            </a:r>
            <a:endParaRPr lang="en-US" sz="2000" dirty="0"/>
          </a:p>
        </p:txBody>
      </p:sp>
      <p:sp>
        <p:nvSpPr>
          <p:cNvPr id="8" name="Shape 6"/>
          <p:cNvSpPr/>
          <p:nvPr/>
        </p:nvSpPr>
        <p:spPr>
          <a:xfrm>
            <a:off x="457200" y="2057400"/>
            <a:ext cx="2560320" cy="1280160"/>
          </a:xfrm>
          <a:prstGeom prst="rect">
            <a:avLst/>
          </a:prstGeom>
          <a:solidFill>
            <a:srgbClr val="F0F4F3"/>
          </a:solidFill>
          <a:ln w="7620">
            <a:solidFill>
              <a:srgbClr val="D7E0DE"/>
            </a:solidFill>
            <a:prstDash val="solid"/>
          </a:ln>
        </p:spPr>
      </p:sp>
      <p:sp>
        <p:nvSpPr>
          <p:cNvPr id="9" name="Text 7"/>
          <p:cNvSpPr/>
          <p:nvPr/>
        </p:nvSpPr>
        <p:spPr>
          <a:xfrm>
            <a:off x="603504" y="2203704"/>
            <a:ext cx="2267712" cy="987552"/>
          </a:xfrm>
          <a:prstGeom prst="rect">
            <a:avLst/>
          </a:prstGeom>
          <a:noFill/>
          <a:ln/>
        </p:spPr>
        <p:txBody>
          <a:bodyPr wrap="square" lIns="0" tIns="0" rIns="0" bIns="0" rtlCol="0" anchor="t"/>
          <a:lstStyle/>
          <a:p>
            <a:pPr indent="0" marL="0">
              <a:buNone/>
            </a:pPr>
            <a:endParaRPr lang="en-US" sz="1600" dirty="0"/>
          </a:p>
        </p:txBody>
      </p:sp>
      <p:sp>
        <p:nvSpPr>
          <p:cNvPr id="10" name="Text 8"/>
          <p:cNvSpPr/>
          <p:nvPr/>
        </p:nvSpPr>
        <p:spPr>
          <a:xfrm>
            <a:off x="612648" y="2231136"/>
            <a:ext cx="2249424" cy="320040"/>
          </a:xfrm>
          <a:prstGeom prst="rect">
            <a:avLst/>
          </a:prstGeom>
          <a:noFill/>
          <a:ln/>
        </p:spPr>
        <p:txBody>
          <a:bodyPr wrap="square" lIns="0" tIns="0" rIns="0" bIns="0" rtlCol="0" anchor="t"/>
          <a:lstStyle/>
          <a:p>
            <a:pPr indent="0" marL="0">
              <a:buNone/>
            </a:pPr>
            <a:r>
              <a:rPr lang="en-US" sz="2200" b="1" dirty="0">
                <a:solidFill>
                  <a:srgbClr val="172D30"/>
                </a:solidFill>
                <a:latin typeface="Arial" pitchFamily="34" charset="0"/>
                <a:ea typeface="Arial" pitchFamily="34" charset="-122"/>
                <a:cs typeface="Arial" pitchFamily="34" charset="-120"/>
              </a:rPr>
              <a:t>ALLOW</a:t>
            </a:r>
            <a:endParaRPr lang="en-US" sz="2200" dirty="0"/>
          </a:p>
        </p:txBody>
      </p:sp>
      <p:sp>
        <p:nvSpPr>
          <p:cNvPr id="11" name="Text 9"/>
          <p:cNvSpPr/>
          <p:nvPr/>
        </p:nvSpPr>
        <p:spPr>
          <a:xfrm>
            <a:off x="612648" y="2679192"/>
            <a:ext cx="2249424" cy="502920"/>
          </a:xfrm>
          <a:prstGeom prst="rect">
            <a:avLst/>
          </a:prstGeom>
          <a:noFill/>
          <a:ln/>
        </p:spPr>
        <p:txBody>
          <a:bodyPr wrap="square" lIns="0" tIns="0" rIns="0" bIns="0" rtlCol="0" anchor="t"/>
          <a:lstStyle/>
          <a:p>
            <a:pPr indent="0" marL="0">
              <a:buNone/>
            </a:pPr>
            <a:r>
              <a:rPr lang="en-US" sz="1500" dirty="0">
                <a:solidFill>
                  <a:srgbClr val="202B2D"/>
                </a:solidFill>
                <a:latin typeface="Arial" pitchFamily="34" charset="0"/>
                <a:ea typeface="Arial" pitchFamily="34" charset="-122"/>
                <a:cs typeface="Arial" pitchFamily="34" charset="-120"/>
              </a:rPr>
              <a:t>Transfer can proceed.</a:t>
            </a:r>
            <a:endParaRPr lang="en-US" sz="1500" dirty="0"/>
          </a:p>
        </p:txBody>
      </p:sp>
      <p:sp>
        <p:nvSpPr>
          <p:cNvPr id="12" name="Text 10"/>
          <p:cNvSpPr/>
          <p:nvPr/>
        </p:nvSpPr>
        <p:spPr>
          <a:xfrm>
            <a:off x="3054096" y="2468880"/>
            <a:ext cx="210312" cy="320040"/>
          </a:xfrm>
          <a:prstGeom prst="rect">
            <a:avLst/>
          </a:prstGeom>
          <a:noFill/>
          <a:ln/>
        </p:spPr>
        <p:txBody>
          <a:bodyPr wrap="square" lIns="0" tIns="0" rIns="0" bIns="0" rtlCol="0" anchor="t"/>
          <a:lstStyle/>
          <a:p>
            <a:pPr indent="0" marL="0">
              <a:buNone/>
            </a:pPr>
            <a:r>
              <a:rPr lang="en-US" sz="1700" dirty="0">
                <a:solidFill>
                  <a:srgbClr val="172D30"/>
                </a:solidFill>
                <a:latin typeface="Arial" pitchFamily="34" charset="0"/>
                <a:ea typeface="Arial" pitchFamily="34" charset="-122"/>
                <a:cs typeface="Arial" pitchFamily="34" charset="-120"/>
              </a:rPr>
              <a:t>→</a:t>
            </a:r>
            <a:endParaRPr lang="en-US" sz="1700" dirty="0"/>
          </a:p>
        </p:txBody>
      </p:sp>
      <p:sp>
        <p:nvSpPr>
          <p:cNvPr id="13" name="Shape 11"/>
          <p:cNvSpPr/>
          <p:nvPr/>
        </p:nvSpPr>
        <p:spPr>
          <a:xfrm>
            <a:off x="3291840" y="2057400"/>
            <a:ext cx="2560320" cy="1280160"/>
          </a:xfrm>
          <a:prstGeom prst="rect">
            <a:avLst/>
          </a:prstGeom>
          <a:solidFill>
            <a:srgbClr val="F0F4F3"/>
          </a:solidFill>
          <a:ln w="7620">
            <a:solidFill>
              <a:srgbClr val="D7E0DE"/>
            </a:solidFill>
            <a:prstDash val="solid"/>
          </a:ln>
        </p:spPr>
      </p:sp>
      <p:sp>
        <p:nvSpPr>
          <p:cNvPr id="14" name="Text 12"/>
          <p:cNvSpPr/>
          <p:nvPr/>
        </p:nvSpPr>
        <p:spPr>
          <a:xfrm>
            <a:off x="3438144" y="2203704"/>
            <a:ext cx="2267712" cy="987552"/>
          </a:xfrm>
          <a:prstGeom prst="rect">
            <a:avLst/>
          </a:prstGeom>
          <a:noFill/>
          <a:ln/>
        </p:spPr>
        <p:txBody>
          <a:bodyPr wrap="square" lIns="0" tIns="0" rIns="0" bIns="0" rtlCol="0" anchor="t"/>
          <a:lstStyle/>
          <a:p>
            <a:pPr indent="0" marL="0">
              <a:buNone/>
            </a:pPr>
            <a:endParaRPr lang="en-US" sz="1600" dirty="0"/>
          </a:p>
        </p:txBody>
      </p:sp>
      <p:sp>
        <p:nvSpPr>
          <p:cNvPr id="15" name="Text 13"/>
          <p:cNvSpPr/>
          <p:nvPr/>
        </p:nvSpPr>
        <p:spPr>
          <a:xfrm>
            <a:off x="3447288" y="2231136"/>
            <a:ext cx="2249424" cy="320040"/>
          </a:xfrm>
          <a:prstGeom prst="rect">
            <a:avLst/>
          </a:prstGeom>
          <a:noFill/>
          <a:ln/>
        </p:spPr>
        <p:txBody>
          <a:bodyPr wrap="square" lIns="0" tIns="0" rIns="0" bIns="0" rtlCol="0" anchor="t"/>
          <a:lstStyle/>
          <a:p>
            <a:pPr indent="0" marL="0">
              <a:buNone/>
            </a:pPr>
            <a:r>
              <a:rPr lang="en-US" sz="2200" b="1" dirty="0">
                <a:solidFill>
                  <a:srgbClr val="172D30"/>
                </a:solidFill>
                <a:latin typeface="Arial" pitchFamily="34" charset="0"/>
                <a:ea typeface="Arial" pitchFamily="34" charset="-122"/>
                <a:cs typeface="Arial" pitchFamily="34" charset="-120"/>
              </a:rPr>
              <a:t>FLAG</a:t>
            </a:r>
            <a:endParaRPr lang="en-US" sz="2200" dirty="0"/>
          </a:p>
        </p:txBody>
      </p:sp>
      <p:sp>
        <p:nvSpPr>
          <p:cNvPr id="16" name="Text 14"/>
          <p:cNvSpPr/>
          <p:nvPr/>
        </p:nvSpPr>
        <p:spPr>
          <a:xfrm>
            <a:off x="3447288" y="2679192"/>
            <a:ext cx="2249424" cy="502920"/>
          </a:xfrm>
          <a:prstGeom prst="rect">
            <a:avLst/>
          </a:prstGeom>
          <a:noFill/>
          <a:ln/>
        </p:spPr>
        <p:txBody>
          <a:bodyPr wrap="square" lIns="0" tIns="0" rIns="0" bIns="0" rtlCol="0" anchor="t"/>
          <a:lstStyle/>
          <a:p>
            <a:pPr indent="0" marL="0">
              <a:buNone/>
            </a:pPr>
            <a:r>
              <a:rPr lang="en-US" sz="1500" dirty="0">
                <a:solidFill>
                  <a:srgbClr val="202B2D"/>
                </a:solidFill>
                <a:latin typeface="Arial" pitchFamily="34" charset="0"/>
                <a:ea typeface="Arial" pitchFamily="34" charset="-122"/>
                <a:cs typeface="Arial" pitchFamily="34" charset="-120"/>
              </a:rPr>
              <a:t>Alert raised; transfer may proceed.</a:t>
            </a:r>
            <a:endParaRPr lang="en-US" sz="1500" dirty="0"/>
          </a:p>
        </p:txBody>
      </p:sp>
      <p:sp>
        <p:nvSpPr>
          <p:cNvPr id="17" name="Text 15"/>
          <p:cNvSpPr/>
          <p:nvPr/>
        </p:nvSpPr>
        <p:spPr>
          <a:xfrm>
            <a:off x="5888736" y="2468880"/>
            <a:ext cx="210312" cy="320040"/>
          </a:xfrm>
          <a:prstGeom prst="rect">
            <a:avLst/>
          </a:prstGeom>
          <a:noFill/>
          <a:ln/>
        </p:spPr>
        <p:txBody>
          <a:bodyPr wrap="square" lIns="0" tIns="0" rIns="0" bIns="0" rtlCol="0" anchor="t"/>
          <a:lstStyle/>
          <a:p>
            <a:pPr indent="0" marL="0">
              <a:buNone/>
            </a:pPr>
            <a:r>
              <a:rPr lang="en-US" sz="1700" dirty="0">
                <a:solidFill>
                  <a:srgbClr val="172D30"/>
                </a:solidFill>
                <a:latin typeface="Arial" pitchFamily="34" charset="0"/>
                <a:ea typeface="Arial" pitchFamily="34" charset="-122"/>
                <a:cs typeface="Arial" pitchFamily="34" charset="-120"/>
              </a:rPr>
              <a:t>→</a:t>
            </a:r>
            <a:endParaRPr lang="en-US" sz="1700" dirty="0"/>
          </a:p>
        </p:txBody>
      </p:sp>
      <p:sp>
        <p:nvSpPr>
          <p:cNvPr id="18" name="Shape 16"/>
          <p:cNvSpPr/>
          <p:nvPr/>
        </p:nvSpPr>
        <p:spPr>
          <a:xfrm>
            <a:off x="6126480" y="2057400"/>
            <a:ext cx="2560320" cy="1280160"/>
          </a:xfrm>
          <a:prstGeom prst="rect">
            <a:avLst/>
          </a:prstGeom>
          <a:solidFill>
            <a:srgbClr val="F0F4F3"/>
          </a:solidFill>
          <a:ln w="7620">
            <a:solidFill>
              <a:srgbClr val="D7E0DE"/>
            </a:solidFill>
            <a:prstDash val="solid"/>
          </a:ln>
        </p:spPr>
      </p:sp>
      <p:sp>
        <p:nvSpPr>
          <p:cNvPr id="19" name="Text 17"/>
          <p:cNvSpPr/>
          <p:nvPr/>
        </p:nvSpPr>
        <p:spPr>
          <a:xfrm>
            <a:off x="6272784" y="2203704"/>
            <a:ext cx="2267712" cy="987552"/>
          </a:xfrm>
          <a:prstGeom prst="rect">
            <a:avLst/>
          </a:prstGeom>
          <a:noFill/>
          <a:ln/>
        </p:spPr>
        <p:txBody>
          <a:bodyPr wrap="square" lIns="0" tIns="0" rIns="0" bIns="0" rtlCol="0" anchor="t"/>
          <a:lstStyle/>
          <a:p>
            <a:pPr indent="0" marL="0">
              <a:buNone/>
            </a:pPr>
            <a:endParaRPr lang="en-US" sz="1600" dirty="0"/>
          </a:p>
        </p:txBody>
      </p:sp>
      <p:sp>
        <p:nvSpPr>
          <p:cNvPr id="20" name="Text 18"/>
          <p:cNvSpPr/>
          <p:nvPr/>
        </p:nvSpPr>
        <p:spPr>
          <a:xfrm>
            <a:off x="6281928" y="2231136"/>
            <a:ext cx="2249424" cy="320040"/>
          </a:xfrm>
          <a:prstGeom prst="rect">
            <a:avLst/>
          </a:prstGeom>
          <a:noFill/>
          <a:ln/>
        </p:spPr>
        <p:txBody>
          <a:bodyPr wrap="square" lIns="0" tIns="0" rIns="0" bIns="0" rtlCol="0" anchor="t"/>
          <a:lstStyle/>
          <a:p>
            <a:pPr indent="0" marL="0">
              <a:buNone/>
            </a:pPr>
            <a:r>
              <a:rPr lang="en-US" sz="2200" b="1" dirty="0">
                <a:solidFill>
                  <a:srgbClr val="172D30"/>
                </a:solidFill>
                <a:latin typeface="Arial" pitchFamily="34" charset="0"/>
                <a:ea typeface="Arial" pitchFamily="34" charset="-122"/>
                <a:cs typeface="Arial" pitchFamily="34" charset="-120"/>
              </a:rPr>
              <a:t>BLOCK</a:t>
            </a:r>
            <a:endParaRPr lang="en-US" sz="2200" dirty="0"/>
          </a:p>
        </p:txBody>
      </p:sp>
      <p:sp>
        <p:nvSpPr>
          <p:cNvPr id="21" name="Text 19"/>
          <p:cNvSpPr/>
          <p:nvPr/>
        </p:nvSpPr>
        <p:spPr>
          <a:xfrm>
            <a:off x="6281928" y="2679192"/>
            <a:ext cx="2249424" cy="502920"/>
          </a:xfrm>
          <a:prstGeom prst="rect">
            <a:avLst/>
          </a:prstGeom>
          <a:noFill/>
          <a:ln/>
        </p:spPr>
        <p:txBody>
          <a:bodyPr wrap="square" lIns="0" tIns="0" rIns="0" bIns="0" rtlCol="0" anchor="t"/>
          <a:lstStyle/>
          <a:p>
            <a:pPr indent="0" marL="0">
              <a:buNone/>
            </a:pPr>
            <a:r>
              <a:rPr lang="en-US" sz="1500" dirty="0">
                <a:solidFill>
                  <a:srgbClr val="202B2D"/>
                </a:solidFill>
                <a:latin typeface="Arial" pitchFamily="34" charset="0"/>
                <a:ea typeface="Arial" pitchFamily="34" charset="-122"/>
                <a:cs typeface="Arial" pitchFamily="34" charset="-120"/>
              </a:rPr>
              <a:t>Simulator stops the campaign.</a:t>
            </a:r>
            <a:endParaRPr lang="en-US" sz="1500" dirty="0"/>
          </a:p>
        </p:txBody>
      </p:sp>
      <p:sp>
        <p:nvSpPr>
          <p:cNvPr id="22" name="Text 20"/>
          <p:cNvSpPr/>
          <p:nvPr/>
        </p:nvSpPr>
        <p:spPr>
          <a:xfrm>
            <a:off x="457200" y="3611880"/>
            <a:ext cx="8229600" cy="548640"/>
          </a:xfrm>
          <a:prstGeom prst="rect">
            <a:avLst/>
          </a:prstGeom>
          <a:noFill/>
          <a:ln/>
        </p:spPr>
        <p:txBody>
          <a:bodyPr wrap="square" lIns="0" tIns="0" rIns="0" bIns="0" rtlCol="0" anchor="t"/>
          <a:lstStyle/>
          <a:p>
            <a:pPr indent="0" marL="0">
              <a:buNone/>
            </a:pPr>
            <a:r>
              <a:rPr lang="en-US" sz="1900" dirty="0">
                <a:solidFill>
                  <a:srgbClr val="202B2D"/>
                </a:solidFill>
                <a:latin typeface="Arial" pitchFamily="34" charset="0"/>
                <a:ea typeface="Arial" pitchFamily="34" charset="-122"/>
                <a:cs typeface="Arial" pitchFamily="34" charset="-120"/>
              </a:rPr>
              <a:t>Measure target completion, first alert, first block and gross simulated debit.</a:t>
            </a:r>
            <a:endParaRPr lang="en-US" sz="1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47472"/>
            <a:ext cx="8229600" cy="868680"/>
          </a:xfrm>
          <a:prstGeom prst="rect">
            <a:avLst/>
          </a:prstGeom>
          <a:noFill/>
          <a:ln/>
        </p:spPr>
        <p:txBody>
          <a:bodyPr wrap="square" lIns="0" tIns="0" rIns="0" bIns="0" rtlCol="0" anchor="t"/>
          <a:lstStyle/>
          <a:p>
            <a:pPr indent="0" marL="0">
              <a:buNone/>
            </a:pPr>
            <a:r>
              <a:rPr lang="en-US" sz="3400" b="1" dirty="0">
                <a:solidFill>
                  <a:srgbClr val="172D30"/>
                </a:solidFill>
                <a:latin typeface="Arial" pitchFamily="34" charset="0"/>
                <a:ea typeface="Arial" pitchFamily="34" charset="-122"/>
                <a:cs typeface="Arial" pitchFamily="34" charset="-120"/>
              </a:rPr>
              <a:t>How the prototype works</a:t>
            </a:r>
            <a:endParaRPr lang="en-US" sz="3400" dirty="0"/>
          </a:p>
        </p:txBody>
      </p:sp>
      <p:sp>
        <p:nvSpPr>
          <p:cNvPr id="3" name="Shape 1"/>
          <p:cNvSpPr/>
          <p:nvPr/>
        </p:nvSpPr>
        <p:spPr>
          <a:xfrm>
            <a:off x="8503920" y="4663440"/>
            <a:ext cx="292608" cy="292608"/>
          </a:xfrm>
          <a:prstGeom prst="ellipse">
            <a:avLst/>
          </a:prstGeom>
          <a:solidFill>
            <a:srgbClr val="01696F"/>
          </a:solidFill>
          <a:ln w="12700">
            <a:solidFill>
              <a:srgbClr val="01696F">
                <a:alpha val="0"/>
              </a:srgbClr>
            </a:solidFill>
            <a:prstDash val="solid"/>
          </a:ln>
        </p:spPr>
      </p:sp>
      <p:sp>
        <p:nvSpPr>
          <p:cNvPr id="4" name="Text 2"/>
          <p:cNvSpPr/>
          <p:nvPr/>
        </p:nvSpPr>
        <p:spPr>
          <a:xfrm>
            <a:off x="8503920" y="4695444"/>
            <a:ext cx="292608" cy="182880"/>
          </a:xfrm>
          <a:prstGeom prst="rect">
            <a:avLst/>
          </a:prstGeom>
          <a:noFill/>
          <a:ln/>
        </p:spPr>
        <p:txBody>
          <a:bodyPr wrap="square" lIns="0" tIns="0" rIns="0" bIns="0" rtlCol="0" anchor="t"/>
          <a:lstStyle/>
          <a:p>
            <a:pPr algn="ctr" indent="0" marL="0">
              <a:buNone/>
            </a:pPr>
            <a:r>
              <a:rPr lang="en-US" sz="1000" b="1" dirty="0">
                <a:solidFill>
                  <a:srgbClr val="FFFFFF"/>
                </a:solidFill>
                <a:latin typeface="Arial" pitchFamily="34" charset="0"/>
                <a:ea typeface="Arial" pitchFamily="34" charset="-122"/>
                <a:cs typeface="Arial" pitchFamily="34" charset="-120"/>
              </a:rPr>
              <a:t>3</a:t>
            </a:r>
            <a:endParaRPr lang="en-US" sz="1000" dirty="0"/>
          </a:p>
        </p:txBody>
      </p:sp>
      <p:sp>
        <p:nvSpPr>
          <p:cNvPr id="5" name="Text 3"/>
          <p:cNvSpPr/>
          <p:nvPr/>
        </p:nvSpPr>
        <p:spPr>
          <a:xfrm>
            <a:off x="457200" y="4663440"/>
            <a:ext cx="4206240" cy="201168"/>
          </a:xfrm>
          <a:prstGeom prst="rect">
            <a:avLst/>
          </a:prstGeom>
          <a:noFill/>
          <a:ln/>
        </p:spPr>
        <p:txBody>
          <a:bodyPr wrap="square" lIns="0" tIns="0" rIns="0" bIns="0" rtlCol="0" anchor="t"/>
          <a:lstStyle/>
          <a:p>
            <a:pPr indent="0" marL="0">
              <a:buNone/>
            </a:pPr>
            <a:r>
              <a:rPr lang="en-US" sz="1000" dirty="0">
                <a:solidFill>
                  <a:srgbClr val="465E62"/>
                </a:solidFill>
                <a:latin typeface="Arial" pitchFamily="34" charset="0"/>
                <a:ea typeface="Arial" pitchFamily="34" charset="-122"/>
                <a:cs typeface="Arial" pitchFamily="34" charset="-120"/>
              </a:rPr>
              <a:t>SYNTHETIC RESEARCH  |  GATE C HOLD</a:t>
            </a:r>
            <a:endParaRPr lang="en-US" sz="1000" dirty="0"/>
          </a:p>
        </p:txBody>
      </p:sp>
      <p:sp>
        <p:nvSpPr>
          <p:cNvPr id="6" name="Text 4"/>
          <p:cNvSpPr/>
          <p:nvPr/>
        </p:nvSpPr>
        <p:spPr>
          <a:xfrm>
            <a:off x="457200" y="4370832"/>
            <a:ext cx="8001000" cy="201168"/>
          </a:xfrm>
          <a:prstGeom prst="rect">
            <a:avLst/>
          </a:prstGeom>
          <a:noFill/>
          <a:ln/>
        </p:spPr>
        <p:txBody>
          <a:bodyPr wrap="square" lIns="0" tIns="0" rIns="0" bIns="0" rtlCol="0" anchor="ctr"/>
          <a:lstStyle/>
          <a:p>
            <a:pPr indent="0" marL="0">
              <a:buNone/>
            </a:pPr>
            <a:r>
              <a:rPr lang="en-US" sz="1000" dirty="0">
                <a:solidFill>
                  <a:srgbClr val="465E62"/>
                </a:solidFill>
                <a:latin typeface="Arial" pitchFamily="34" charset="0"/>
                <a:ea typeface="Arial" pitchFamily="34" charset="-122"/>
                <a:cs typeface="Arial" pitchFamily="34" charset="-120"/>
              </a:rPr>
              <a:t>Source: </a:t>
            </a:r>
            <a:r>
              <a:rPr lang="en-US" sz="1000" u="sng" dirty="0">
                <a:solidFill>
                  <a:srgbClr val="01696F"/>
                </a:solidFill>
                <a:latin typeface="Arial" pitchFamily="34" charset="0"/>
                <a:ea typeface="Arial" pitchFamily="34" charset="-122"/>
                <a:cs typeface="Arial" pitchFamily="34" charset="-120"/>
                <a:hlinkClick r:id="rId1" invalidUrl="" action="" tgtFrame="" tooltip="" history="1" highlightClick="0" endSnd="0">
                  <a:extLst>
                    <a:ext uri="{A12FA001-AC4F-418D-AE19-62706E023703}">
                      <ahyp:hlinkClr xmlns:ahyp="http://schemas.microsoft.com/office/drawing/2018/hyperlinkcolor" val="tx"/>
                    </a:ext>
                  </a:extLst>
                </a:hlinkClick>
              </a:rPr>
              <a:t>prototype source and retained records</a:t>
            </a:r>
            <a:endParaRPr lang="en-US" sz="1000" dirty="0"/>
          </a:p>
        </p:txBody>
      </p:sp>
      <p:sp>
        <p:nvSpPr>
          <p:cNvPr id="7" name="Shape 5"/>
          <p:cNvSpPr/>
          <p:nvPr/>
        </p:nvSpPr>
        <p:spPr>
          <a:xfrm>
            <a:off x="457200" y="1508760"/>
            <a:ext cx="1783080" cy="868680"/>
          </a:xfrm>
          <a:prstGeom prst="rect">
            <a:avLst/>
          </a:prstGeom>
          <a:solidFill>
            <a:srgbClr val="F0F4F3"/>
          </a:solidFill>
          <a:ln w="7620">
            <a:solidFill>
              <a:srgbClr val="D7E0DE"/>
            </a:solidFill>
            <a:prstDash val="solid"/>
          </a:ln>
        </p:spPr>
      </p:sp>
      <p:sp>
        <p:nvSpPr>
          <p:cNvPr id="8" name="Text 6"/>
          <p:cNvSpPr/>
          <p:nvPr/>
        </p:nvSpPr>
        <p:spPr>
          <a:xfrm>
            <a:off x="603504" y="1655064"/>
            <a:ext cx="1490472" cy="576072"/>
          </a:xfrm>
          <a:prstGeom prst="rect">
            <a:avLst/>
          </a:prstGeom>
          <a:noFill/>
          <a:ln/>
        </p:spPr>
        <p:txBody>
          <a:bodyPr wrap="square" lIns="0" tIns="0" rIns="0" bIns="0" rtlCol="0" anchor="t"/>
          <a:lstStyle/>
          <a:p>
            <a:pPr indent="0" marL="0">
              <a:buNone/>
            </a:pPr>
            <a:r>
              <a:rPr lang="en-US" sz="1600" dirty="0">
                <a:solidFill>
                  <a:srgbClr val="202B2D"/>
                </a:solidFill>
                <a:latin typeface="Arial" pitchFamily="34" charset="0"/>
                <a:ea typeface="Arial" pitchFamily="34" charset="-122"/>
                <a:cs typeface="Arial" pitchFamily="34" charset="-120"/>
              </a:rPr>
              <a:t>Campaign</a:t>
            </a:r>
            <a:endParaRPr lang="en-US" sz="1600" dirty="0"/>
          </a:p>
          <a:p>
            <a:pPr indent="0" marL="0">
              <a:buNone/>
            </a:pPr>
            <a:r>
              <a:rPr lang="en-US" sz="1600" dirty="0">
                <a:solidFill>
                  <a:srgbClr val="202B2D"/>
                </a:solidFill>
                <a:latin typeface="Arial" pitchFamily="34" charset="0"/>
                <a:ea typeface="Arial" pitchFamily="34" charset="-122"/>
                <a:cs typeface="Arial" pitchFamily="34" charset="-120"/>
              </a:rPr>
              <a:t>workload</a:t>
            </a:r>
            <a:endParaRPr lang="en-US" sz="1600" dirty="0"/>
          </a:p>
        </p:txBody>
      </p:sp>
      <p:sp>
        <p:nvSpPr>
          <p:cNvPr id="9" name="Text 7"/>
          <p:cNvSpPr/>
          <p:nvPr/>
        </p:nvSpPr>
        <p:spPr>
          <a:xfrm>
            <a:off x="2286000" y="1755648"/>
            <a:ext cx="274320" cy="365760"/>
          </a:xfrm>
          <a:prstGeom prst="rect">
            <a:avLst/>
          </a:prstGeom>
          <a:noFill/>
          <a:ln/>
        </p:spPr>
        <p:txBody>
          <a:bodyPr wrap="square" lIns="0" tIns="0" rIns="0" bIns="0" rtlCol="0" anchor="t"/>
          <a:lstStyle/>
          <a:p>
            <a:pPr indent="0" marL="0">
              <a:buNone/>
            </a:pPr>
            <a:r>
              <a:rPr lang="en-US" sz="2300" dirty="0">
                <a:solidFill>
                  <a:srgbClr val="172D30"/>
                </a:solidFill>
                <a:latin typeface="Arial" pitchFamily="34" charset="0"/>
                <a:ea typeface="Arial" pitchFamily="34" charset="-122"/>
                <a:cs typeface="Arial" pitchFamily="34" charset="-120"/>
              </a:rPr>
              <a:t>→</a:t>
            </a:r>
            <a:endParaRPr lang="en-US" sz="2300" dirty="0"/>
          </a:p>
        </p:txBody>
      </p:sp>
      <p:sp>
        <p:nvSpPr>
          <p:cNvPr id="10" name="Shape 8"/>
          <p:cNvSpPr/>
          <p:nvPr/>
        </p:nvSpPr>
        <p:spPr>
          <a:xfrm>
            <a:off x="2606040" y="1508760"/>
            <a:ext cx="1783080" cy="868680"/>
          </a:xfrm>
          <a:prstGeom prst="rect">
            <a:avLst/>
          </a:prstGeom>
          <a:solidFill>
            <a:srgbClr val="F0F4F3"/>
          </a:solidFill>
          <a:ln w="7620">
            <a:solidFill>
              <a:srgbClr val="D7E0DE"/>
            </a:solidFill>
            <a:prstDash val="solid"/>
          </a:ln>
        </p:spPr>
      </p:sp>
      <p:sp>
        <p:nvSpPr>
          <p:cNvPr id="11" name="Text 9"/>
          <p:cNvSpPr/>
          <p:nvPr/>
        </p:nvSpPr>
        <p:spPr>
          <a:xfrm>
            <a:off x="2752344" y="1655064"/>
            <a:ext cx="1490472" cy="576072"/>
          </a:xfrm>
          <a:prstGeom prst="rect">
            <a:avLst/>
          </a:prstGeom>
          <a:noFill/>
          <a:ln/>
        </p:spPr>
        <p:txBody>
          <a:bodyPr wrap="square" lIns="0" tIns="0" rIns="0" bIns="0" rtlCol="0" anchor="t"/>
          <a:lstStyle/>
          <a:p>
            <a:pPr indent="0" marL="0">
              <a:buNone/>
            </a:pPr>
            <a:r>
              <a:rPr lang="en-US" sz="1600" dirty="0">
                <a:solidFill>
                  <a:srgbClr val="202B2D"/>
                </a:solidFill>
                <a:latin typeface="Arial" pitchFamily="34" charset="0"/>
                <a:ea typeface="Arial" pitchFamily="34" charset="-122"/>
                <a:cs typeface="Arial" pitchFamily="34" charset="-120"/>
              </a:rPr>
              <a:t>Attacker</a:t>
            </a:r>
            <a:endParaRPr lang="en-US" sz="1600" dirty="0"/>
          </a:p>
          <a:p>
            <a:pPr indent="0" marL="0">
              <a:buNone/>
            </a:pPr>
            <a:r>
              <a:rPr lang="en-US" sz="1600" dirty="0">
                <a:solidFill>
                  <a:srgbClr val="202B2D"/>
                </a:solidFill>
                <a:latin typeface="Arial" pitchFamily="34" charset="0"/>
                <a:ea typeface="Arial" pitchFamily="34" charset="-122"/>
                <a:cs typeface="Arial" pitchFamily="34" charset="-120"/>
              </a:rPr>
              <a:t>actions</a:t>
            </a:r>
            <a:endParaRPr lang="en-US" sz="1600" dirty="0"/>
          </a:p>
        </p:txBody>
      </p:sp>
      <p:sp>
        <p:nvSpPr>
          <p:cNvPr id="12" name="Text 10"/>
          <p:cNvSpPr/>
          <p:nvPr/>
        </p:nvSpPr>
        <p:spPr>
          <a:xfrm>
            <a:off x="4434840" y="1755648"/>
            <a:ext cx="274320" cy="365760"/>
          </a:xfrm>
          <a:prstGeom prst="rect">
            <a:avLst/>
          </a:prstGeom>
          <a:noFill/>
          <a:ln/>
        </p:spPr>
        <p:txBody>
          <a:bodyPr wrap="square" lIns="0" tIns="0" rIns="0" bIns="0" rtlCol="0" anchor="t"/>
          <a:lstStyle/>
          <a:p>
            <a:pPr indent="0" marL="0">
              <a:buNone/>
            </a:pPr>
            <a:r>
              <a:rPr lang="en-US" sz="2300" dirty="0">
                <a:solidFill>
                  <a:srgbClr val="172D30"/>
                </a:solidFill>
                <a:latin typeface="Arial" pitchFamily="34" charset="0"/>
                <a:ea typeface="Arial" pitchFamily="34" charset="-122"/>
                <a:cs typeface="Arial" pitchFamily="34" charset="-120"/>
              </a:rPr>
              <a:t>→</a:t>
            </a:r>
            <a:endParaRPr lang="en-US" sz="2300" dirty="0"/>
          </a:p>
        </p:txBody>
      </p:sp>
      <p:sp>
        <p:nvSpPr>
          <p:cNvPr id="13" name="Shape 11"/>
          <p:cNvSpPr/>
          <p:nvPr/>
        </p:nvSpPr>
        <p:spPr>
          <a:xfrm>
            <a:off x="4754880" y="1508760"/>
            <a:ext cx="1783080" cy="868680"/>
          </a:xfrm>
          <a:prstGeom prst="rect">
            <a:avLst/>
          </a:prstGeom>
          <a:solidFill>
            <a:srgbClr val="F0F4F3"/>
          </a:solidFill>
          <a:ln w="7620">
            <a:solidFill>
              <a:srgbClr val="D7E0DE"/>
            </a:solidFill>
            <a:prstDash val="solid"/>
          </a:ln>
        </p:spPr>
      </p:sp>
      <p:sp>
        <p:nvSpPr>
          <p:cNvPr id="14" name="Text 12"/>
          <p:cNvSpPr/>
          <p:nvPr/>
        </p:nvSpPr>
        <p:spPr>
          <a:xfrm>
            <a:off x="4901184" y="1655064"/>
            <a:ext cx="1490472" cy="576072"/>
          </a:xfrm>
          <a:prstGeom prst="rect">
            <a:avLst/>
          </a:prstGeom>
          <a:noFill/>
          <a:ln/>
        </p:spPr>
        <p:txBody>
          <a:bodyPr wrap="square" lIns="0" tIns="0" rIns="0" bIns="0" rtlCol="0" anchor="t"/>
          <a:lstStyle/>
          <a:p>
            <a:pPr indent="0" marL="0">
              <a:buNone/>
            </a:pPr>
            <a:r>
              <a:rPr lang="en-US" sz="1600" dirty="0">
                <a:solidFill>
                  <a:srgbClr val="202B2D"/>
                </a:solidFill>
                <a:latin typeface="Arial" pitchFamily="34" charset="0"/>
                <a:ea typeface="Arial" pitchFamily="34" charset="-122"/>
                <a:cs typeface="Arial" pitchFamily="34" charset="-120"/>
              </a:rPr>
              <a:t>Ledger +</a:t>
            </a:r>
            <a:endParaRPr lang="en-US" sz="1600" dirty="0"/>
          </a:p>
          <a:p>
            <a:pPr indent="0" marL="0">
              <a:buNone/>
            </a:pPr>
            <a:r>
              <a:rPr lang="en-US" sz="1600" dirty="0">
                <a:solidFill>
                  <a:srgbClr val="202B2D"/>
                </a:solidFill>
                <a:latin typeface="Arial" pitchFamily="34" charset="0"/>
                <a:ea typeface="Arial" pitchFamily="34" charset="-122"/>
                <a:cs typeface="Arial" pitchFamily="34" charset="-120"/>
              </a:rPr>
              <a:t>detector</a:t>
            </a:r>
            <a:endParaRPr lang="en-US" sz="1600" dirty="0"/>
          </a:p>
        </p:txBody>
      </p:sp>
      <p:sp>
        <p:nvSpPr>
          <p:cNvPr id="15" name="Text 13"/>
          <p:cNvSpPr/>
          <p:nvPr/>
        </p:nvSpPr>
        <p:spPr>
          <a:xfrm>
            <a:off x="6583680" y="1755648"/>
            <a:ext cx="274320" cy="365760"/>
          </a:xfrm>
          <a:prstGeom prst="rect">
            <a:avLst/>
          </a:prstGeom>
          <a:noFill/>
          <a:ln/>
        </p:spPr>
        <p:txBody>
          <a:bodyPr wrap="square" lIns="0" tIns="0" rIns="0" bIns="0" rtlCol="0" anchor="t"/>
          <a:lstStyle/>
          <a:p>
            <a:pPr indent="0" marL="0">
              <a:buNone/>
            </a:pPr>
            <a:r>
              <a:rPr lang="en-US" sz="2300" dirty="0">
                <a:solidFill>
                  <a:srgbClr val="172D30"/>
                </a:solidFill>
                <a:latin typeface="Arial" pitchFamily="34" charset="0"/>
                <a:ea typeface="Arial" pitchFamily="34" charset="-122"/>
                <a:cs typeface="Arial" pitchFamily="34" charset="-120"/>
              </a:rPr>
              <a:t>→</a:t>
            </a:r>
            <a:endParaRPr lang="en-US" sz="2300" dirty="0"/>
          </a:p>
        </p:txBody>
      </p:sp>
      <p:sp>
        <p:nvSpPr>
          <p:cNvPr id="16" name="Shape 14"/>
          <p:cNvSpPr/>
          <p:nvPr/>
        </p:nvSpPr>
        <p:spPr>
          <a:xfrm>
            <a:off x="6903720" y="1508760"/>
            <a:ext cx="1783080" cy="868680"/>
          </a:xfrm>
          <a:prstGeom prst="rect">
            <a:avLst/>
          </a:prstGeom>
          <a:solidFill>
            <a:srgbClr val="F0F4F3"/>
          </a:solidFill>
          <a:ln w="7620">
            <a:solidFill>
              <a:srgbClr val="D7E0DE"/>
            </a:solidFill>
            <a:prstDash val="solid"/>
          </a:ln>
        </p:spPr>
      </p:sp>
      <p:sp>
        <p:nvSpPr>
          <p:cNvPr id="17" name="Text 15"/>
          <p:cNvSpPr/>
          <p:nvPr/>
        </p:nvSpPr>
        <p:spPr>
          <a:xfrm>
            <a:off x="7050024" y="1655064"/>
            <a:ext cx="1490472" cy="576072"/>
          </a:xfrm>
          <a:prstGeom prst="rect">
            <a:avLst/>
          </a:prstGeom>
          <a:noFill/>
          <a:ln/>
        </p:spPr>
        <p:txBody>
          <a:bodyPr wrap="square" lIns="0" tIns="0" rIns="0" bIns="0" rtlCol="0" anchor="t"/>
          <a:lstStyle/>
          <a:p>
            <a:pPr indent="0" marL="0">
              <a:buNone/>
            </a:pPr>
            <a:r>
              <a:rPr lang="en-US" sz="1600" dirty="0">
                <a:solidFill>
                  <a:srgbClr val="202B2D"/>
                </a:solidFill>
                <a:latin typeface="Arial" pitchFamily="34" charset="0"/>
                <a:ea typeface="Arial" pitchFamily="34" charset="-122"/>
                <a:cs typeface="Arial" pitchFamily="34" charset="-120"/>
              </a:rPr>
              <a:t>Recorded</a:t>
            </a:r>
            <a:endParaRPr lang="en-US" sz="1600" dirty="0"/>
          </a:p>
          <a:p>
            <a:pPr indent="0" marL="0">
              <a:buNone/>
            </a:pPr>
            <a:r>
              <a:rPr lang="en-US" sz="1600" dirty="0">
                <a:solidFill>
                  <a:srgbClr val="202B2D"/>
                </a:solidFill>
                <a:latin typeface="Arial" pitchFamily="34" charset="0"/>
                <a:ea typeface="Arial" pitchFamily="34" charset="-122"/>
                <a:cs typeface="Arial" pitchFamily="34" charset="-120"/>
              </a:rPr>
              <a:t>outcomes</a:t>
            </a:r>
            <a:endParaRPr lang="en-US" sz="1600" dirty="0"/>
          </a:p>
        </p:txBody>
      </p:sp>
      <p:sp>
        <p:nvSpPr>
          <p:cNvPr id="18" name="Text 16"/>
          <p:cNvSpPr/>
          <p:nvPr/>
        </p:nvSpPr>
        <p:spPr>
          <a:xfrm>
            <a:off x="457200" y="2514600"/>
            <a:ext cx="8229600" cy="365760"/>
          </a:xfrm>
          <a:prstGeom prst="rect">
            <a:avLst/>
          </a:prstGeom>
          <a:noFill/>
          <a:ln/>
        </p:spPr>
        <p:txBody>
          <a:bodyPr wrap="square" lIns="0" tIns="0" rIns="0" bIns="0" rtlCol="0" anchor="t"/>
          <a:lstStyle/>
          <a:p>
            <a:pPr indent="0" marL="0">
              <a:buNone/>
            </a:pPr>
            <a:r>
              <a:rPr lang="en-US" sz="1600" dirty="0">
                <a:solidFill>
                  <a:srgbClr val="01696F"/>
                </a:solidFill>
                <a:latin typeface="Arial" pitchFamily="34" charset="0"/>
                <a:ea typeface="Arial" pitchFamily="34" charset="-122"/>
                <a:cs typeface="Arial" pitchFamily="34" charset="-120"/>
              </a:rPr>
              <a:t>Feedback: detector → adaptive attacker (public decisions only).</a:t>
            </a:r>
            <a:endParaRPr lang="en-US" sz="1600" dirty="0"/>
          </a:p>
        </p:txBody>
      </p:sp>
      <p:sp>
        <p:nvSpPr>
          <p:cNvPr id="19" name="Text 17"/>
          <p:cNvSpPr/>
          <p:nvPr/>
        </p:nvSpPr>
        <p:spPr>
          <a:xfrm>
            <a:off x="457200" y="3063240"/>
            <a:ext cx="3840480" cy="320040"/>
          </a:xfrm>
          <a:prstGeom prst="rect">
            <a:avLst/>
          </a:prstGeom>
          <a:noFill/>
          <a:ln/>
        </p:spPr>
        <p:txBody>
          <a:bodyPr wrap="square" lIns="0" tIns="0" rIns="0" bIns="0" rtlCol="0" anchor="t"/>
          <a:lstStyle/>
          <a:p>
            <a:pPr indent="0" marL="0">
              <a:buNone/>
            </a:pPr>
            <a:r>
              <a:rPr lang="en-US" sz="2000" b="1" dirty="0">
                <a:solidFill>
                  <a:srgbClr val="172D30"/>
                </a:solidFill>
                <a:latin typeface="Arial" pitchFamily="34" charset="0"/>
                <a:ea typeface="Arial" pitchFamily="34" charset="-122"/>
                <a:cs typeface="Arial" pitchFamily="34" charset="-120"/>
              </a:rPr>
              <a:t>Two saved detectors</a:t>
            </a:r>
            <a:endParaRPr lang="en-US" sz="2000" dirty="0"/>
          </a:p>
        </p:txBody>
      </p:sp>
      <p:sp>
        <p:nvSpPr>
          <p:cNvPr id="20" name="Text 18"/>
          <p:cNvSpPr/>
          <p:nvPr/>
        </p:nvSpPr>
        <p:spPr>
          <a:xfrm>
            <a:off x="457200" y="3511296"/>
            <a:ext cx="3749040" cy="594360"/>
          </a:xfrm>
          <a:prstGeom prst="rect">
            <a:avLst/>
          </a:prstGeom>
          <a:noFill/>
          <a:ln/>
        </p:spPr>
        <p:txBody>
          <a:bodyPr wrap="square" lIns="0" tIns="0" rIns="0" bIns="0" rtlCol="0" anchor="t"/>
          <a:lstStyle/>
          <a:p>
            <a:pPr indent="0" marL="0">
              <a:buNone/>
            </a:pPr>
            <a:r>
              <a:rPr lang="en-US" sz="1500" dirty="0">
                <a:solidFill>
                  <a:srgbClr val="202B2D"/>
                </a:solidFill>
                <a:latin typeface="Arial" pitchFamily="34" charset="0"/>
                <a:ea typeface="Arial" pitchFamily="34" charset="-122"/>
                <a:cs typeface="Arial" pitchFamily="34" charset="-120"/>
              </a:rPr>
              <a:t>XGBoost and Random Forest</a:t>
            </a:r>
            <a:endParaRPr lang="en-US" sz="1500" dirty="0"/>
          </a:p>
          <a:p>
            <a:pPr indent="0" marL="0">
              <a:buNone/>
            </a:pPr>
            <a:r>
              <a:rPr lang="en-US" sz="1500" dirty="0">
                <a:solidFill>
                  <a:srgbClr val="202B2D"/>
                </a:solidFill>
                <a:latin typeface="Arial" pitchFamily="34" charset="0"/>
                <a:ea typeface="Arial" pitchFamily="34" charset="-122"/>
                <a:cs typeface="Arial" pitchFamily="34" charset="-120"/>
              </a:rPr>
              <a:t>Reused artifacts; no retraining required for the demo.</a:t>
            </a:r>
            <a:endParaRPr lang="en-US" sz="1500" dirty="0"/>
          </a:p>
        </p:txBody>
      </p:sp>
      <p:sp>
        <p:nvSpPr>
          <p:cNvPr id="21" name="Text 19"/>
          <p:cNvSpPr/>
          <p:nvPr/>
        </p:nvSpPr>
        <p:spPr>
          <a:xfrm>
            <a:off x="4572000" y="3063240"/>
            <a:ext cx="4114800" cy="320040"/>
          </a:xfrm>
          <a:prstGeom prst="rect">
            <a:avLst/>
          </a:prstGeom>
          <a:noFill/>
          <a:ln/>
        </p:spPr>
        <p:txBody>
          <a:bodyPr wrap="square" lIns="0" tIns="0" rIns="0" bIns="0" rtlCol="0" anchor="t"/>
          <a:lstStyle/>
          <a:p>
            <a:pPr indent="0" marL="0">
              <a:buNone/>
            </a:pPr>
            <a:r>
              <a:rPr lang="en-US" sz="2000" b="1" dirty="0">
                <a:solidFill>
                  <a:srgbClr val="172D30"/>
                </a:solidFill>
                <a:latin typeface="Arial" pitchFamily="34" charset="0"/>
                <a:ea typeface="Arial" pitchFamily="34" charset="-122"/>
                <a:cs typeface="Arial" pitchFamily="34" charset="-120"/>
              </a:rPr>
              <a:t>Four workload families</a:t>
            </a:r>
            <a:endParaRPr lang="en-US" sz="2000" dirty="0"/>
          </a:p>
        </p:txBody>
      </p:sp>
      <p:sp>
        <p:nvSpPr>
          <p:cNvPr id="22" name="Text 20"/>
          <p:cNvSpPr/>
          <p:nvPr/>
        </p:nvSpPr>
        <p:spPr>
          <a:xfrm>
            <a:off x="4572000" y="3511296"/>
            <a:ext cx="4114800" cy="594360"/>
          </a:xfrm>
          <a:prstGeom prst="rect">
            <a:avLst/>
          </a:prstGeom>
          <a:noFill/>
          <a:ln/>
        </p:spPr>
        <p:txBody>
          <a:bodyPr wrap="square" lIns="0" tIns="0" rIns="0" bIns="0" rtlCol="0" anchor="t"/>
          <a:lstStyle/>
          <a:p>
            <a:pPr indent="0" marL="0">
              <a:buNone/>
            </a:pPr>
            <a:r>
              <a:rPr lang="en-US" sz="1500" dirty="0">
                <a:solidFill>
                  <a:srgbClr val="202B2D"/>
                </a:solidFill>
                <a:latin typeface="Arial" pitchFamily="34" charset="0"/>
                <a:ea typeface="Arial" pitchFamily="34" charset="-122"/>
                <a:cs typeface="Arial" pitchFamily="34" charset="-120"/>
              </a:rPr>
              <a:t>High-value burst · Slow drain</a:t>
            </a:r>
            <a:endParaRPr lang="en-US" sz="1500" dirty="0"/>
          </a:p>
          <a:p>
            <a:pPr indent="0" marL="0">
              <a:buNone/>
            </a:pPr>
            <a:r>
              <a:rPr lang="en-US" sz="1500" dirty="0">
                <a:solidFill>
                  <a:srgbClr val="202B2D"/>
                </a:solidFill>
                <a:latin typeface="Arial" pitchFamily="34" charset="0"/>
                <a:ea typeface="Arial" pitchFamily="34" charset="-122"/>
                <a:cs typeface="Arial" pitchFamily="34" charset="-120"/>
              </a:rPr>
              <a:t>Gradual escalation · Beneficiary hopping</a:t>
            </a: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47472"/>
            <a:ext cx="8229600" cy="868680"/>
          </a:xfrm>
          <a:prstGeom prst="rect">
            <a:avLst/>
          </a:prstGeom>
          <a:noFill/>
          <a:ln/>
        </p:spPr>
        <p:txBody>
          <a:bodyPr wrap="square" lIns="0" tIns="0" rIns="0" bIns="0" rtlCol="0" anchor="t"/>
          <a:lstStyle/>
          <a:p>
            <a:pPr indent="0" marL="0">
              <a:buNone/>
            </a:pPr>
            <a:r>
              <a:rPr lang="en-US" sz="3400" b="1" dirty="0">
                <a:solidFill>
                  <a:srgbClr val="172D30"/>
                </a:solidFill>
                <a:latin typeface="Arial" pitchFamily="34" charset="0"/>
                <a:ea typeface="Arial" pitchFamily="34" charset="-122"/>
                <a:cs typeface="Arial" pitchFamily="34" charset="-120"/>
              </a:rPr>
              <a:t>Compare four attacker controls</a:t>
            </a:r>
            <a:endParaRPr lang="en-US" sz="3400" dirty="0"/>
          </a:p>
        </p:txBody>
      </p:sp>
      <p:sp>
        <p:nvSpPr>
          <p:cNvPr id="3" name="Shape 1"/>
          <p:cNvSpPr/>
          <p:nvPr/>
        </p:nvSpPr>
        <p:spPr>
          <a:xfrm>
            <a:off x="8503920" y="4663440"/>
            <a:ext cx="292608" cy="292608"/>
          </a:xfrm>
          <a:prstGeom prst="ellipse">
            <a:avLst/>
          </a:prstGeom>
          <a:solidFill>
            <a:srgbClr val="01696F"/>
          </a:solidFill>
          <a:ln w="12700">
            <a:solidFill>
              <a:srgbClr val="01696F">
                <a:alpha val="0"/>
              </a:srgbClr>
            </a:solidFill>
            <a:prstDash val="solid"/>
          </a:ln>
        </p:spPr>
      </p:sp>
      <p:sp>
        <p:nvSpPr>
          <p:cNvPr id="4" name="Text 2"/>
          <p:cNvSpPr/>
          <p:nvPr/>
        </p:nvSpPr>
        <p:spPr>
          <a:xfrm>
            <a:off x="8503920" y="4695444"/>
            <a:ext cx="292608" cy="182880"/>
          </a:xfrm>
          <a:prstGeom prst="rect">
            <a:avLst/>
          </a:prstGeom>
          <a:noFill/>
          <a:ln/>
        </p:spPr>
        <p:txBody>
          <a:bodyPr wrap="square" lIns="0" tIns="0" rIns="0" bIns="0" rtlCol="0" anchor="t"/>
          <a:lstStyle/>
          <a:p>
            <a:pPr algn="ctr" indent="0" marL="0">
              <a:buNone/>
            </a:pPr>
            <a:r>
              <a:rPr lang="en-US" sz="1000" b="1" dirty="0">
                <a:solidFill>
                  <a:srgbClr val="FFFFFF"/>
                </a:solidFill>
                <a:latin typeface="Arial" pitchFamily="34" charset="0"/>
                <a:ea typeface="Arial" pitchFamily="34" charset="-122"/>
                <a:cs typeface="Arial" pitchFamily="34" charset="-120"/>
              </a:rPr>
              <a:t>4</a:t>
            </a:r>
            <a:endParaRPr lang="en-US" sz="1000" dirty="0"/>
          </a:p>
        </p:txBody>
      </p:sp>
      <p:sp>
        <p:nvSpPr>
          <p:cNvPr id="5" name="Text 3"/>
          <p:cNvSpPr/>
          <p:nvPr/>
        </p:nvSpPr>
        <p:spPr>
          <a:xfrm>
            <a:off x="457200" y="4663440"/>
            <a:ext cx="4206240" cy="201168"/>
          </a:xfrm>
          <a:prstGeom prst="rect">
            <a:avLst/>
          </a:prstGeom>
          <a:noFill/>
          <a:ln/>
        </p:spPr>
        <p:txBody>
          <a:bodyPr wrap="square" lIns="0" tIns="0" rIns="0" bIns="0" rtlCol="0" anchor="t"/>
          <a:lstStyle/>
          <a:p>
            <a:pPr indent="0" marL="0">
              <a:buNone/>
            </a:pPr>
            <a:r>
              <a:rPr lang="en-US" sz="1000" dirty="0">
                <a:solidFill>
                  <a:srgbClr val="465E62"/>
                </a:solidFill>
                <a:latin typeface="Arial" pitchFamily="34" charset="0"/>
                <a:ea typeface="Arial" pitchFamily="34" charset="-122"/>
                <a:cs typeface="Arial" pitchFamily="34" charset="-120"/>
              </a:rPr>
              <a:t>SYNTHETIC RESEARCH  |  GATE C HOLD</a:t>
            </a:r>
            <a:endParaRPr lang="en-US" sz="1000" dirty="0"/>
          </a:p>
        </p:txBody>
      </p:sp>
      <p:sp>
        <p:nvSpPr>
          <p:cNvPr id="6" name="Text 4"/>
          <p:cNvSpPr/>
          <p:nvPr/>
        </p:nvSpPr>
        <p:spPr>
          <a:xfrm>
            <a:off x="457200" y="4370832"/>
            <a:ext cx="8001000" cy="201168"/>
          </a:xfrm>
          <a:prstGeom prst="rect">
            <a:avLst/>
          </a:prstGeom>
          <a:noFill/>
          <a:ln/>
        </p:spPr>
        <p:txBody>
          <a:bodyPr wrap="square" lIns="0" tIns="0" rIns="0" bIns="0" rtlCol="0" anchor="ctr"/>
          <a:lstStyle/>
          <a:p>
            <a:pPr indent="0" marL="0">
              <a:buNone/>
            </a:pPr>
            <a:r>
              <a:rPr lang="en-US" sz="1000" dirty="0">
                <a:solidFill>
                  <a:srgbClr val="465E62"/>
                </a:solidFill>
                <a:latin typeface="Arial" pitchFamily="34" charset="0"/>
                <a:ea typeface="Arial" pitchFamily="34" charset="-122"/>
                <a:cs typeface="Arial" pitchFamily="34" charset="-120"/>
              </a:rPr>
              <a:t>Source: </a:t>
            </a:r>
            <a:r>
              <a:rPr lang="en-US" sz="1000" u="sng" dirty="0">
                <a:solidFill>
                  <a:srgbClr val="01696F"/>
                </a:solidFill>
                <a:latin typeface="Arial" pitchFamily="34" charset="0"/>
                <a:ea typeface="Arial" pitchFamily="34" charset="-122"/>
                <a:cs typeface="Arial" pitchFamily="34" charset="-120"/>
                <a:hlinkClick r:id="rId1" invalidUrl="" action="" tgtFrame="" tooltip="" history="1" highlightClick="0" endSnd="0">
                  <a:extLst>
                    <a:ext uri="{A12FA001-AC4F-418D-AE19-62706E023703}">
                      <ahyp:hlinkClr xmlns:ahyp="http://schemas.microsoft.com/office/drawing/2018/hyperlinkcolor" val="tx"/>
                    </a:ext>
                  </a:extLst>
                </a:hlinkClick>
              </a:rPr>
              <a:t>prototype source and retained records</a:t>
            </a:r>
            <a:endParaRPr lang="en-US" sz="1000" dirty="0"/>
          </a:p>
        </p:txBody>
      </p:sp>
      <p:sp>
        <p:nvSpPr>
          <p:cNvPr id="7" name="Text 5"/>
          <p:cNvSpPr/>
          <p:nvPr/>
        </p:nvSpPr>
        <p:spPr>
          <a:xfrm>
            <a:off x="457200" y="1417320"/>
            <a:ext cx="2331720" cy="365760"/>
          </a:xfrm>
          <a:prstGeom prst="rect">
            <a:avLst/>
          </a:prstGeom>
          <a:noFill/>
          <a:ln/>
        </p:spPr>
        <p:txBody>
          <a:bodyPr wrap="square" lIns="0" tIns="0" rIns="0" bIns="0" rtlCol="0" anchor="t"/>
          <a:lstStyle/>
          <a:p>
            <a:pPr indent="0" marL="0">
              <a:buNone/>
            </a:pPr>
            <a:r>
              <a:rPr lang="en-US" sz="1800" b="1" dirty="0">
                <a:solidFill>
                  <a:srgbClr val="01696F"/>
                </a:solidFill>
                <a:latin typeface="Arial" pitchFamily="34" charset="0"/>
                <a:ea typeface="Arial" pitchFamily="34" charset="-122"/>
                <a:cs typeface="Arial" pitchFamily="34" charset="-120"/>
              </a:rPr>
              <a:t>Static</a:t>
            </a:r>
            <a:endParaRPr lang="en-US" sz="1800" dirty="0"/>
          </a:p>
        </p:txBody>
      </p:sp>
      <p:sp>
        <p:nvSpPr>
          <p:cNvPr id="8" name="Text 6"/>
          <p:cNvSpPr/>
          <p:nvPr/>
        </p:nvSpPr>
        <p:spPr>
          <a:xfrm>
            <a:off x="2880360" y="1417320"/>
            <a:ext cx="5806440" cy="457200"/>
          </a:xfrm>
          <a:prstGeom prst="rect">
            <a:avLst/>
          </a:prstGeom>
          <a:noFill/>
          <a:ln/>
        </p:spPr>
        <p:txBody>
          <a:bodyPr wrap="square" lIns="0" tIns="0" rIns="0" bIns="0" rtlCol="0" anchor="t"/>
          <a:lstStyle/>
          <a:p>
            <a:pPr indent="0" marL="0">
              <a:buNone/>
            </a:pPr>
            <a:r>
              <a:rPr lang="en-US" sz="1600" dirty="0">
                <a:solidFill>
                  <a:srgbClr val="202B2D"/>
                </a:solidFill>
                <a:latin typeface="Arial" pitchFamily="34" charset="0"/>
                <a:ea typeface="Arial" pitchFamily="34" charset="-122"/>
                <a:cs typeface="Arial" pitchFamily="34" charset="-120"/>
              </a:rPr>
              <a:t>Family rules that do not respond to detector feedback.</a:t>
            </a:r>
            <a:endParaRPr lang="en-US" sz="1600" dirty="0"/>
          </a:p>
        </p:txBody>
      </p:sp>
      <p:sp>
        <p:nvSpPr>
          <p:cNvPr id="9" name="Text 7"/>
          <p:cNvSpPr/>
          <p:nvPr/>
        </p:nvSpPr>
        <p:spPr>
          <a:xfrm>
            <a:off x="457200" y="2011680"/>
            <a:ext cx="2331720" cy="365760"/>
          </a:xfrm>
          <a:prstGeom prst="rect">
            <a:avLst/>
          </a:prstGeom>
          <a:noFill/>
          <a:ln/>
        </p:spPr>
        <p:txBody>
          <a:bodyPr wrap="square" lIns="0" tIns="0" rIns="0" bIns="0" rtlCol="0" anchor="t"/>
          <a:lstStyle/>
          <a:p>
            <a:pPr indent="0" marL="0">
              <a:buNone/>
            </a:pPr>
            <a:r>
              <a:rPr lang="en-US" sz="1800" b="1" dirty="0">
                <a:solidFill>
                  <a:srgbClr val="01696F"/>
                </a:solidFill>
                <a:latin typeface="Arial" pitchFamily="34" charset="0"/>
                <a:ea typeface="Arial" pitchFamily="34" charset="-122"/>
                <a:cs typeface="Arial" pitchFamily="34" charset="-120"/>
              </a:rPr>
              <a:t>Rule-adaptive</a:t>
            </a:r>
            <a:endParaRPr lang="en-US" sz="1800" dirty="0"/>
          </a:p>
        </p:txBody>
      </p:sp>
      <p:sp>
        <p:nvSpPr>
          <p:cNvPr id="10" name="Text 8"/>
          <p:cNvSpPr/>
          <p:nvPr/>
        </p:nvSpPr>
        <p:spPr>
          <a:xfrm>
            <a:off x="2880360" y="2011680"/>
            <a:ext cx="5806440" cy="457200"/>
          </a:xfrm>
          <a:prstGeom prst="rect">
            <a:avLst/>
          </a:prstGeom>
          <a:noFill/>
          <a:ln/>
        </p:spPr>
        <p:txBody>
          <a:bodyPr wrap="square" lIns="0" tIns="0" rIns="0" bIns="0" rtlCol="0" anchor="t"/>
          <a:lstStyle/>
          <a:p>
            <a:pPr indent="0" marL="0">
              <a:buNone/>
            </a:pPr>
            <a:r>
              <a:rPr lang="en-US" sz="1600" dirty="0">
                <a:solidFill>
                  <a:srgbClr val="202B2D"/>
                </a:solidFill>
                <a:latin typeface="Arial" pitchFamily="34" charset="0"/>
                <a:ea typeface="Arial" pitchFamily="34" charset="-122"/>
                <a:cs typeface="Arial" pitchFamily="34" charset="-120"/>
              </a:rPr>
              <a:t>Hand-written rules respond to observed decisions.</a:t>
            </a:r>
            <a:endParaRPr lang="en-US" sz="1600" dirty="0"/>
          </a:p>
        </p:txBody>
      </p:sp>
      <p:sp>
        <p:nvSpPr>
          <p:cNvPr id="11" name="Text 9"/>
          <p:cNvSpPr/>
          <p:nvPr/>
        </p:nvSpPr>
        <p:spPr>
          <a:xfrm>
            <a:off x="457200" y="2606040"/>
            <a:ext cx="2331720" cy="365760"/>
          </a:xfrm>
          <a:prstGeom prst="rect">
            <a:avLst/>
          </a:prstGeom>
          <a:noFill/>
          <a:ln/>
        </p:spPr>
        <p:txBody>
          <a:bodyPr wrap="square" lIns="0" tIns="0" rIns="0" bIns="0" rtlCol="0" anchor="t"/>
          <a:lstStyle/>
          <a:p>
            <a:pPr indent="0" marL="0">
              <a:buNone/>
            </a:pPr>
            <a:r>
              <a:rPr lang="en-US" sz="1800" b="1" dirty="0">
                <a:solidFill>
                  <a:srgbClr val="01696F"/>
                </a:solidFill>
                <a:latin typeface="Arial" pitchFamily="34" charset="0"/>
                <a:ea typeface="Arial" pitchFamily="34" charset="-122"/>
                <a:cs typeface="Arial" pitchFamily="34" charset="-120"/>
              </a:rPr>
              <a:t>Trained RL</a:t>
            </a:r>
            <a:endParaRPr lang="en-US" sz="1800" dirty="0"/>
          </a:p>
        </p:txBody>
      </p:sp>
      <p:sp>
        <p:nvSpPr>
          <p:cNvPr id="12" name="Text 10"/>
          <p:cNvSpPr/>
          <p:nvPr/>
        </p:nvSpPr>
        <p:spPr>
          <a:xfrm>
            <a:off x="2880360" y="2606040"/>
            <a:ext cx="5806440" cy="457200"/>
          </a:xfrm>
          <a:prstGeom prst="rect">
            <a:avLst/>
          </a:prstGeom>
          <a:noFill/>
          <a:ln/>
        </p:spPr>
        <p:txBody>
          <a:bodyPr wrap="square" lIns="0" tIns="0" rIns="0" bIns="0" rtlCol="0" anchor="t"/>
          <a:lstStyle/>
          <a:p>
            <a:pPr indent="0" marL="0">
              <a:buNone/>
            </a:pPr>
            <a:r>
              <a:rPr lang="en-US" sz="1600" dirty="0">
                <a:solidFill>
                  <a:srgbClr val="202B2D"/>
                </a:solidFill>
                <a:latin typeface="Arial" pitchFamily="34" charset="0"/>
                <a:ea typeface="Arial" pitchFamily="34" charset="-122"/>
                <a:cs typeface="Arial" pitchFamily="34" charset="-120"/>
              </a:rPr>
              <a:t>Tabular reinforcement learning (RL), trained before evaluation.</a:t>
            </a:r>
            <a:endParaRPr lang="en-US" sz="1600" dirty="0"/>
          </a:p>
        </p:txBody>
      </p:sp>
      <p:sp>
        <p:nvSpPr>
          <p:cNvPr id="13" name="Text 11"/>
          <p:cNvSpPr/>
          <p:nvPr/>
        </p:nvSpPr>
        <p:spPr>
          <a:xfrm>
            <a:off x="457200" y="3200400"/>
            <a:ext cx="2331720" cy="365760"/>
          </a:xfrm>
          <a:prstGeom prst="rect">
            <a:avLst/>
          </a:prstGeom>
          <a:noFill/>
          <a:ln/>
        </p:spPr>
        <p:txBody>
          <a:bodyPr wrap="square" lIns="0" tIns="0" rIns="0" bIns="0" rtlCol="0" anchor="t"/>
          <a:lstStyle/>
          <a:p>
            <a:pPr indent="0" marL="0">
              <a:buNone/>
            </a:pPr>
            <a:r>
              <a:rPr lang="en-US" sz="1800" b="1" dirty="0">
                <a:solidFill>
                  <a:srgbClr val="01696F"/>
                </a:solidFill>
                <a:latin typeface="Arial" pitchFamily="34" charset="0"/>
                <a:ea typeface="Arial" pitchFamily="34" charset="-122"/>
                <a:cs typeface="Arial" pitchFamily="34" charset="-120"/>
              </a:rPr>
              <a:t>Zero-Q control</a:t>
            </a:r>
            <a:endParaRPr lang="en-US" sz="1800" dirty="0"/>
          </a:p>
        </p:txBody>
      </p:sp>
      <p:sp>
        <p:nvSpPr>
          <p:cNvPr id="14" name="Text 12"/>
          <p:cNvSpPr/>
          <p:nvPr/>
        </p:nvSpPr>
        <p:spPr>
          <a:xfrm>
            <a:off x="2880360" y="3200400"/>
            <a:ext cx="5806440" cy="457200"/>
          </a:xfrm>
          <a:prstGeom prst="rect">
            <a:avLst/>
          </a:prstGeom>
          <a:noFill/>
          <a:ln/>
        </p:spPr>
        <p:txBody>
          <a:bodyPr wrap="square" lIns="0" tIns="0" rIns="0" bIns="0" rtlCol="0" anchor="t"/>
          <a:lstStyle/>
          <a:p>
            <a:pPr indent="0" marL="0">
              <a:buNone/>
            </a:pPr>
            <a:r>
              <a:rPr lang="en-US" sz="1600" dirty="0">
                <a:solidFill>
                  <a:srgbClr val="202B2D"/>
                </a:solidFill>
                <a:latin typeface="Arial" pitchFamily="34" charset="0"/>
                <a:ea typeface="Arial" pitchFamily="34" charset="-122"/>
                <a:cs typeface="Arial" pitchFamily="34" charset="-120"/>
              </a:rPr>
              <a:t>Same RL action vocabulary without learned Q values.</a:t>
            </a:r>
            <a:endParaRPr lang="en-US" sz="1600" dirty="0"/>
          </a:p>
        </p:txBody>
      </p:sp>
      <p:sp>
        <p:nvSpPr>
          <p:cNvPr id="15" name="Text 13"/>
          <p:cNvSpPr/>
          <p:nvPr/>
        </p:nvSpPr>
        <p:spPr>
          <a:xfrm>
            <a:off x="457200" y="3785616"/>
            <a:ext cx="8229600" cy="274320"/>
          </a:xfrm>
          <a:prstGeom prst="rect">
            <a:avLst/>
          </a:prstGeom>
          <a:noFill/>
          <a:ln/>
        </p:spPr>
        <p:txBody>
          <a:bodyPr wrap="square" lIns="0" tIns="0" rIns="0" bIns="0" rtlCol="0" anchor="t"/>
          <a:lstStyle/>
          <a:p>
            <a:pPr indent="0" marL="0">
              <a:buNone/>
            </a:pPr>
            <a:r>
              <a:rPr lang="en-US" sz="1500" b="1" dirty="0">
                <a:solidFill>
                  <a:srgbClr val="172D30"/>
                </a:solidFill>
                <a:latin typeface="Arial" pitchFamily="34" charset="0"/>
                <a:ea typeface="Arial" pitchFamily="34" charset="-122"/>
                <a:cs typeface="Arial" pitchFamily="34" charset="-120"/>
              </a:rPr>
              <a:t>RL: at most 64 states and 16 amount / pacing / recipient actions.</a:t>
            </a:r>
            <a:endParaRPr lang="en-US" sz="15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47472"/>
            <a:ext cx="8229600" cy="868680"/>
          </a:xfrm>
          <a:prstGeom prst="rect">
            <a:avLst/>
          </a:prstGeom>
          <a:noFill/>
          <a:ln/>
        </p:spPr>
        <p:txBody>
          <a:bodyPr wrap="square" lIns="0" tIns="0" rIns="0" bIns="0" rtlCol="0" anchor="t"/>
          <a:lstStyle/>
          <a:p>
            <a:pPr indent="0" marL="0">
              <a:buNone/>
            </a:pPr>
            <a:r>
              <a:rPr lang="en-US" sz="3400" b="1" dirty="0">
                <a:solidFill>
                  <a:srgbClr val="172D30"/>
                </a:solidFill>
                <a:latin typeface="Arial" pitchFamily="34" charset="0"/>
                <a:ea typeface="Arial" pitchFamily="34" charset="-122"/>
                <a:cs typeface="Arial" pitchFamily="34" charset="-120"/>
              </a:rPr>
              <a:t>What the retained records show</a:t>
            </a:r>
            <a:endParaRPr lang="en-US" sz="3400" dirty="0"/>
          </a:p>
        </p:txBody>
      </p:sp>
      <p:sp>
        <p:nvSpPr>
          <p:cNvPr id="3" name="Shape 1"/>
          <p:cNvSpPr/>
          <p:nvPr/>
        </p:nvSpPr>
        <p:spPr>
          <a:xfrm>
            <a:off x="8503920" y="4663440"/>
            <a:ext cx="292608" cy="292608"/>
          </a:xfrm>
          <a:prstGeom prst="ellipse">
            <a:avLst/>
          </a:prstGeom>
          <a:solidFill>
            <a:srgbClr val="01696F"/>
          </a:solidFill>
          <a:ln w="12700">
            <a:solidFill>
              <a:srgbClr val="01696F">
                <a:alpha val="0"/>
              </a:srgbClr>
            </a:solidFill>
            <a:prstDash val="solid"/>
          </a:ln>
        </p:spPr>
      </p:sp>
      <p:sp>
        <p:nvSpPr>
          <p:cNvPr id="4" name="Text 2"/>
          <p:cNvSpPr/>
          <p:nvPr/>
        </p:nvSpPr>
        <p:spPr>
          <a:xfrm>
            <a:off x="8503920" y="4695444"/>
            <a:ext cx="292608" cy="182880"/>
          </a:xfrm>
          <a:prstGeom prst="rect">
            <a:avLst/>
          </a:prstGeom>
          <a:noFill/>
          <a:ln/>
        </p:spPr>
        <p:txBody>
          <a:bodyPr wrap="square" lIns="0" tIns="0" rIns="0" bIns="0" rtlCol="0" anchor="t"/>
          <a:lstStyle/>
          <a:p>
            <a:pPr algn="ctr" indent="0" marL="0">
              <a:buNone/>
            </a:pPr>
            <a:r>
              <a:rPr lang="en-US" sz="1000" b="1" dirty="0">
                <a:solidFill>
                  <a:srgbClr val="FFFFFF"/>
                </a:solidFill>
                <a:latin typeface="Arial" pitchFamily="34" charset="0"/>
                <a:ea typeface="Arial" pitchFamily="34" charset="-122"/>
                <a:cs typeface="Arial" pitchFamily="34" charset="-120"/>
              </a:rPr>
              <a:t>5</a:t>
            </a:r>
            <a:endParaRPr lang="en-US" sz="1000" dirty="0"/>
          </a:p>
        </p:txBody>
      </p:sp>
      <p:sp>
        <p:nvSpPr>
          <p:cNvPr id="5" name="Text 3"/>
          <p:cNvSpPr/>
          <p:nvPr/>
        </p:nvSpPr>
        <p:spPr>
          <a:xfrm>
            <a:off x="457200" y="4663440"/>
            <a:ext cx="4206240" cy="201168"/>
          </a:xfrm>
          <a:prstGeom prst="rect">
            <a:avLst/>
          </a:prstGeom>
          <a:noFill/>
          <a:ln/>
        </p:spPr>
        <p:txBody>
          <a:bodyPr wrap="square" lIns="0" tIns="0" rIns="0" bIns="0" rtlCol="0" anchor="t"/>
          <a:lstStyle/>
          <a:p>
            <a:pPr indent="0" marL="0">
              <a:buNone/>
            </a:pPr>
            <a:r>
              <a:rPr lang="en-US" sz="1000" dirty="0">
                <a:solidFill>
                  <a:srgbClr val="465E62"/>
                </a:solidFill>
                <a:latin typeface="Arial" pitchFamily="34" charset="0"/>
                <a:ea typeface="Arial" pitchFamily="34" charset="-122"/>
                <a:cs typeface="Arial" pitchFamily="34" charset="-120"/>
              </a:rPr>
              <a:t>SYNTHETIC RESEARCH  |  GATE C HOLD</a:t>
            </a:r>
            <a:endParaRPr lang="en-US" sz="1000" dirty="0"/>
          </a:p>
        </p:txBody>
      </p:sp>
      <p:sp>
        <p:nvSpPr>
          <p:cNvPr id="6" name="Text 4"/>
          <p:cNvSpPr/>
          <p:nvPr/>
        </p:nvSpPr>
        <p:spPr>
          <a:xfrm>
            <a:off x="457200" y="4370832"/>
            <a:ext cx="8001000" cy="201168"/>
          </a:xfrm>
          <a:prstGeom prst="rect">
            <a:avLst/>
          </a:prstGeom>
          <a:noFill/>
          <a:ln/>
        </p:spPr>
        <p:txBody>
          <a:bodyPr wrap="square" lIns="0" tIns="0" rIns="0" bIns="0" rtlCol="0" anchor="ctr"/>
          <a:lstStyle/>
          <a:p>
            <a:pPr indent="0" marL="0">
              <a:buNone/>
            </a:pPr>
            <a:r>
              <a:rPr lang="en-US" sz="1000" dirty="0">
                <a:solidFill>
                  <a:srgbClr val="465E62"/>
                </a:solidFill>
                <a:latin typeface="Arial" pitchFamily="34" charset="0"/>
                <a:ea typeface="Arial" pitchFamily="34" charset="-122"/>
                <a:cs typeface="Arial" pitchFamily="34" charset="-120"/>
              </a:rPr>
              <a:t>Source: </a:t>
            </a:r>
            <a:r>
              <a:rPr lang="en-US" sz="1000" u="sng" dirty="0">
                <a:solidFill>
                  <a:srgbClr val="01696F"/>
                </a:solidFill>
                <a:latin typeface="Arial" pitchFamily="34" charset="0"/>
                <a:ea typeface="Arial" pitchFamily="34" charset="-122"/>
                <a:cs typeface="Arial" pitchFamily="34" charset="-120"/>
                <a:hlinkClick r:id="rId1" invalidUrl="" action="" tgtFrame="" tooltip="" history="1" highlightClick="0" endSnd="0">
                  <a:extLst>
                    <a:ext uri="{A12FA001-AC4F-418D-AE19-62706E023703}">
                      <ahyp:hlinkClr xmlns:ahyp="http://schemas.microsoft.com/office/drawing/2018/hyperlinkcolor" val="tx"/>
                    </a:ext>
                  </a:extLst>
                </a:hlinkClick>
              </a:rPr>
              <a:t>prototype source and retained records</a:t>
            </a:r>
            <a:endParaRPr lang="en-US" sz="1000" dirty="0"/>
          </a:p>
        </p:txBody>
      </p:sp>
      <p:sp>
        <p:nvSpPr>
          <p:cNvPr id="7" name="Text 5"/>
          <p:cNvSpPr/>
          <p:nvPr/>
        </p:nvSpPr>
        <p:spPr>
          <a:xfrm>
            <a:off x="457200" y="1325880"/>
            <a:ext cx="2606040" cy="502920"/>
          </a:xfrm>
          <a:prstGeom prst="rect">
            <a:avLst/>
          </a:prstGeom>
          <a:noFill/>
          <a:ln/>
        </p:spPr>
        <p:txBody>
          <a:bodyPr wrap="square" lIns="0" tIns="0" rIns="0" bIns="0" rtlCol="0" anchor="t"/>
          <a:lstStyle/>
          <a:p>
            <a:pPr indent="0" marL="0">
              <a:buNone/>
            </a:pPr>
            <a:r>
              <a:rPr lang="en-US" sz="3400" b="1" dirty="0">
                <a:solidFill>
                  <a:srgbClr val="01696F"/>
                </a:solidFill>
                <a:latin typeface="Arial" pitchFamily="34" charset="0"/>
                <a:ea typeface="Arial" pitchFamily="34" charset="-122"/>
                <a:cs typeface="Arial" pitchFamily="34" charset="-120"/>
              </a:rPr>
              <a:t>1,152</a:t>
            </a:r>
            <a:endParaRPr lang="en-US" sz="3400" dirty="0"/>
          </a:p>
        </p:txBody>
      </p:sp>
      <p:sp>
        <p:nvSpPr>
          <p:cNvPr id="8" name="Text 6"/>
          <p:cNvSpPr/>
          <p:nvPr/>
        </p:nvSpPr>
        <p:spPr>
          <a:xfrm>
            <a:off x="457200" y="1874520"/>
            <a:ext cx="2606040" cy="228600"/>
          </a:xfrm>
          <a:prstGeom prst="rect">
            <a:avLst/>
          </a:prstGeom>
          <a:noFill/>
          <a:ln/>
        </p:spPr>
        <p:txBody>
          <a:bodyPr wrap="square" lIns="0" tIns="0" rIns="0" bIns="0" rtlCol="0" anchor="t"/>
          <a:lstStyle/>
          <a:p>
            <a:pPr indent="0" marL="0">
              <a:buNone/>
            </a:pPr>
            <a:r>
              <a:rPr lang="en-US" sz="1300" dirty="0">
                <a:solidFill>
                  <a:srgbClr val="202B2D"/>
                </a:solidFill>
                <a:latin typeface="Arial" pitchFamily="34" charset="0"/>
                <a:ea typeface="Arial" pitchFamily="34" charset="-122"/>
                <a:cs typeface="Arial" pitchFamily="34" charset="-120"/>
              </a:rPr>
              <a:t>attack campaigns</a:t>
            </a:r>
            <a:endParaRPr lang="en-US" sz="1300" dirty="0"/>
          </a:p>
        </p:txBody>
      </p:sp>
      <p:sp>
        <p:nvSpPr>
          <p:cNvPr id="9" name="Text 7"/>
          <p:cNvSpPr/>
          <p:nvPr/>
        </p:nvSpPr>
        <p:spPr>
          <a:xfrm>
            <a:off x="3246120" y="1325880"/>
            <a:ext cx="2606040" cy="502920"/>
          </a:xfrm>
          <a:prstGeom prst="rect">
            <a:avLst/>
          </a:prstGeom>
          <a:noFill/>
          <a:ln/>
        </p:spPr>
        <p:txBody>
          <a:bodyPr wrap="square" lIns="0" tIns="0" rIns="0" bIns="0" rtlCol="0" anchor="t"/>
          <a:lstStyle/>
          <a:p>
            <a:pPr indent="0" marL="0">
              <a:buNone/>
            </a:pPr>
            <a:r>
              <a:rPr lang="en-US" sz="3400" b="1" dirty="0">
                <a:solidFill>
                  <a:srgbClr val="01696F"/>
                </a:solidFill>
                <a:latin typeface="Arial" pitchFamily="34" charset="0"/>
                <a:ea typeface="Arial" pitchFamily="34" charset="-122"/>
                <a:cs typeface="Arial" pitchFamily="34" charset="-120"/>
              </a:rPr>
              <a:t>4,189</a:t>
            </a:r>
            <a:endParaRPr lang="en-US" sz="3400" dirty="0"/>
          </a:p>
        </p:txBody>
      </p:sp>
      <p:sp>
        <p:nvSpPr>
          <p:cNvPr id="10" name="Text 8"/>
          <p:cNvSpPr/>
          <p:nvPr/>
        </p:nvSpPr>
        <p:spPr>
          <a:xfrm>
            <a:off x="3246120" y="1874520"/>
            <a:ext cx="2606040" cy="228600"/>
          </a:xfrm>
          <a:prstGeom prst="rect">
            <a:avLst/>
          </a:prstGeom>
          <a:noFill/>
          <a:ln/>
        </p:spPr>
        <p:txBody>
          <a:bodyPr wrap="square" lIns="0" tIns="0" rIns="0" bIns="0" rtlCol="0" anchor="t"/>
          <a:lstStyle/>
          <a:p>
            <a:pPr indent="0" marL="0">
              <a:buNone/>
            </a:pPr>
            <a:r>
              <a:rPr lang="en-US" sz="1300" dirty="0">
                <a:solidFill>
                  <a:srgbClr val="202B2D"/>
                </a:solidFill>
                <a:latin typeface="Arial" pitchFamily="34" charset="0"/>
                <a:ea typeface="Arial" pitchFamily="34" charset="-122"/>
                <a:cs typeface="Arial" pitchFamily="34" charset="-120"/>
              </a:rPr>
              <a:t>evaluated transactions</a:t>
            </a:r>
            <a:endParaRPr lang="en-US" sz="1300" dirty="0"/>
          </a:p>
        </p:txBody>
      </p:sp>
      <p:sp>
        <p:nvSpPr>
          <p:cNvPr id="11" name="Text 9"/>
          <p:cNvSpPr/>
          <p:nvPr/>
        </p:nvSpPr>
        <p:spPr>
          <a:xfrm>
            <a:off x="6035040" y="1325880"/>
            <a:ext cx="2606040" cy="502920"/>
          </a:xfrm>
          <a:prstGeom prst="rect">
            <a:avLst/>
          </a:prstGeom>
          <a:noFill/>
          <a:ln/>
        </p:spPr>
        <p:txBody>
          <a:bodyPr wrap="square" lIns="0" tIns="0" rIns="0" bIns="0" rtlCol="0" anchor="t"/>
          <a:lstStyle/>
          <a:p>
            <a:pPr indent="0" marL="0">
              <a:buNone/>
            </a:pPr>
            <a:r>
              <a:rPr lang="en-US" sz="3400" b="1" dirty="0">
                <a:solidFill>
                  <a:srgbClr val="01696F"/>
                </a:solidFill>
                <a:latin typeface="Arial" pitchFamily="34" charset="0"/>
                <a:ea typeface="Arial" pitchFamily="34" charset="-122"/>
                <a:cs typeface="Arial" pitchFamily="34" charset="-120"/>
              </a:rPr>
              <a:t>3</a:t>
            </a:r>
            <a:endParaRPr lang="en-US" sz="3400" dirty="0"/>
          </a:p>
        </p:txBody>
      </p:sp>
      <p:sp>
        <p:nvSpPr>
          <p:cNvPr id="12" name="Text 10"/>
          <p:cNvSpPr/>
          <p:nvPr/>
        </p:nvSpPr>
        <p:spPr>
          <a:xfrm>
            <a:off x="6035040" y="1874520"/>
            <a:ext cx="2606040" cy="228600"/>
          </a:xfrm>
          <a:prstGeom prst="rect">
            <a:avLst/>
          </a:prstGeom>
          <a:noFill/>
          <a:ln/>
        </p:spPr>
        <p:txBody>
          <a:bodyPr wrap="square" lIns="0" tIns="0" rIns="0" bIns="0" rtlCol="0" anchor="t"/>
          <a:lstStyle/>
          <a:p>
            <a:pPr indent="0" marL="0">
              <a:buNone/>
            </a:pPr>
            <a:r>
              <a:rPr lang="en-US" sz="1300" dirty="0">
                <a:solidFill>
                  <a:srgbClr val="202B2D"/>
                </a:solidFill>
                <a:latin typeface="Arial" pitchFamily="34" charset="0"/>
                <a:ea typeface="Arial" pitchFamily="34" charset="-122"/>
                <a:cs typeface="Arial" pitchFamily="34" charset="-120"/>
              </a:rPr>
              <a:t>evaluation seeds</a:t>
            </a:r>
            <a:endParaRPr lang="en-US" sz="1300" dirty="0"/>
          </a:p>
        </p:txBody>
      </p:sp>
      <p:sp>
        <p:nvSpPr>
          <p:cNvPr id="13" name="Text 11"/>
          <p:cNvSpPr/>
          <p:nvPr/>
        </p:nvSpPr>
        <p:spPr>
          <a:xfrm>
            <a:off x="457200" y="2176272"/>
            <a:ext cx="5394960" cy="256032"/>
          </a:xfrm>
          <a:prstGeom prst="rect">
            <a:avLst/>
          </a:prstGeom>
          <a:noFill/>
          <a:ln/>
        </p:spPr>
        <p:txBody>
          <a:bodyPr wrap="square" lIns="0" tIns="0" rIns="0" bIns="0" rtlCol="0" anchor="t"/>
          <a:lstStyle/>
          <a:p>
            <a:pPr indent="0" marL="0">
              <a:buNone/>
            </a:pPr>
            <a:r>
              <a:rPr lang="en-US" sz="1300" b="1" dirty="0">
                <a:solidFill>
                  <a:srgbClr val="172D30"/>
                </a:solidFill>
                <a:latin typeface="Arial" pitchFamily="34" charset="0"/>
                <a:ea typeface="Arial" pitchFamily="34" charset="-122"/>
                <a:cs typeface="Arial" pitchFamily="34" charset="-120"/>
              </a:rPr>
              <a:t>High-value-burst subset: campaign completion</a:t>
            </a:r>
            <a:endParaRPr lang="en-US" sz="1300" dirty="0"/>
          </a:p>
        </p:txBody>
      </p:sp>
      <p:graphicFrame>
        <p:nvGraphicFramePr>
          <p:cNvPr id="14" name="Chart 0" descr=""/>
          <p:cNvGraphicFramePr/>
          <p:nvPr/>
        </p:nvGraphicFramePr>
        <p:xfrm>
          <a:off x="457200" y="2487168"/>
          <a:ext cx="5349240" cy="1554480"/>
        </p:xfrm>
        <a:graphic xmlns:a="http://schemas.openxmlformats.org/drawingml/2006/main">
          <a:graphicData uri="http://schemas.openxmlformats.org/drawingml/2006/chart">
            <c:chart xmlns:c="http://schemas.openxmlformats.org/drawingml/2006/chart" r:id="rId2"/>
          </a:graphicData>
        </a:graphic>
      </p:graphicFrame>
      <p:sp>
        <p:nvSpPr>
          <p:cNvPr id="15" name="Text 12"/>
          <p:cNvSpPr/>
          <p:nvPr/>
        </p:nvSpPr>
        <p:spPr>
          <a:xfrm>
            <a:off x="6080760" y="2286000"/>
            <a:ext cx="2606040" cy="749808"/>
          </a:xfrm>
          <a:prstGeom prst="rect">
            <a:avLst/>
          </a:prstGeom>
          <a:noFill/>
          <a:ln/>
        </p:spPr>
        <p:txBody>
          <a:bodyPr wrap="square" lIns="0" tIns="0" rIns="0" bIns="0" rtlCol="0" anchor="t"/>
          <a:lstStyle/>
          <a:p>
            <a:pPr indent="0" marL="0">
              <a:buNone/>
            </a:pPr>
            <a:r>
              <a:rPr lang="en-US" sz="1400" b="1" dirty="0">
                <a:solidFill>
                  <a:srgbClr val="172D30"/>
                </a:solidFill>
                <a:latin typeface="Arial" pitchFamily="34" charset="0"/>
                <a:ea typeface="Arial" pitchFamily="34" charset="-122"/>
                <a:cs typeface="Arial" pitchFamily="34" charset="-120"/>
              </a:rPr>
              <a:t>All campaigns (pooled)</a:t>
            </a:r>
            <a:endParaRPr lang="en-US" sz="1400" dirty="0"/>
          </a:p>
          <a:p>
            <a:pPr indent="0" marL="0">
              <a:buNone/>
            </a:pPr>
            <a:r>
              <a:rPr lang="en-US" sz="1400" b="1" dirty="0">
                <a:solidFill>
                  <a:srgbClr val="172D30"/>
                </a:solidFill>
                <a:latin typeface="Arial" pitchFamily="34" charset="0"/>
                <a:ea typeface="Arial" pitchFamily="34" charset="-122"/>
                <a:cs typeface="Arial" pitchFamily="34" charset="-120"/>
              </a:rPr>
              <a:t>1,077 / 1,152 = 93.490%</a:t>
            </a:r>
            <a:endParaRPr lang="en-US" sz="1400" dirty="0"/>
          </a:p>
          <a:p>
            <a:pPr indent="0" marL="0">
              <a:buNone/>
            </a:pPr>
            <a:r>
              <a:rPr lang="en-US" sz="1400" b="1" dirty="0">
                <a:solidFill>
                  <a:srgbClr val="172D30"/>
                </a:solidFill>
                <a:latin typeface="Arial" pitchFamily="34" charset="0"/>
                <a:ea typeface="Arial" pitchFamily="34" charset="-122"/>
                <a:cs typeface="Arial" pitchFamily="34" charset="-120"/>
              </a:rPr>
              <a:t>reached their target.</a:t>
            </a:r>
            <a:endParaRPr lang="en-US" sz="1400" dirty="0"/>
          </a:p>
        </p:txBody>
      </p:sp>
      <p:sp>
        <p:nvSpPr>
          <p:cNvPr id="16" name="Text 13"/>
          <p:cNvSpPr/>
          <p:nvPr/>
        </p:nvSpPr>
        <p:spPr>
          <a:xfrm>
            <a:off x="6080760" y="3154680"/>
            <a:ext cx="2606040" cy="502920"/>
          </a:xfrm>
          <a:prstGeom prst="rect">
            <a:avLst/>
          </a:prstGeom>
          <a:noFill/>
          <a:ln/>
        </p:spPr>
        <p:txBody>
          <a:bodyPr wrap="square" lIns="0" tIns="0" rIns="0" bIns="0" rtlCol="0" anchor="t"/>
          <a:lstStyle/>
          <a:p>
            <a:pPr indent="0" marL="0">
              <a:buNone/>
            </a:pPr>
            <a:r>
              <a:rPr lang="en-US" sz="1300" dirty="0">
                <a:solidFill>
                  <a:srgbClr val="465E62"/>
                </a:solidFill>
                <a:latin typeface="Arial" pitchFamily="34" charset="0"/>
                <a:ea typeface="Arial" pitchFamily="34" charset="-122"/>
                <a:cs typeface="Arial" pitchFamily="34" charset="-120"/>
              </a:rPr>
              <a:t>Not detector accuracy</a:t>
            </a:r>
            <a:endParaRPr lang="en-US" sz="1300" dirty="0"/>
          </a:p>
          <a:p>
            <a:pPr indent="0" marL="0">
              <a:buNone/>
            </a:pPr>
            <a:r>
              <a:rPr lang="en-US" sz="1300" dirty="0">
                <a:solidFill>
                  <a:srgbClr val="465E62"/>
                </a:solidFill>
                <a:latin typeface="Arial" pitchFamily="34" charset="0"/>
                <a:ea typeface="Arial" pitchFamily="34" charset="-122"/>
                <a:cs typeface="Arial" pitchFamily="34" charset="-120"/>
              </a:rPr>
              <a:t>or proof of RL superiority.</a:t>
            </a:r>
            <a:endParaRPr lang="en-US" sz="1300" dirty="0"/>
          </a:p>
        </p:txBody>
      </p:sp>
      <p:sp>
        <p:nvSpPr>
          <p:cNvPr id="17" name="Text 14"/>
          <p:cNvSpPr/>
          <p:nvPr/>
        </p:nvSpPr>
        <p:spPr>
          <a:xfrm>
            <a:off x="6080760" y="3685032"/>
            <a:ext cx="2606040" cy="457200"/>
          </a:xfrm>
          <a:prstGeom prst="rect">
            <a:avLst/>
          </a:prstGeom>
          <a:noFill/>
          <a:ln/>
        </p:spPr>
        <p:txBody>
          <a:bodyPr wrap="square" lIns="0" tIns="0" rIns="0" bIns="0" rtlCol="0" anchor="t"/>
          <a:lstStyle/>
          <a:p>
            <a:pPr indent="0" marL="0">
              <a:buNone/>
            </a:pPr>
            <a:r>
              <a:rPr lang="en-US" sz="1100" dirty="0">
                <a:solidFill>
                  <a:srgbClr val="465E62"/>
                </a:solidFill>
                <a:latin typeface="Arial" pitchFamily="34" charset="0"/>
                <a:ea typeface="Arial" pitchFamily="34" charset="-122"/>
                <a:cs typeface="Arial" pitchFamily="34" charset="-120"/>
              </a:rPr>
              <a:t>Chart: high-value burst only.</a:t>
            </a:r>
            <a:endParaRPr lang="en-US" sz="1100" dirty="0"/>
          </a:p>
          <a:p>
            <a:pPr indent="0" marL="0">
              <a:buNone/>
            </a:pPr>
            <a:r>
              <a:rPr lang="en-US" sz="1100" dirty="0">
                <a:solidFill>
                  <a:srgbClr val="465E62"/>
                </a:solidFill>
                <a:latin typeface="Arial" pitchFamily="34" charset="0"/>
                <a:ea typeface="Arial" pitchFamily="34" charset="-122"/>
                <a:cs typeface="Arial" pitchFamily="34" charset="-120"/>
              </a:rPr>
              <a:t>72 per arm / detector; 3 seeds.</a:t>
            </a:r>
            <a:endParaRPr lang="en-US" sz="1100" dirty="0"/>
          </a:p>
          <a:p>
            <a:pPr indent="0" marL="0">
              <a:buNone/>
            </a:pPr>
            <a:r>
              <a:rPr lang="en-US" sz="1100" dirty="0">
                <a:solidFill>
                  <a:srgbClr val="465E62"/>
                </a:solidFill>
                <a:latin typeface="Arial" pitchFamily="34" charset="0"/>
                <a:ea typeface="Arial" pitchFamily="34" charset="-122"/>
                <a:cs typeface="Arial" pitchFamily="34" charset="-120"/>
              </a:rPr>
              <a:t>Seed SDs in notes; confounded.</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47472"/>
            <a:ext cx="8229600" cy="868680"/>
          </a:xfrm>
          <a:prstGeom prst="rect">
            <a:avLst/>
          </a:prstGeom>
          <a:noFill/>
          <a:ln/>
        </p:spPr>
        <p:txBody>
          <a:bodyPr wrap="square" lIns="0" tIns="0" rIns="0" bIns="0" rtlCol="0" anchor="t"/>
          <a:lstStyle/>
          <a:p>
            <a:pPr indent="0" marL="0">
              <a:buNone/>
            </a:pPr>
            <a:r>
              <a:rPr lang="en-US" sz="3400" b="1" dirty="0">
                <a:solidFill>
                  <a:srgbClr val="172D30"/>
                </a:solidFill>
                <a:latin typeface="Arial" pitchFamily="34" charset="0"/>
                <a:ea typeface="Arial" pitchFamily="34" charset="-122"/>
                <a:cs typeface="Arial" pitchFamily="34" charset="-120"/>
              </a:rPr>
              <a:t>Terminal results: what do they mean?</a:t>
            </a:r>
            <a:endParaRPr lang="en-US" sz="3400" dirty="0"/>
          </a:p>
        </p:txBody>
      </p:sp>
      <p:sp>
        <p:nvSpPr>
          <p:cNvPr id="3" name="Shape 1"/>
          <p:cNvSpPr/>
          <p:nvPr/>
        </p:nvSpPr>
        <p:spPr>
          <a:xfrm>
            <a:off x="8503920" y="4663440"/>
            <a:ext cx="292608" cy="292608"/>
          </a:xfrm>
          <a:prstGeom prst="ellipse">
            <a:avLst/>
          </a:prstGeom>
          <a:solidFill>
            <a:srgbClr val="01696F"/>
          </a:solidFill>
          <a:ln w="12700">
            <a:solidFill>
              <a:srgbClr val="01696F">
                <a:alpha val="0"/>
              </a:srgbClr>
            </a:solidFill>
            <a:prstDash val="solid"/>
          </a:ln>
        </p:spPr>
      </p:sp>
      <p:sp>
        <p:nvSpPr>
          <p:cNvPr id="4" name="Text 2"/>
          <p:cNvSpPr/>
          <p:nvPr/>
        </p:nvSpPr>
        <p:spPr>
          <a:xfrm>
            <a:off x="8503920" y="4695444"/>
            <a:ext cx="292608" cy="182880"/>
          </a:xfrm>
          <a:prstGeom prst="rect">
            <a:avLst/>
          </a:prstGeom>
          <a:noFill/>
          <a:ln/>
        </p:spPr>
        <p:txBody>
          <a:bodyPr wrap="square" lIns="0" tIns="0" rIns="0" bIns="0" rtlCol="0" anchor="t"/>
          <a:lstStyle/>
          <a:p>
            <a:pPr algn="ctr" indent="0" marL="0">
              <a:buNone/>
            </a:pPr>
            <a:r>
              <a:rPr lang="en-US" sz="1000" b="1" dirty="0">
                <a:solidFill>
                  <a:srgbClr val="FFFFFF"/>
                </a:solidFill>
                <a:latin typeface="Arial" pitchFamily="34" charset="0"/>
                <a:ea typeface="Arial" pitchFamily="34" charset="-122"/>
                <a:cs typeface="Arial" pitchFamily="34" charset="-120"/>
              </a:rPr>
              <a:t>6</a:t>
            </a:r>
            <a:endParaRPr lang="en-US" sz="1000" dirty="0"/>
          </a:p>
        </p:txBody>
      </p:sp>
      <p:sp>
        <p:nvSpPr>
          <p:cNvPr id="5" name="Text 3"/>
          <p:cNvSpPr/>
          <p:nvPr/>
        </p:nvSpPr>
        <p:spPr>
          <a:xfrm>
            <a:off x="457200" y="4663440"/>
            <a:ext cx="4206240" cy="201168"/>
          </a:xfrm>
          <a:prstGeom prst="rect">
            <a:avLst/>
          </a:prstGeom>
          <a:noFill/>
          <a:ln/>
        </p:spPr>
        <p:txBody>
          <a:bodyPr wrap="square" lIns="0" tIns="0" rIns="0" bIns="0" rtlCol="0" anchor="t"/>
          <a:lstStyle/>
          <a:p>
            <a:pPr indent="0" marL="0">
              <a:buNone/>
            </a:pPr>
            <a:r>
              <a:rPr lang="en-US" sz="1000" dirty="0">
                <a:solidFill>
                  <a:srgbClr val="465E62"/>
                </a:solidFill>
                <a:latin typeface="Arial" pitchFamily="34" charset="0"/>
                <a:ea typeface="Arial" pitchFamily="34" charset="-122"/>
                <a:cs typeface="Arial" pitchFamily="34" charset="-120"/>
              </a:rPr>
              <a:t>SYNTHETIC RESEARCH  |  GATE C HOLD</a:t>
            </a:r>
            <a:endParaRPr lang="en-US" sz="1000" dirty="0"/>
          </a:p>
        </p:txBody>
      </p:sp>
      <p:sp>
        <p:nvSpPr>
          <p:cNvPr id="6" name="Text 4"/>
          <p:cNvSpPr/>
          <p:nvPr/>
        </p:nvSpPr>
        <p:spPr>
          <a:xfrm>
            <a:off x="457200" y="4370832"/>
            <a:ext cx="8001000" cy="201168"/>
          </a:xfrm>
          <a:prstGeom prst="rect">
            <a:avLst/>
          </a:prstGeom>
          <a:noFill/>
          <a:ln/>
        </p:spPr>
        <p:txBody>
          <a:bodyPr wrap="square" lIns="0" tIns="0" rIns="0" bIns="0" rtlCol="0" anchor="ctr"/>
          <a:lstStyle/>
          <a:p>
            <a:pPr indent="0" marL="0">
              <a:buNone/>
            </a:pPr>
            <a:r>
              <a:rPr lang="en-US" sz="1000" dirty="0">
                <a:solidFill>
                  <a:srgbClr val="465E62"/>
                </a:solidFill>
                <a:latin typeface="Arial" pitchFamily="34" charset="0"/>
                <a:ea typeface="Arial" pitchFamily="34" charset="-122"/>
                <a:cs typeface="Arial" pitchFamily="34" charset="-120"/>
              </a:rPr>
              <a:t>Source: </a:t>
            </a:r>
            <a:r>
              <a:rPr lang="en-US" sz="1000" u="sng" dirty="0">
                <a:solidFill>
                  <a:srgbClr val="01696F"/>
                </a:solidFill>
                <a:latin typeface="Arial" pitchFamily="34" charset="0"/>
                <a:ea typeface="Arial" pitchFamily="34" charset="-122"/>
                <a:cs typeface="Arial" pitchFamily="34" charset="-120"/>
                <a:hlinkClick r:id="rId1" invalidUrl="" action="" tgtFrame="" tooltip="" history="1" highlightClick="0" endSnd="0">
                  <a:extLst>
                    <a:ext uri="{A12FA001-AC4F-418D-AE19-62706E023703}">
                      <ahyp:hlinkClr xmlns:ahyp="http://schemas.microsoft.com/office/drawing/2018/hyperlinkcolor" val="tx"/>
                    </a:ext>
                  </a:extLst>
                </a:hlinkClick>
              </a:rPr>
              <a:t>saved short-run stdout and interpretation</a:t>
            </a:r>
            <a:endParaRPr lang="en-US" sz="1000" dirty="0"/>
          </a:p>
        </p:txBody>
      </p:sp>
      <p:sp>
        <p:nvSpPr>
          <p:cNvPr id="7" name="Text 5"/>
          <p:cNvSpPr/>
          <p:nvPr/>
        </p:nvSpPr>
        <p:spPr>
          <a:xfrm>
            <a:off x="457200" y="1325880"/>
            <a:ext cx="8229600" cy="320040"/>
          </a:xfrm>
          <a:prstGeom prst="rect">
            <a:avLst/>
          </a:prstGeom>
          <a:noFill/>
          <a:ln/>
        </p:spPr>
        <p:txBody>
          <a:bodyPr wrap="square" lIns="0" tIns="0" rIns="0" bIns="0" rtlCol="0" anchor="t"/>
          <a:lstStyle/>
          <a:p>
            <a:pPr indent="0" marL="0">
              <a:buNone/>
            </a:pPr>
            <a:r>
              <a:rPr lang="en-US" sz="1500" dirty="0">
                <a:solidFill>
                  <a:srgbClr val="202B2D"/>
                </a:solidFill>
                <a:latin typeface="Arial" pitchFamily="34" charset="0"/>
                <a:ea typeface="Arial" pitchFamily="34" charset="-122"/>
                <a:cs typeface="Arial" pitchFamily="34" charset="-120"/>
              </a:rPr>
              <a:t>Recorded short demo: 16 campaigns, 4 training episodes; 1 campaign per cell.</a:t>
            </a:r>
            <a:endParaRPr lang="en-US" sz="1500" dirty="0"/>
          </a:p>
        </p:txBody>
      </p:sp>
      <p:sp>
        <p:nvSpPr>
          <p:cNvPr id="8" name="Shape 6"/>
          <p:cNvSpPr/>
          <p:nvPr/>
        </p:nvSpPr>
        <p:spPr>
          <a:xfrm>
            <a:off x="457200" y="1828800"/>
            <a:ext cx="8229600" cy="868680"/>
          </a:xfrm>
          <a:prstGeom prst="rect">
            <a:avLst/>
          </a:prstGeom>
          <a:solidFill>
            <a:srgbClr val="172D30"/>
          </a:solidFill>
          <a:ln w="12700">
            <a:solidFill>
              <a:srgbClr val="172D30">
                <a:alpha val="0"/>
              </a:srgbClr>
            </a:solidFill>
            <a:prstDash val="solid"/>
          </a:ln>
        </p:spPr>
      </p:sp>
      <p:sp>
        <p:nvSpPr>
          <p:cNvPr id="9" name="Text 7"/>
          <p:cNvSpPr/>
          <p:nvPr/>
        </p:nvSpPr>
        <p:spPr>
          <a:xfrm>
            <a:off x="612648" y="1956816"/>
            <a:ext cx="7909560" cy="640080"/>
          </a:xfrm>
          <a:prstGeom prst="rect">
            <a:avLst/>
          </a:prstGeom>
          <a:noFill/>
          <a:ln/>
        </p:spPr>
        <p:txBody>
          <a:bodyPr wrap="square" lIns="0" tIns="0" rIns="0" bIns="0" rtlCol="0" anchor="t"/>
          <a:lstStyle/>
          <a:p>
            <a:pPr indent="0" marL="0">
              <a:buNone/>
            </a:pPr>
            <a:r>
              <a:rPr lang="en-US" sz="1200" dirty="0">
                <a:solidFill>
                  <a:srgbClr val="FFFFFF"/>
                </a:solidFill>
                <a:latin typeface="Courier New" pitchFamily="34" charset="0"/>
                <a:ea typeface="Courier New" pitchFamily="34" charset="-122"/>
                <a:cs typeface="Courier New" pitchFamily="34" charset="-120"/>
              </a:rPr>
              <a:t>xgboost known static success=1.000 exposure=46791.56</a:t>
            </a:r>
            <a:endParaRPr lang="en-US" sz="1200" dirty="0"/>
          </a:p>
          <a:p>
            <a:pPr indent="0" marL="0">
              <a:buNone/>
            </a:pPr>
            <a:r>
              <a:rPr lang="en-US" sz="1200" dirty="0">
                <a:solidFill>
                  <a:srgbClr val="FFFFFF"/>
                </a:solidFill>
                <a:latin typeface="Courier New" pitchFamily="34" charset="0"/>
                <a:ea typeface="Courier New" pitchFamily="34" charset="-122"/>
                <a:cs typeface="Courier New" pitchFamily="34" charset="-120"/>
              </a:rPr>
              <a:t>xgboost known rl success=1.000 exposure=29789.42</a:t>
            </a:r>
            <a:endParaRPr lang="en-US" sz="1200" dirty="0"/>
          </a:p>
          <a:p>
            <a:pPr indent="0" marL="0">
              <a:buNone/>
            </a:pPr>
            <a:r>
              <a:rPr lang="en-US" sz="1200" dirty="0">
                <a:solidFill>
                  <a:srgbClr val="FFFFFF"/>
                </a:solidFill>
                <a:latin typeface="Courier New" pitchFamily="34" charset="0"/>
                <a:ea typeface="Courier New" pitchFamily="34" charset="-122"/>
                <a:cs typeface="Courier New" pitchFamily="34" charset="-120"/>
              </a:rPr>
              <a:t>random_forest known rl success=1.000 exposure=29789.42</a:t>
            </a:r>
            <a:endParaRPr lang="en-US" sz="1200" dirty="0"/>
          </a:p>
        </p:txBody>
      </p:sp>
      <p:sp>
        <p:nvSpPr>
          <p:cNvPr id="10" name="Text 8"/>
          <p:cNvSpPr/>
          <p:nvPr/>
        </p:nvSpPr>
        <p:spPr>
          <a:xfrm>
            <a:off x="457200" y="2880360"/>
            <a:ext cx="1463040" cy="274320"/>
          </a:xfrm>
          <a:prstGeom prst="rect">
            <a:avLst/>
          </a:prstGeom>
          <a:noFill/>
          <a:ln/>
        </p:spPr>
        <p:txBody>
          <a:bodyPr wrap="square" lIns="0" tIns="0" rIns="0" bIns="0" rtlCol="0" anchor="t"/>
          <a:lstStyle/>
          <a:p>
            <a:pPr indent="0" marL="0">
              <a:buNone/>
            </a:pPr>
            <a:r>
              <a:rPr lang="en-US" sz="1300" b="1" dirty="0">
                <a:solidFill>
                  <a:srgbClr val="01696F"/>
                </a:solidFill>
                <a:latin typeface="Arial" pitchFamily="34" charset="0"/>
                <a:ea typeface="Arial" pitchFamily="34" charset="-122"/>
                <a:cs typeface="Arial" pitchFamily="34" charset="-120"/>
              </a:rPr>
              <a:t>success=1.000</a:t>
            </a:r>
            <a:endParaRPr lang="en-US" sz="1300" dirty="0"/>
          </a:p>
        </p:txBody>
      </p:sp>
      <p:sp>
        <p:nvSpPr>
          <p:cNvPr id="11" name="Text 9"/>
          <p:cNvSpPr/>
          <p:nvPr/>
        </p:nvSpPr>
        <p:spPr>
          <a:xfrm>
            <a:off x="1965960" y="2880360"/>
            <a:ext cx="6720840" cy="274320"/>
          </a:xfrm>
          <a:prstGeom prst="rect">
            <a:avLst/>
          </a:prstGeom>
          <a:noFill/>
          <a:ln/>
        </p:spPr>
        <p:txBody>
          <a:bodyPr wrap="square" lIns="0" tIns="0" rIns="0" bIns="0" rtlCol="0" anchor="t"/>
          <a:lstStyle/>
          <a:p>
            <a:pPr indent="0" marL="0">
              <a:buNone/>
            </a:pPr>
            <a:r>
              <a:rPr lang="en-US" sz="1400" dirty="0">
                <a:solidFill>
                  <a:srgbClr val="202B2D"/>
                </a:solidFill>
                <a:latin typeface="Arial" pitchFamily="34" charset="0"/>
                <a:ea typeface="Arial" pitchFamily="34" charset="-122"/>
                <a:cs typeface="Arial" pitchFamily="34" charset="-120"/>
              </a:rPr>
              <a:t>That configuration reached its target in 1 of 1 campaigns.</a:t>
            </a:r>
            <a:endParaRPr lang="en-US" sz="1400" dirty="0"/>
          </a:p>
        </p:txBody>
      </p:sp>
      <p:sp>
        <p:nvSpPr>
          <p:cNvPr id="12" name="Text 10"/>
          <p:cNvSpPr/>
          <p:nvPr/>
        </p:nvSpPr>
        <p:spPr>
          <a:xfrm>
            <a:off x="457200" y="3218688"/>
            <a:ext cx="1463040" cy="274320"/>
          </a:xfrm>
          <a:prstGeom prst="rect">
            <a:avLst/>
          </a:prstGeom>
          <a:noFill/>
          <a:ln/>
        </p:spPr>
        <p:txBody>
          <a:bodyPr wrap="square" lIns="0" tIns="0" rIns="0" bIns="0" rtlCol="0" anchor="t"/>
          <a:lstStyle/>
          <a:p>
            <a:pPr indent="0" marL="0">
              <a:buNone/>
            </a:pPr>
            <a:r>
              <a:rPr lang="en-US" sz="1300" b="1" dirty="0">
                <a:solidFill>
                  <a:srgbClr val="01696F"/>
                </a:solidFill>
                <a:latin typeface="Arial" pitchFamily="34" charset="0"/>
                <a:ea typeface="Arial" pitchFamily="34" charset="-122"/>
                <a:cs typeface="Arial" pitchFamily="34" charset="-120"/>
              </a:rPr>
              <a:t>exposure</a:t>
            </a:r>
            <a:endParaRPr lang="en-US" sz="1300" dirty="0"/>
          </a:p>
        </p:txBody>
      </p:sp>
      <p:sp>
        <p:nvSpPr>
          <p:cNvPr id="13" name="Text 11"/>
          <p:cNvSpPr/>
          <p:nvPr/>
        </p:nvSpPr>
        <p:spPr>
          <a:xfrm>
            <a:off x="1965960" y="3218688"/>
            <a:ext cx="6720840" cy="274320"/>
          </a:xfrm>
          <a:prstGeom prst="rect">
            <a:avLst/>
          </a:prstGeom>
          <a:noFill/>
          <a:ln/>
        </p:spPr>
        <p:txBody>
          <a:bodyPr wrap="square" lIns="0" tIns="0" rIns="0" bIns="0" rtlCol="0" anchor="t"/>
          <a:lstStyle/>
          <a:p>
            <a:pPr indent="0" marL="0">
              <a:buNone/>
            </a:pPr>
            <a:r>
              <a:rPr lang="en-US" sz="1400" dirty="0">
                <a:solidFill>
                  <a:srgbClr val="202B2D"/>
                </a:solidFill>
                <a:latin typeface="Arial" pitchFamily="34" charset="0"/>
                <a:ea typeface="Arial" pitchFamily="34" charset="-122"/>
                <a:cs typeface="Arial" pitchFamily="34" charset="-120"/>
              </a:rPr>
              <a:t>Gross simulated source debit in INR, not actual victim loss.</a:t>
            </a:r>
            <a:endParaRPr lang="en-US" sz="1400" dirty="0"/>
          </a:p>
        </p:txBody>
      </p:sp>
      <p:sp>
        <p:nvSpPr>
          <p:cNvPr id="14" name="Text 12"/>
          <p:cNvSpPr/>
          <p:nvPr/>
        </p:nvSpPr>
        <p:spPr>
          <a:xfrm>
            <a:off x="457200" y="3557016"/>
            <a:ext cx="1463040" cy="274320"/>
          </a:xfrm>
          <a:prstGeom prst="rect">
            <a:avLst/>
          </a:prstGeom>
          <a:noFill/>
          <a:ln/>
        </p:spPr>
        <p:txBody>
          <a:bodyPr wrap="square" lIns="0" tIns="0" rIns="0" bIns="0" rtlCol="0" anchor="t"/>
          <a:lstStyle/>
          <a:p>
            <a:pPr indent="0" marL="0">
              <a:buNone/>
            </a:pPr>
            <a:r>
              <a:rPr lang="en-US" sz="1300" b="1" dirty="0">
                <a:solidFill>
                  <a:srgbClr val="01696F"/>
                </a:solidFill>
                <a:latin typeface="Arial" pitchFamily="34" charset="0"/>
                <a:ea typeface="Arial" pitchFamily="34" charset="-122"/>
                <a:cs typeface="Arial" pitchFamily="34" charset="-120"/>
              </a:rPr>
              <a:t>known</a:t>
            </a:r>
            <a:endParaRPr lang="en-US" sz="1300" dirty="0"/>
          </a:p>
        </p:txBody>
      </p:sp>
      <p:sp>
        <p:nvSpPr>
          <p:cNvPr id="15" name="Text 13"/>
          <p:cNvSpPr/>
          <p:nvPr/>
        </p:nvSpPr>
        <p:spPr>
          <a:xfrm>
            <a:off x="1965960" y="3557016"/>
            <a:ext cx="6720840" cy="274320"/>
          </a:xfrm>
          <a:prstGeom prst="rect">
            <a:avLst/>
          </a:prstGeom>
          <a:noFill/>
          <a:ln/>
        </p:spPr>
        <p:txBody>
          <a:bodyPr wrap="square" lIns="0" tIns="0" rIns="0" bIns="0" rtlCol="0" anchor="t"/>
          <a:lstStyle/>
          <a:p>
            <a:pPr indent="0" marL="0">
              <a:buNone/>
            </a:pPr>
            <a:r>
              <a:rPr lang="en-US" sz="1400" dirty="0">
                <a:solidFill>
                  <a:srgbClr val="202B2D"/>
                </a:solidFill>
                <a:latin typeface="Arial" pitchFamily="34" charset="0"/>
                <a:ea typeface="Arial" pitchFamily="34" charset="-122"/>
                <a:cs typeface="Arial" pitchFamily="34" charset="-120"/>
              </a:rPr>
              <a:t>An attacker-training workload label, not proven detector holdout.</a:t>
            </a:r>
            <a:endParaRPr lang="en-US" sz="1400" dirty="0"/>
          </a:p>
        </p:txBody>
      </p:sp>
      <p:sp>
        <p:nvSpPr>
          <p:cNvPr id="16" name="Text 14"/>
          <p:cNvSpPr/>
          <p:nvPr/>
        </p:nvSpPr>
        <p:spPr>
          <a:xfrm>
            <a:off x="457200" y="3895344"/>
            <a:ext cx="1463040" cy="274320"/>
          </a:xfrm>
          <a:prstGeom prst="rect">
            <a:avLst/>
          </a:prstGeom>
          <a:noFill/>
          <a:ln/>
        </p:spPr>
        <p:txBody>
          <a:bodyPr wrap="square" lIns="0" tIns="0" rIns="0" bIns="0" rtlCol="0" anchor="t"/>
          <a:lstStyle/>
          <a:p>
            <a:pPr indent="0" marL="0">
              <a:buNone/>
            </a:pPr>
            <a:r>
              <a:rPr lang="en-US" sz="1300" b="1" dirty="0">
                <a:solidFill>
                  <a:srgbClr val="01696F"/>
                </a:solidFill>
                <a:latin typeface="Arial" pitchFamily="34" charset="0"/>
                <a:ea typeface="Arial" pitchFamily="34" charset="-122"/>
                <a:cs typeface="Arial" pitchFamily="34" charset="-120"/>
              </a:rPr>
              <a:t>Interpretation</a:t>
            </a:r>
            <a:endParaRPr lang="en-US" sz="1300" dirty="0"/>
          </a:p>
        </p:txBody>
      </p:sp>
      <p:sp>
        <p:nvSpPr>
          <p:cNvPr id="17" name="Text 15"/>
          <p:cNvSpPr/>
          <p:nvPr/>
        </p:nvSpPr>
        <p:spPr>
          <a:xfrm>
            <a:off x="1965960" y="3895344"/>
            <a:ext cx="6720840" cy="274320"/>
          </a:xfrm>
          <a:prstGeom prst="rect">
            <a:avLst/>
          </a:prstGeom>
          <a:noFill/>
          <a:ln/>
        </p:spPr>
        <p:txBody>
          <a:bodyPr wrap="square" lIns="0" tIns="0" rIns="0" bIns="0" rtlCol="0" anchor="t"/>
          <a:lstStyle/>
          <a:p>
            <a:pPr indent="0" marL="0">
              <a:buNone/>
            </a:pPr>
            <a:r>
              <a:rPr lang="en-US" sz="1400" dirty="0">
                <a:solidFill>
                  <a:srgbClr val="202B2D"/>
                </a:solidFill>
                <a:latin typeface="Arial" pitchFamily="34" charset="0"/>
                <a:ea typeface="Arial" pitchFamily="34" charset="-122"/>
                <a:cs typeface="Arial" pitchFamily="34" charset="-120"/>
              </a:rPr>
              <a:t>A tiny demo proves execution, not RL superiority or money saved.</a:t>
            </a:r>
            <a:endParaRPr lang="en-US" sz="1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47472"/>
            <a:ext cx="8229600" cy="868680"/>
          </a:xfrm>
          <a:prstGeom prst="rect">
            <a:avLst/>
          </a:prstGeom>
          <a:noFill/>
          <a:ln/>
        </p:spPr>
        <p:txBody>
          <a:bodyPr wrap="square" lIns="0" tIns="0" rIns="0" bIns="0" rtlCol="0" anchor="t"/>
          <a:lstStyle/>
          <a:p>
            <a:pPr indent="0" marL="0">
              <a:buNone/>
            </a:pPr>
            <a:r>
              <a:rPr lang="en-US" sz="3400" b="1" dirty="0">
                <a:solidFill>
                  <a:srgbClr val="172D30"/>
                </a:solidFill>
                <a:latin typeface="Arial" pitchFamily="34" charset="0"/>
                <a:ea typeface="Arial" pitchFamily="34" charset="-122"/>
                <a:cs typeface="Arial" pitchFamily="34" charset="-120"/>
              </a:rPr>
              <a:t>Run the prototype in a terminal</a:t>
            </a:r>
            <a:endParaRPr lang="en-US" sz="3400" dirty="0"/>
          </a:p>
        </p:txBody>
      </p:sp>
      <p:sp>
        <p:nvSpPr>
          <p:cNvPr id="3" name="Shape 1"/>
          <p:cNvSpPr/>
          <p:nvPr/>
        </p:nvSpPr>
        <p:spPr>
          <a:xfrm>
            <a:off x="8503920" y="4663440"/>
            <a:ext cx="292608" cy="292608"/>
          </a:xfrm>
          <a:prstGeom prst="ellipse">
            <a:avLst/>
          </a:prstGeom>
          <a:solidFill>
            <a:srgbClr val="01696F"/>
          </a:solidFill>
          <a:ln w="12700">
            <a:solidFill>
              <a:srgbClr val="01696F">
                <a:alpha val="0"/>
              </a:srgbClr>
            </a:solidFill>
            <a:prstDash val="solid"/>
          </a:ln>
        </p:spPr>
      </p:sp>
      <p:sp>
        <p:nvSpPr>
          <p:cNvPr id="4" name="Text 2"/>
          <p:cNvSpPr/>
          <p:nvPr/>
        </p:nvSpPr>
        <p:spPr>
          <a:xfrm>
            <a:off x="8503920" y="4695444"/>
            <a:ext cx="292608" cy="182880"/>
          </a:xfrm>
          <a:prstGeom prst="rect">
            <a:avLst/>
          </a:prstGeom>
          <a:noFill/>
          <a:ln/>
        </p:spPr>
        <p:txBody>
          <a:bodyPr wrap="square" lIns="0" tIns="0" rIns="0" bIns="0" rtlCol="0" anchor="t"/>
          <a:lstStyle/>
          <a:p>
            <a:pPr algn="ctr" indent="0" marL="0">
              <a:buNone/>
            </a:pPr>
            <a:r>
              <a:rPr lang="en-US" sz="1000" b="1" dirty="0">
                <a:solidFill>
                  <a:srgbClr val="FFFFFF"/>
                </a:solidFill>
                <a:latin typeface="Arial" pitchFamily="34" charset="0"/>
                <a:ea typeface="Arial" pitchFamily="34" charset="-122"/>
                <a:cs typeface="Arial" pitchFamily="34" charset="-120"/>
              </a:rPr>
              <a:t>7</a:t>
            </a:r>
            <a:endParaRPr lang="en-US" sz="1000" dirty="0"/>
          </a:p>
        </p:txBody>
      </p:sp>
      <p:sp>
        <p:nvSpPr>
          <p:cNvPr id="5" name="Text 3"/>
          <p:cNvSpPr/>
          <p:nvPr/>
        </p:nvSpPr>
        <p:spPr>
          <a:xfrm>
            <a:off x="457200" y="4663440"/>
            <a:ext cx="4206240" cy="201168"/>
          </a:xfrm>
          <a:prstGeom prst="rect">
            <a:avLst/>
          </a:prstGeom>
          <a:noFill/>
          <a:ln/>
        </p:spPr>
        <p:txBody>
          <a:bodyPr wrap="square" lIns="0" tIns="0" rIns="0" bIns="0" rtlCol="0" anchor="t"/>
          <a:lstStyle/>
          <a:p>
            <a:pPr indent="0" marL="0">
              <a:buNone/>
            </a:pPr>
            <a:r>
              <a:rPr lang="en-US" sz="1000" dirty="0">
                <a:solidFill>
                  <a:srgbClr val="465E62"/>
                </a:solidFill>
                <a:latin typeface="Arial" pitchFamily="34" charset="0"/>
                <a:ea typeface="Arial" pitchFamily="34" charset="-122"/>
                <a:cs typeface="Arial" pitchFamily="34" charset="-120"/>
              </a:rPr>
              <a:t>SYNTHETIC RESEARCH  |  GATE C HOLD</a:t>
            </a:r>
            <a:endParaRPr lang="en-US" sz="1000" dirty="0"/>
          </a:p>
        </p:txBody>
      </p:sp>
      <p:sp>
        <p:nvSpPr>
          <p:cNvPr id="6" name="Text 4"/>
          <p:cNvSpPr/>
          <p:nvPr/>
        </p:nvSpPr>
        <p:spPr>
          <a:xfrm>
            <a:off x="457200" y="4370832"/>
            <a:ext cx="8001000" cy="201168"/>
          </a:xfrm>
          <a:prstGeom prst="rect">
            <a:avLst/>
          </a:prstGeom>
          <a:noFill/>
          <a:ln/>
        </p:spPr>
        <p:txBody>
          <a:bodyPr wrap="square" lIns="0" tIns="0" rIns="0" bIns="0" rtlCol="0" anchor="ctr"/>
          <a:lstStyle/>
          <a:p>
            <a:pPr indent="0" marL="0">
              <a:buNone/>
            </a:pPr>
            <a:r>
              <a:rPr lang="en-US" sz="1000" dirty="0">
                <a:solidFill>
                  <a:srgbClr val="465E62"/>
                </a:solidFill>
                <a:latin typeface="Arial" pitchFamily="34" charset="0"/>
                <a:ea typeface="Arial" pitchFamily="34" charset="-122"/>
                <a:cs typeface="Arial" pitchFamily="34" charset="-120"/>
              </a:rPr>
              <a:t>Source: </a:t>
            </a:r>
            <a:r>
              <a:rPr lang="en-US" sz="1000" u="sng" dirty="0">
                <a:solidFill>
                  <a:srgbClr val="01696F"/>
                </a:solidFill>
                <a:latin typeface="Arial" pitchFamily="34" charset="0"/>
                <a:ea typeface="Arial" pitchFamily="34" charset="-122"/>
                <a:cs typeface="Arial" pitchFamily="34" charset="-120"/>
                <a:hlinkClick r:id="rId1" invalidUrl="" action="" tgtFrame="" tooltip="" history="1" highlightClick="0" endSnd="0">
                  <a:extLst>
                    <a:ext uri="{A12FA001-AC4F-418D-AE19-62706E023703}">
                      <ahyp:hlinkClr xmlns:ahyp="http://schemas.microsoft.com/office/drawing/2018/hyperlinkcolor" val="tx"/>
                    </a:ext>
                  </a:extLst>
                </a:hlinkClick>
              </a:rPr>
              <a:t>prototype source and retained records</a:t>
            </a:r>
            <a:endParaRPr lang="en-US" sz="1000" dirty="0"/>
          </a:p>
        </p:txBody>
      </p:sp>
      <p:sp>
        <p:nvSpPr>
          <p:cNvPr id="7" name="Text 5"/>
          <p:cNvSpPr/>
          <p:nvPr/>
        </p:nvSpPr>
        <p:spPr>
          <a:xfrm>
            <a:off x="457200" y="1325880"/>
            <a:ext cx="8229600" cy="411480"/>
          </a:xfrm>
          <a:prstGeom prst="rect">
            <a:avLst/>
          </a:prstGeom>
          <a:noFill/>
          <a:ln/>
        </p:spPr>
        <p:txBody>
          <a:bodyPr wrap="square" lIns="0" tIns="0" rIns="0" bIns="0" rtlCol="0" anchor="t"/>
          <a:lstStyle/>
          <a:p>
            <a:pPr indent="0" marL="0">
              <a:buNone/>
            </a:pPr>
            <a:r>
              <a:rPr lang="en-US" sz="1500" dirty="0">
                <a:solidFill>
                  <a:srgbClr val="202B2D"/>
                </a:solidFill>
                <a:latin typeface="Arial" pitchFamily="34" charset="0"/>
                <a:ea typeface="Arial" pitchFamily="34" charset="-122"/>
                <a:cs typeface="Arial" pitchFamily="34" charset="-120"/>
              </a:rPr>
              <a:t>From a clone of prototype/rl-academic-complete; Linux / WSL2, Python 3.11.</a:t>
            </a:r>
            <a:endParaRPr lang="en-US" sz="1500" dirty="0"/>
          </a:p>
        </p:txBody>
      </p:sp>
      <p:sp>
        <p:nvSpPr>
          <p:cNvPr id="8" name="Shape 6"/>
          <p:cNvSpPr/>
          <p:nvPr/>
        </p:nvSpPr>
        <p:spPr>
          <a:xfrm>
            <a:off x="457200" y="1901952"/>
            <a:ext cx="8229600" cy="2011680"/>
          </a:xfrm>
          <a:prstGeom prst="rect">
            <a:avLst/>
          </a:prstGeom>
          <a:solidFill>
            <a:srgbClr val="172D30"/>
          </a:solidFill>
          <a:ln w="12700">
            <a:solidFill>
              <a:srgbClr val="172D30">
                <a:alpha val="0"/>
              </a:srgbClr>
            </a:solidFill>
            <a:prstDash val="solid"/>
          </a:ln>
        </p:spPr>
      </p:sp>
      <p:sp>
        <p:nvSpPr>
          <p:cNvPr id="9" name="Text 7"/>
          <p:cNvSpPr/>
          <p:nvPr/>
        </p:nvSpPr>
        <p:spPr>
          <a:xfrm>
            <a:off x="612648" y="2048256"/>
            <a:ext cx="7909560" cy="1737360"/>
          </a:xfrm>
          <a:prstGeom prst="rect">
            <a:avLst/>
          </a:prstGeom>
          <a:noFill/>
          <a:ln/>
        </p:spPr>
        <p:txBody>
          <a:bodyPr wrap="square" lIns="0" tIns="0" rIns="0" bIns="0" rtlCol="0" anchor="t"/>
          <a:lstStyle/>
          <a:p>
            <a:pPr indent="0" marL="0">
              <a:buNone/>
            </a:pPr>
            <a:r>
              <a:rPr lang="en-US" sz="1400" dirty="0">
                <a:solidFill>
                  <a:srgbClr val="FFFFFF"/>
                </a:solidFill>
                <a:latin typeface="Courier New" pitchFamily="34" charset="0"/>
                <a:ea typeface="Courier New" pitchFamily="34" charset="-122"/>
                <a:cs typeface="Courier New" pitchFamily="34" charset="-120"/>
              </a:rPr>
              <a:t>python3.11 -m venv .venv</a:t>
            </a:r>
            <a:endParaRPr lang="en-US" sz="1400" dirty="0"/>
          </a:p>
          <a:p>
            <a:pPr indent="0" marL="0">
              <a:buNone/>
            </a:pPr>
            <a:r>
              <a:rPr lang="en-US" sz="1400" dirty="0">
                <a:solidFill>
                  <a:srgbClr val="FFFFFF"/>
                </a:solidFill>
                <a:latin typeface="Courier New" pitchFamily="34" charset="0"/>
                <a:ea typeface="Courier New" pitchFamily="34" charset="-122"/>
                <a:cs typeface="Courier New" pitchFamily="34" charset="-120"/>
              </a:rPr>
              <a:t>source .venv/bin/activate</a:t>
            </a:r>
            <a:endParaRPr lang="en-US" sz="1400" dirty="0"/>
          </a:p>
          <a:p>
            <a:pPr indent="0" marL="0">
              <a:buNone/>
            </a:pPr>
            <a:r>
              <a:rPr lang="en-US" sz="1400" dirty="0">
                <a:solidFill>
                  <a:srgbClr val="FFFFFF"/>
                </a:solidFill>
                <a:latin typeface="Courier New" pitchFamily="34" charset="0"/>
                <a:ea typeface="Courier New" pitchFamily="34" charset="-122"/>
                <a:cs typeface="Courier New" pitchFamily="34" charset="-120"/>
              </a:rPr>
              <a:t>python -m pip install -r requirements-milestone1.lock</a:t>
            </a:r>
            <a:endParaRPr lang="en-US" sz="1400" dirty="0"/>
          </a:p>
          <a:p>
            <a:pPr indent="0" marL="0">
              <a:buNone/>
            </a:pPr>
            <a:r>
              <a:rPr lang="en-US" sz="1400" dirty="0">
                <a:solidFill>
                  <a:srgbClr val="FFFFFF"/>
                </a:solidFill>
                <a:latin typeface="Courier New" pitchFamily="34" charset="0"/>
                <a:ea typeface="Courier New" pitchFamily="34" charset="-122"/>
                <a:cs typeface="Courier New" pitchFamily="34" charset="-120"/>
              </a:rPr>
              <a:t>python -B -s run_prototype.py \</a:t>
            </a:r>
            <a:endParaRPr lang="en-US" sz="1400" dirty="0"/>
          </a:p>
          <a:p>
            <a:pPr indent="0" marL="0">
              <a:buNone/>
            </a:pPr>
            <a:r>
              <a:rPr lang="en-US" sz="1400" dirty="0">
                <a:solidFill>
                  <a:srgbClr val="FFFFFF"/>
                </a:solidFill>
                <a:latin typeface="Courier New" pitchFamily="34" charset="0"/>
                <a:ea typeface="Courier New" pitchFamily="34" charset="-122"/>
                <a:cs typeface="Courier New" pitchFamily="34" charset="-120"/>
              </a:rPr>
              <a:t>  --detector both --attacker all --seeds 101 \</a:t>
            </a:r>
            <a:endParaRPr lang="en-US" sz="1400" dirty="0"/>
          </a:p>
          <a:p>
            <a:pPr indent="0" marL="0">
              <a:buNone/>
            </a:pPr>
            <a:r>
              <a:rPr lang="en-US" sz="1400" dirty="0">
                <a:solidFill>
                  <a:srgbClr val="FFFFFF"/>
                </a:solidFill>
                <a:latin typeface="Courier New" pitchFamily="34" charset="0"/>
                <a:ea typeface="Courier New" pitchFamily="34" charset="-122"/>
                <a:cs typeface="Courier New" pitchFamily="34" charset="-120"/>
              </a:rPr>
              <a:t>  --episodes 2 --campaigns 1 --output demo-faculty-01</a:t>
            </a:r>
            <a:endParaRPr lang="en-US" sz="1400" dirty="0"/>
          </a:p>
        </p:txBody>
      </p:sp>
      <p:sp>
        <p:nvSpPr>
          <p:cNvPr id="10" name="Text 8"/>
          <p:cNvSpPr/>
          <p:nvPr/>
        </p:nvSpPr>
        <p:spPr>
          <a:xfrm>
            <a:off x="457200" y="4023360"/>
            <a:ext cx="8229600" cy="274320"/>
          </a:xfrm>
          <a:prstGeom prst="rect">
            <a:avLst/>
          </a:prstGeom>
          <a:noFill/>
          <a:ln/>
        </p:spPr>
        <p:txBody>
          <a:bodyPr wrap="square" lIns="0" tIns="0" rIns="0" bIns="0" rtlCol="0" anchor="t"/>
          <a:lstStyle/>
          <a:p>
            <a:pPr indent="0" marL="0">
              <a:buNone/>
            </a:pPr>
            <a:r>
              <a:rPr lang="en-US" sz="1400" dirty="0">
                <a:solidFill>
                  <a:srgbClr val="01696F"/>
                </a:solidFill>
                <a:latin typeface="Arial" pitchFamily="34" charset="0"/>
                <a:ea typeface="Arial" pitchFamily="34" charset="-122"/>
                <a:cs typeface="Arial" pitchFamily="34" charset="-120"/>
              </a:rPr>
              <a:t>Inspect campaigns.json, transactions.csv, summary.csv and comparison.svg.</a:t>
            </a:r>
            <a:endParaRPr lang="en-US" sz="1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47472"/>
            <a:ext cx="8229600" cy="868680"/>
          </a:xfrm>
          <a:prstGeom prst="rect">
            <a:avLst/>
          </a:prstGeom>
          <a:noFill/>
          <a:ln/>
        </p:spPr>
        <p:txBody>
          <a:bodyPr wrap="square" lIns="0" tIns="0" rIns="0" bIns="0" rtlCol="0" anchor="t"/>
          <a:lstStyle/>
          <a:p>
            <a:pPr indent="0" marL="0">
              <a:buNone/>
            </a:pPr>
            <a:r>
              <a:rPr lang="en-US" sz="3400" b="1" dirty="0">
                <a:solidFill>
                  <a:srgbClr val="172D30"/>
                </a:solidFill>
                <a:latin typeface="Arial" pitchFamily="34" charset="0"/>
                <a:ea typeface="Arial" pitchFamily="34" charset="-122"/>
                <a:cs typeface="Arial" pitchFamily="34" charset="-120"/>
              </a:rPr>
              <a:t>From master to our final prototype</a:t>
            </a:r>
            <a:endParaRPr lang="en-US" sz="3400" dirty="0"/>
          </a:p>
        </p:txBody>
      </p:sp>
      <p:sp>
        <p:nvSpPr>
          <p:cNvPr id="3" name="Shape 1"/>
          <p:cNvSpPr/>
          <p:nvPr/>
        </p:nvSpPr>
        <p:spPr>
          <a:xfrm>
            <a:off x="8503920" y="4663440"/>
            <a:ext cx="292608" cy="292608"/>
          </a:xfrm>
          <a:prstGeom prst="ellipse">
            <a:avLst/>
          </a:prstGeom>
          <a:solidFill>
            <a:srgbClr val="01696F"/>
          </a:solidFill>
          <a:ln w="12700">
            <a:solidFill>
              <a:srgbClr val="01696F">
                <a:alpha val="0"/>
              </a:srgbClr>
            </a:solidFill>
            <a:prstDash val="solid"/>
          </a:ln>
        </p:spPr>
      </p:sp>
      <p:sp>
        <p:nvSpPr>
          <p:cNvPr id="4" name="Text 2"/>
          <p:cNvSpPr/>
          <p:nvPr/>
        </p:nvSpPr>
        <p:spPr>
          <a:xfrm>
            <a:off x="8503920" y="4695444"/>
            <a:ext cx="292608" cy="182880"/>
          </a:xfrm>
          <a:prstGeom prst="rect">
            <a:avLst/>
          </a:prstGeom>
          <a:noFill/>
          <a:ln/>
        </p:spPr>
        <p:txBody>
          <a:bodyPr wrap="square" lIns="0" tIns="0" rIns="0" bIns="0" rtlCol="0" anchor="t"/>
          <a:lstStyle/>
          <a:p>
            <a:pPr algn="ctr" indent="0" marL="0">
              <a:buNone/>
            </a:pPr>
            <a:r>
              <a:rPr lang="en-US" sz="1000" b="1" dirty="0">
                <a:solidFill>
                  <a:srgbClr val="FFFFFF"/>
                </a:solidFill>
                <a:latin typeface="Arial" pitchFamily="34" charset="0"/>
                <a:ea typeface="Arial" pitchFamily="34" charset="-122"/>
                <a:cs typeface="Arial" pitchFamily="34" charset="-120"/>
              </a:rPr>
              <a:t>8</a:t>
            </a:r>
            <a:endParaRPr lang="en-US" sz="1000" dirty="0"/>
          </a:p>
        </p:txBody>
      </p:sp>
      <p:sp>
        <p:nvSpPr>
          <p:cNvPr id="5" name="Text 3"/>
          <p:cNvSpPr/>
          <p:nvPr/>
        </p:nvSpPr>
        <p:spPr>
          <a:xfrm>
            <a:off x="457200" y="4663440"/>
            <a:ext cx="4206240" cy="201168"/>
          </a:xfrm>
          <a:prstGeom prst="rect">
            <a:avLst/>
          </a:prstGeom>
          <a:noFill/>
          <a:ln/>
        </p:spPr>
        <p:txBody>
          <a:bodyPr wrap="square" lIns="0" tIns="0" rIns="0" bIns="0" rtlCol="0" anchor="t"/>
          <a:lstStyle/>
          <a:p>
            <a:pPr indent="0" marL="0">
              <a:buNone/>
            </a:pPr>
            <a:r>
              <a:rPr lang="en-US" sz="1000" dirty="0">
                <a:solidFill>
                  <a:srgbClr val="465E62"/>
                </a:solidFill>
                <a:latin typeface="Arial" pitchFamily="34" charset="0"/>
                <a:ea typeface="Arial" pitchFamily="34" charset="-122"/>
                <a:cs typeface="Arial" pitchFamily="34" charset="-120"/>
              </a:rPr>
              <a:t>SYNTHETIC RESEARCH  |  GATE C HOLD</a:t>
            </a:r>
            <a:endParaRPr lang="en-US" sz="1000" dirty="0"/>
          </a:p>
        </p:txBody>
      </p:sp>
      <p:sp>
        <p:nvSpPr>
          <p:cNvPr id="6" name="Text 4"/>
          <p:cNvSpPr/>
          <p:nvPr/>
        </p:nvSpPr>
        <p:spPr>
          <a:xfrm>
            <a:off x="457200" y="4370832"/>
            <a:ext cx="8001000" cy="201168"/>
          </a:xfrm>
          <a:prstGeom prst="rect">
            <a:avLst/>
          </a:prstGeom>
          <a:noFill/>
          <a:ln/>
        </p:spPr>
        <p:txBody>
          <a:bodyPr wrap="square" lIns="0" tIns="0" rIns="0" bIns="0" rtlCol="0" anchor="ctr"/>
          <a:lstStyle/>
          <a:p>
            <a:pPr indent="0" marL="0">
              <a:buNone/>
            </a:pPr>
            <a:r>
              <a:rPr lang="en-US" sz="1000" dirty="0">
                <a:solidFill>
                  <a:srgbClr val="465E62"/>
                </a:solidFill>
                <a:latin typeface="Arial" pitchFamily="34" charset="0"/>
                <a:ea typeface="Arial" pitchFamily="34" charset="-122"/>
                <a:cs typeface="Arial" pitchFamily="34" charset="-120"/>
              </a:rPr>
              <a:t>Source: </a:t>
            </a:r>
            <a:r>
              <a:rPr lang="en-US" sz="1000" u="sng" dirty="0">
                <a:solidFill>
                  <a:srgbClr val="01696F"/>
                </a:solidFill>
                <a:latin typeface="Arial" pitchFamily="34" charset="0"/>
                <a:ea typeface="Arial" pitchFamily="34" charset="-122"/>
                <a:cs typeface="Arial" pitchFamily="34" charset="-120"/>
                <a:hlinkClick r:id="rId1" invalidUrl="" action="" tgtFrame="" tooltip="" history="1" highlightClick="0" endSnd="0">
                  <a:extLst>
                    <a:ext uri="{A12FA001-AC4F-418D-AE19-62706E023703}">
                      <ahyp:hlinkClr xmlns:ahyp="http://schemas.microsoft.com/office/drawing/2018/hyperlinkcolor" val="tx"/>
                    </a:ext>
                  </a:extLst>
                </a:hlinkClick>
              </a:rPr>
              <a:t>verified master-to-prototype code comparison</a:t>
            </a:r>
            <a:endParaRPr lang="en-US" sz="10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457200" y="1280160"/>
          <a:ext cx="8229600" cy="914400"/>
        </p:xfrm>
        <a:graphic>
          <a:graphicData uri="http://schemas.openxmlformats.org/drawingml/2006/table">
            <a:tbl>
              <a:tblPr/>
              <a:tblGrid>
                <a:gridCol w="1325880"/>
                <a:gridCol w="2880360"/>
                <a:gridCol w="4023360"/>
              </a:tblGrid>
              <a:tr h="438912">
                <a:tc>
                  <a:txBody>
                    <a:bodyPr/>
                    <a:lstStyle/>
                    <a:p>
                      <a:pPr indent="0" marL="0">
                        <a:buNone/>
                      </a:pPr>
                      <a:r>
                        <a:rPr lang="en-US" sz="1400" b="1" dirty="0">
                          <a:solidFill>
                            <a:srgbClr val="FFFFFF"/>
                          </a:solidFill>
                          <a:latin typeface="Arial" pitchFamily="34" charset="0"/>
                          <a:ea typeface="Arial" pitchFamily="34" charset="-122"/>
                          <a:cs typeface="Arial" pitchFamily="34" charset="-120"/>
                        </a:rPr>
                        <a:t>Area</a:t>
                      </a:r>
                      <a:endParaRPr lang="en-US" sz="1400" dirty="0">
                        <a:latin typeface="Arial" charset="0"/>
                        <a:ea typeface="Arial" charset="0"/>
                        <a:cs typeface="Arial" charset="0"/>
                      </a:endParaRPr>
                    </a:p>
                  </a:txBody>
                  <a:tcPr marL="82296" marR="82296" marT="82296" marB="82296" anchor="ctr">
                    <a:lnL w="6350" cap="flat" cmpd="sng" algn="ctr">
                      <a:solidFill>
                        <a:srgbClr val="D7E0DE"/>
                      </a:solidFill>
                      <a:prstDash val="solid"/>
                      <a:round/>
                      <a:headEnd type="none" w="med" len="med"/>
                      <a:tailEnd type="none" w="med" len="med"/>
                    </a:lnL>
                    <a:lnR w="6350" cap="flat" cmpd="sng" algn="ctr">
                      <a:solidFill>
                        <a:srgbClr val="D7E0DE"/>
                      </a:solidFill>
                      <a:prstDash val="solid"/>
                      <a:round/>
                      <a:headEnd type="none" w="med" len="med"/>
                      <a:tailEnd type="none" w="med" len="med"/>
                    </a:lnR>
                    <a:lnT w="6350" cap="flat" cmpd="sng" algn="ctr">
                      <a:solidFill>
                        <a:srgbClr val="D7E0DE"/>
                      </a:solidFill>
                      <a:prstDash val="solid"/>
                      <a:round/>
                      <a:headEnd type="none" w="med" len="med"/>
                      <a:tailEnd type="none" w="med" len="med"/>
                    </a:lnT>
                    <a:lnB w="6350" cap="flat" cmpd="sng" algn="ctr">
                      <a:solidFill>
                        <a:srgbClr val="D7E0DE"/>
                      </a:solidFill>
                      <a:prstDash val="solid"/>
                      <a:round/>
                      <a:headEnd type="none" w="med" len="med"/>
                      <a:tailEnd type="none" w="med" len="med"/>
                    </a:lnB>
                    <a:solidFill>
                      <a:srgbClr val="01696F"/>
                    </a:solidFill>
                  </a:tcPr>
                </a:tc>
                <a:tc>
                  <a:txBody>
                    <a:bodyPr/>
                    <a:lstStyle/>
                    <a:p>
                      <a:pPr indent="0" marL="0">
                        <a:buNone/>
                      </a:pPr>
                      <a:r>
                        <a:rPr lang="en-US" sz="1400" b="1" dirty="0">
                          <a:solidFill>
                            <a:srgbClr val="FFFFFF"/>
                          </a:solidFill>
                          <a:latin typeface="Arial" pitchFamily="34" charset="0"/>
                          <a:ea typeface="Arial" pitchFamily="34" charset="-122"/>
                          <a:cs typeface="Arial" pitchFamily="34" charset="-120"/>
                        </a:rPr>
                        <a:t>master: earlier baseline</a:t>
                      </a:r>
                      <a:endParaRPr lang="en-US" sz="1400" dirty="0">
                        <a:latin typeface="Arial" charset="0"/>
                        <a:ea typeface="Arial" charset="0"/>
                        <a:cs typeface="Arial" charset="0"/>
                      </a:endParaRPr>
                    </a:p>
                  </a:txBody>
                  <a:tcPr marL="82296" marR="82296" marT="82296" marB="82296" anchor="ctr">
                    <a:lnL w="6350" cap="flat" cmpd="sng" algn="ctr">
                      <a:solidFill>
                        <a:srgbClr val="D7E0DE"/>
                      </a:solidFill>
                      <a:prstDash val="solid"/>
                      <a:round/>
                      <a:headEnd type="none" w="med" len="med"/>
                      <a:tailEnd type="none" w="med" len="med"/>
                    </a:lnL>
                    <a:lnR w="6350" cap="flat" cmpd="sng" algn="ctr">
                      <a:solidFill>
                        <a:srgbClr val="D7E0DE"/>
                      </a:solidFill>
                      <a:prstDash val="solid"/>
                      <a:round/>
                      <a:headEnd type="none" w="med" len="med"/>
                      <a:tailEnd type="none" w="med" len="med"/>
                    </a:lnR>
                    <a:lnT w="6350" cap="flat" cmpd="sng" algn="ctr">
                      <a:solidFill>
                        <a:srgbClr val="D7E0DE"/>
                      </a:solidFill>
                      <a:prstDash val="solid"/>
                      <a:round/>
                      <a:headEnd type="none" w="med" len="med"/>
                      <a:tailEnd type="none" w="med" len="med"/>
                    </a:lnT>
                    <a:lnB w="6350" cap="flat" cmpd="sng" algn="ctr">
                      <a:solidFill>
                        <a:srgbClr val="D7E0DE"/>
                      </a:solidFill>
                      <a:prstDash val="solid"/>
                      <a:round/>
                      <a:headEnd type="none" w="med" len="med"/>
                      <a:tailEnd type="none" w="med" len="med"/>
                    </a:lnB>
                    <a:solidFill>
                      <a:srgbClr val="01696F"/>
                    </a:solidFill>
                  </a:tcPr>
                </a:tc>
                <a:tc>
                  <a:txBody>
                    <a:bodyPr/>
                    <a:lstStyle/>
                    <a:p>
                      <a:pPr indent="0" marL="0">
                        <a:buNone/>
                      </a:pPr>
                      <a:r>
                        <a:rPr lang="en-US" sz="1400" b="1" dirty="0">
                          <a:solidFill>
                            <a:srgbClr val="FFFFFF"/>
                          </a:solidFill>
                          <a:latin typeface="Arial" pitchFamily="34" charset="0"/>
                          <a:ea typeface="Arial" pitchFamily="34" charset="-122"/>
                          <a:cs typeface="Arial" pitchFamily="34" charset="-120"/>
                        </a:rPr>
                        <a:t>prototype: selected FINAL</a:t>
                      </a:r>
                      <a:endParaRPr lang="en-US" sz="1400" dirty="0">
                        <a:latin typeface="Arial" charset="0"/>
                        <a:ea typeface="Arial" charset="0"/>
                        <a:cs typeface="Arial" charset="0"/>
                      </a:endParaRPr>
                    </a:p>
                  </a:txBody>
                  <a:tcPr marL="82296" marR="82296" marT="82296" marB="82296" anchor="ctr">
                    <a:lnL w="6350" cap="flat" cmpd="sng" algn="ctr">
                      <a:solidFill>
                        <a:srgbClr val="D7E0DE"/>
                      </a:solidFill>
                      <a:prstDash val="solid"/>
                      <a:round/>
                      <a:headEnd type="none" w="med" len="med"/>
                      <a:tailEnd type="none" w="med" len="med"/>
                    </a:lnL>
                    <a:lnR w="6350" cap="flat" cmpd="sng" algn="ctr">
                      <a:solidFill>
                        <a:srgbClr val="D7E0DE"/>
                      </a:solidFill>
                      <a:prstDash val="solid"/>
                      <a:round/>
                      <a:headEnd type="none" w="med" len="med"/>
                      <a:tailEnd type="none" w="med" len="med"/>
                    </a:lnR>
                    <a:lnT w="6350" cap="flat" cmpd="sng" algn="ctr">
                      <a:solidFill>
                        <a:srgbClr val="D7E0DE"/>
                      </a:solidFill>
                      <a:prstDash val="solid"/>
                      <a:round/>
                      <a:headEnd type="none" w="med" len="med"/>
                      <a:tailEnd type="none" w="med" len="med"/>
                    </a:lnT>
                    <a:lnB w="6350" cap="flat" cmpd="sng" algn="ctr">
                      <a:solidFill>
                        <a:srgbClr val="D7E0DE"/>
                      </a:solidFill>
                      <a:prstDash val="solid"/>
                      <a:round/>
                      <a:headEnd type="none" w="med" len="med"/>
                      <a:tailEnd type="none" w="med" len="med"/>
                    </a:lnB>
                    <a:solidFill>
                      <a:srgbClr val="01696F"/>
                    </a:solidFill>
                  </a:tcPr>
                </a:tc>
              </a:tr>
              <a:tr h="438912">
                <a:tc>
                  <a:txBody>
                    <a:bodyPr/>
                    <a:lstStyle/>
                    <a:p>
                      <a:pPr indent="0" marL="0">
                        <a:buNone/>
                      </a:pPr>
                      <a:r>
                        <a:rPr lang="en-US" sz="1400" dirty="0">
                          <a:solidFill>
                            <a:srgbClr val="172D30"/>
                          </a:solidFill>
                          <a:latin typeface="Arial" pitchFamily="34" charset="0"/>
                          <a:ea typeface="Arial" pitchFamily="34" charset="-122"/>
                          <a:cs typeface="Arial" pitchFamily="34" charset="-120"/>
                        </a:rPr>
                        <a:t>Learning</a:t>
                      </a:r>
                      <a:endParaRPr lang="en-US" sz="1400" dirty="0">
                        <a:latin typeface="Arial" charset="0"/>
                        <a:ea typeface="Arial" charset="0"/>
                        <a:cs typeface="Arial" charset="0"/>
                      </a:endParaRPr>
                    </a:p>
                  </a:txBody>
                  <a:tcPr marL="82296" marR="82296" marT="82296" marB="82296" anchor="ctr">
                    <a:lnL w="6350" cap="flat" cmpd="sng" algn="ctr">
                      <a:solidFill>
                        <a:srgbClr val="D7E0DE"/>
                      </a:solidFill>
                      <a:prstDash val="solid"/>
                      <a:round/>
                      <a:headEnd type="none" w="med" len="med"/>
                      <a:tailEnd type="none" w="med" len="med"/>
                    </a:lnL>
                    <a:lnR w="6350" cap="flat" cmpd="sng" algn="ctr">
                      <a:solidFill>
                        <a:srgbClr val="D7E0DE"/>
                      </a:solidFill>
                      <a:prstDash val="solid"/>
                      <a:round/>
                      <a:headEnd type="none" w="med" len="med"/>
                      <a:tailEnd type="none" w="med" len="med"/>
                    </a:lnR>
                    <a:lnT w="6350" cap="flat" cmpd="sng" algn="ctr">
                      <a:solidFill>
                        <a:srgbClr val="D7E0DE"/>
                      </a:solidFill>
                      <a:prstDash val="solid"/>
                      <a:round/>
                      <a:headEnd type="none" w="med" len="med"/>
                      <a:tailEnd type="none" w="med" len="med"/>
                    </a:lnT>
                    <a:lnB w="6350" cap="flat" cmpd="sng" algn="ctr">
                      <a:solidFill>
                        <a:srgbClr val="D7E0DE"/>
                      </a:solidFill>
                      <a:prstDash val="solid"/>
                      <a:round/>
                      <a:headEnd type="none" w="med" len="med"/>
                      <a:tailEnd type="none" w="med" len="med"/>
                    </a:lnB>
                    <a:solidFill>
                      <a:srgbClr val="FFFFFF"/>
                    </a:solidFill>
                  </a:tcPr>
                </a:tc>
                <a:tc>
                  <a:txBody>
                    <a:bodyPr/>
                    <a:lstStyle/>
                    <a:p>
                      <a:pPr indent="0" marL="0">
                        <a:buNone/>
                      </a:pPr>
                      <a:r>
                        <a:rPr lang="en-US" sz="1400" dirty="0">
                          <a:solidFill>
                            <a:srgbClr val="172D30"/>
                          </a:solidFill>
                          <a:latin typeface="Arial" pitchFamily="34" charset="0"/>
                          <a:ea typeface="Arial" pitchFamily="34" charset="-122"/>
                          <a:cs typeface="Arial" pitchFamily="34" charset="-120"/>
                        </a:rPr>
                        <a:t>Static + rule policies</a:t>
                      </a:r>
                      <a:endParaRPr lang="en-US" sz="1400" dirty="0">
                        <a:latin typeface="Arial" charset="0"/>
                        <a:ea typeface="Arial" charset="0"/>
                        <a:cs typeface="Arial" charset="0"/>
                      </a:endParaRPr>
                    </a:p>
                  </a:txBody>
                  <a:tcPr marL="82296" marR="82296" marT="82296" marB="82296" anchor="ctr">
                    <a:lnL w="6350" cap="flat" cmpd="sng" algn="ctr">
                      <a:solidFill>
                        <a:srgbClr val="D7E0DE"/>
                      </a:solidFill>
                      <a:prstDash val="solid"/>
                      <a:round/>
                      <a:headEnd type="none" w="med" len="med"/>
                      <a:tailEnd type="none" w="med" len="med"/>
                    </a:lnL>
                    <a:lnR w="6350" cap="flat" cmpd="sng" algn="ctr">
                      <a:solidFill>
                        <a:srgbClr val="D7E0DE"/>
                      </a:solidFill>
                      <a:prstDash val="solid"/>
                      <a:round/>
                      <a:headEnd type="none" w="med" len="med"/>
                      <a:tailEnd type="none" w="med" len="med"/>
                    </a:lnR>
                    <a:lnT w="6350" cap="flat" cmpd="sng" algn="ctr">
                      <a:solidFill>
                        <a:srgbClr val="D7E0DE"/>
                      </a:solidFill>
                      <a:prstDash val="solid"/>
                      <a:round/>
                      <a:headEnd type="none" w="med" len="med"/>
                      <a:tailEnd type="none" w="med" len="med"/>
                    </a:lnT>
                    <a:lnB w="6350" cap="flat" cmpd="sng" algn="ctr">
                      <a:solidFill>
                        <a:srgbClr val="D7E0DE"/>
                      </a:solidFill>
                      <a:prstDash val="solid"/>
                      <a:round/>
                      <a:headEnd type="none" w="med" len="med"/>
                      <a:tailEnd type="none" w="med" len="med"/>
                    </a:lnB>
                    <a:solidFill>
                      <a:srgbClr val="FFFFFF"/>
                    </a:solidFill>
                  </a:tcPr>
                </a:tc>
                <a:tc>
                  <a:txBody>
                    <a:bodyPr/>
                    <a:lstStyle/>
                    <a:p>
                      <a:pPr indent="0" marL="0">
                        <a:buNone/>
                      </a:pPr>
                      <a:r>
                        <a:rPr lang="en-US" sz="1400" dirty="0">
                          <a:solidFill>
                            <a:srgbClr val="172D30"/>
                          </a:solidFill>
                          <a:latin typeface="Arial" pitchFamily="34" charset="0"/>
                          <a:ea typeface="Arial" pitchFamily="34" charset="-122"/>
                          <a:cs typeface="Arial" pitchFamily="34" charset="-120"/>
                        </a:rPr>
                        <a:t>Adds Q-learning + zero-Q control</a:t>
                      </a:r>
                      <a:endParaRPr lang="en-US" sz="1400" dirty="0">
                        <a:latin typeface="Arial" charset="0"/>
                        <a:ea typeface="Arial" charset="0"/>
                        <a:cs typeface="Arial" charset="0"/>
                      </a:endParaRPr>
                    </a:p>
                  </a:txBody>
                  <a:tcPr marL="82296" marR="82296" marT="82296" marB="82296" anchor="ctr">
                    <a:lnL w="6350" cap="flat" cmpd="sng" algn="ctr">
                      <a:solidFill>
                        <a:srgbClr val="D7E0DE"/>
                      </a:solidFill>
                      <a:prstDash val="solid"/>
                      <a:round/>
                      <a:headEnd type="none" w="med" len="med"/>
                      <a:tailEnd type="none" w="med" len="med"/>
                    </a:lnL>
                    <a:lnR w="6350" cap="flat" cmpd="sng" algn="ctr">
                      <a:solidFill>
                        <a:srgbClr val="D7E0DE"/>
                      </a:solidFill>
                      <a:prstDash val="solid"/>
                      <a:round/>
                      <a:headEnd type="none" w="med" len="med"/>
                      <a:tailEnd type="none" w="med" len="med"/>
                    </a:lnR>
                    <a:lnT w="6350" cap="flat" cmpd="sng" algn="ctr">
                      <a:solidFill>
                        <a:srgbClr val="D7E0DE"/>
                      </a:solidFill>
                      <a:prstDash val="solid"/>
                      <a:round/>
                      <a:headEnd type="none" w="med" len="med"/>
                      <a:tailEnd type="none" w="med" len="med"/>
                    </a:lnT>
                    <a:lnB w="6350" cap="flat" cmpd="sng" algn="ctr">
                      <a:solidFill>
                        <a:srgbClr val="D7E0DE"/>
                      </a:solidFill>
                      <a:prstDash val="solid"/>
                      <a:round/>
                      <a:headEnd type="none" w="med" len="med"/>
                      <a:tailEnd type="none" w="med" len="med"/>
                    </a:lnB>
                    <a:solidFill>
                      <a:srgbClr val="FFFFFF"/>
                    </a:solidFill>
                  </a:tcPr>
                </a:tc>
              </a:tr>
              <a:tr h="438912">
                <a:tc>
                  <a:txBody>
                    <a:bodyPr/>
                    <a:lstStyle/>
                    <a:p>
                      <a:pPr indent="0" marL="0">
                        <a:buNone/>
                      </a:pPr>
                      <a:r>
                        <a:rPr lang="en-US" sz="1400" dirty="0">
                          <a:solidFill>
                            <a:srgbClr val="172D30"/>
                          </a:solidFill>
                          <a:latin typeface="Arial" pitchFamily="34" charset="0"/>
                          <a:ea typeface="Arial" pitchFamily="34" charset="-122"/>
                          <a:cs typeface="Arial" pitchFamily="34" charset="-120"/>
                        </a:rPr>
                        <a:t>Run / reload</a:t>
                      </a:r>
                      <a:endParaRPr lang="en-US" sz="1400" dirty="0">
                        <a:latin typeface="Arial" charset="0"/>
                        <a:ea typeface="Arial" charset="0"/>
                        <a:cs typeface="Arial" charset="0"/>
                      </a:endParaRPr>
                    </a:p>
                  </a:txBody>
                  <a:tcPr marL="82296" marR="82296" marT="82296" marB="82296" anchor="ctr">
                    <a:lnL w="6350" cap="flat" cmpd="sng" algn="ctr">
                      <a:solidFill>
                        <a:srgbClr val="D7E0DE"/>
                      </a:solidFill>
                      <a:prstDash val="solid"/>
                      <a:round/>
                      <a:headEnd type="none" w="med" len="med"/>
                      <a:tailEnd type="none" w="med" len="med"/>
                    </a:lnL>
                    <a:lnR w="6350" cap="flat" cmpd="sng" algn="ctr">
                      <a:solidFill>
                        <a:srgbClr val="D7E0DE"/>
                      </a:solidFill>
                      <a:prstDash val="solid"/>
                      <a:round/>
                      <a:headEnd type="none" w="med" len="med"/>
                      <a:tailEnd type="none" w="med" len="med"/>
                    </a:lnR>
                    <a:lnT w="6350" cap="flat" cmpd="sng" algn="ctr">
                      <a:solidFill>
                        <a:srgbClr val="D7E0DE"/>
                      </a:solidFill>
                      <a:prstDash val="solid"/>
                      <a:round/>
                      <a:headEnd type="none" w="med" len="med"/>
                      <a:tailEnd type="none" w="med" len="med"/>
                    </a:lnT>
                    <a:lnB w="6350" cap="flat" cmpd="sng" algn="ctr">
                      <a:solidFill>
                        <a:srgbClr val="D7E0DE"/>
                      </a:solidFill>
                      <a:prstDash val="solid"/>
                      <a:round/>
                      <a:headEnd type="none" w="med" len="med"/>
                      <a:tailEnd type="none" w="med" len="med"/>
                    </a:lnB>
                    <a:solidFill>
                      <a:srgbClr val="FFFFFF"/>
                    </a:solidFill>
                  </a:tcPr>
                </a:tc>
                <a:tc>
                  <a:txBody>
                    <a:bodyPr/>
                    <a:lstStyle/>
                    <a:p>
                      <a:pPr indent="0" marL="0">
                        <a:buNone/>
                      </a:pPr>
                      <a:r>
                        <a:rPr lang="en-US" sz="1400" dirty="0">
                          <a:solidFill>
                            <a:srgbClr val="172D30"/>
                          </a:solidFill>
                          <a:latin typeface="Arial" pitchFamily="34" charset="0"/>
                          <a:ea typeface="Arial" pitchFamily="34" charset="-122"/>
                          <a:cs typeface="Arial" pitchFamily="34" charset="-120"/>
                        </a:rPr>
                        <a:t>Scenario runner</a:t>
                      </a:r>
                      <a:endParaRPr lang="en-US" sz="1400" dirty="0">
                        <a:latin typeface="Arial" charset="0"/>
                        <a:ea typeface="Arial" charset="0"/>
                        <a:cs typeface="Arial" charset="0"/>
                      </a:endParaRPr>
                    </a:p>
                  </a:txBody>
                  <a:tcPr marL="82296" marR="82296" marT="82296" marB="82296" anchor="ctr">
                    <a:lnL w="6350" cap="flat" cmpd="sng" algn="ctr">
                      <a:solidFill>
                        <a:srgbClr val="D7E0DE"/>
                      </a:solidFill>
                      <a:prstDash val="solid"/>
                      <a:round/>
                      <a:headEnd type="none" w="med" len="med"/>
                      <a:tailEnd type="none" w="med" len="med"/>
                    </a:lnL>
                    <a:lnR w="6350" cap="flat" cmpd="sng" algn="ctr">
                      <a:solidFill>
                        <a:srgbClr val="D7E0DE"/>
                      </a:solidFill>
                      <a:prstDash val="solid"/>
                      <a:round/>
                      <a:headEnd type="none" w="med" len="med"/>
                      <a:tailEnd type="none" w="med" len="med"/>
                    </a:lnR>
                    <a:lnT w="6350" cap="flat" cmpd="sng" algn="ctr">
                      <a:solidFill>
                        <a:srgbClr val="D7E0DE"/>
                      </a:solidFill>
                      <a:prstDash val="solid"/>
                      <a:round/>
                      <a:headEnd type="none" w="med" len="med"/>
                      <a:tailEnd type="none" w="med" len="med"/>
                    </a:lnT>
                    <a:lnB w="6350" cap="flat" cmpd="sng" algn="ctr">
                      <a:solidFill>
                        <a:srgbClr val="D7E0DE"/>
                      </a:solidFill>
                      <a:prstDash val="solid"/>
                      <a:round/>
                      <a:headEnd type="none" w="med" len="med"/>
                      <a:tailEnd type="none" w="med" len="med"/>
                    </a:lnB>
                    <a:solidFill>
                      <a:srgbClr val="FFFFFF"/>
                    </a:solidFill>
                  </a:tcPr>
                </a:tc>
                <a:tc>
                  <a:txBody>
                    <a:bodyPr/>
                    <a:lstStyle/>
                    <a:p>
                      <a:pPr indent="0" marL="0">
                        <a:buNone/>
                      </a:pPr>
                      <a:r>
                        <a:rPr lang="en-US" sz="1400" dirty="0">
                          <a:solidFill>
                            <a:srgbClr val="172D30"/>
                          </a:solidFill>
                          <a:latin typeface="Arial" pitchFamily="34" charset="0"/>
                          <a:ea typeface="Arial" pitchFamily="34" charset="-122"/>
                          <a:cs typeface="Arial" pitchFamily="34" charset="-120"/>
                        </a:rPr>
                        <a:t>RL runner + saved-policy evaluation</a:t>
                      </a:r>
                      <a:endParaRPr lang="en-US" sz="1400" dirty="0">
                        <a:latin typeface="Arial" charset="0"/>
                        <a:ea typeface="Arial" charset="0"/>
                        <a:cs typeface="Arial" charset="0"/>
                      </a:endParaRPr>
                    </a:p>
                  </a:txBody>
                  <a:tcPr marL="82296" marR="82296" marT="82296" marB="82296" anchor="ctr">
                    <a:lnL w="6350" cap="flat" cmpd="sng" algn="ctr">
                      <a:solidFill>
                        <a:srgbClr val="D7E0DE"/>
                      </a:solidFill>
                      <a:prstDash val="solid"/>
                      <a:round/>
                      <a:headEnd type="none" w="med" len="med"/>
                      <a:tailEnd type="none" w="med" len="med"/>
                    </a:lnL>
                    <a:lnR w="6350" cap="flat" cmpd="sng" algn="ctr">
                      <a:solidFill>
                        <a:srgbClr val="D7E0DE"/>
                      </a:solidFill>
                      <a:prstDash val="solid"/>
                      <a:round/>
                      <a:headEnd type="none" w="med" len="med"/>
                      <a:tailEnd type="none" w="med" len="med"/>
                    </a:lnR>
                    <a:lnT w="6350" cap="flat" cmpd="sng" algn="ctr">
                      <a:solidFill>
                        <a:srgbClr val="D7E0DE"/>
                      </a:solidFill>
                      <a:prstDash val="solid"/>
                      <a:round/>
                      <a:headEnd type="none" w="med" len="med"/>
                      <a:tailEnd type="none" w="med" len="med"/>
                    </a:lnT>
                    <a:lnB w="6350" cap="flat" cmpd="sng" algn="ctr">
                      <a:solidFill>
                        <a:srgbClr val="D7E0DE"/>
                      </a:solidFill>
                      <a:prstDash val="solid"/>
                      <a:round/>
                      <a:headEnd type="none" w="med" len="med"/>
                      <a:tailEnd type="none" w="med" len="med"/>
                    </a:lnB>
                    <a:solidFill>
                      <a:srgbClr val="FFFFFF"/>
                    </a:solidFill>
                  </a:tcPr>
                </a:tc>
              </a:tr>
              <a:tr h="438912">
                <a:tc>
                  <a:txBody>
                    <a:bodyPr/>
                    <a:lstStyle/>
                    <a:p>
                      <a:pPr indent="0" marL="0">
                        <a:buNone/>
                      </a:pPr>
                      <a:r>
                        <a:rPr lang="en-US" sz="1400" dirty="0">
                          <a:solidFill>
                            <a:srgbClr val="172D30"/>
                          </a:solidFill>
                          <a:latin typeface="Arial" pitchFamily="34" charset="0"/>
                          <a:ea typeface="Arial" pitchFamily="34" charset="-122"/>
                          <a:cs typeface="Arial" pitchFamily="34" charset="-120"/>
                        </a:rPr>
                        <a:t>Evidence</a:t>
                      </a:r>
                      <a:endParaRPr lang="en-US" sz="1400" dirty="0">
                        <a:latin typeface="Arial" charset="0"/>
                        <a:ea typeface="Arial" charset="0"/>
                        <a:cs typeface="Arial" charset="0"/>
                      </a:endParaRPr>
                    </a:p>
                  </a:txBody>
                  <a:tcPr marL="82296" marR="82296" marT="82296" marB="82296" anchor="ctr">
                    <a:lnL w="6350" cap="flat" cmpd="sng" algn="ctr">
                      <a:solidFill>
                        <a:srgbClr val="D7E0DE"/>
                      </a:solidFill>
                      <a:prstDash val="solid"/>
                      <a:round/>
                      <a:headEnd type="none" w="med" len="med"/>
                      <a:tailEnd type="none" w="med" len="med"/>
                    </a:lnL>
                    <a:lnR w="6350" cap="flat" cmpd="sng" algn="ctr">
                      <a:solidFill>
                        <a:srgbClr val="D7E0DE"/>
                      </a:solidFill>
                      <a:prstDash val="solid"/>
                      <a:round/>
                      <a:headEnd type="none" w="med" len="med"/>
                      <a:tailEnd type="none" w="med" len="med"/>
                    </a:lnR>
                    <a:lnT w="6350" cap="flat" cmpd="sng" algn="ctr">
                      <a:solidFill>
                        <a:srgbClr val="D7E0DE"/>
                      </a:solidFill>
                      <a:prstDash val="solid"/>
                      <a:round/>
                      <a:headEnd type="none" w="med" len="med"/>
                      <a:tailEnd type="none" w="med" len="med"/>
                    </a:lnT>
                    <a:lnB w="6350" cap="flat" cmpd="sng" algn="ctr">
                      <a:solidFill>
                        <a:srgbClr val="D7E0DE"/>
                      </a:solidFill>
                      <a:prstDash val="solid"/>
                      <a:round/>
                      <a:headEnd type="none" w="med" len="med"/>
                      <a:tailEnd type="none" w="med" len="med"/>
                    </a:lnB>
                    <a:solidFill>
                      <a:srgbClr val="FFFFFF"/>
                    </a:solidFill>
                  </a:tcPr>
                </a:tc>
                <a:tc>
                  <a:txBody>
                    <a:bodyPr/>
                    <a:lstStyle/>
                    <a:p>
                      <a:pPr indent="0" marL="0">
                        <a:buNone/>
                      </a:pPr>
                      <a:r>
                        <a:rPr lang="en-US" sz="1400" dirty="0">
                          <a:solidFill>
                            <a:srgbClr val="172D30"/>
                          </a:solidFill>
                          <a:latin typeface="Arial" pitchFamily="34" charset="0"/>
                          <a:ea typeface="Arial" pitchFamily="34" charset="-122"/>
                          <a:cs typeface="Arial" pitchFamily="34" charset="-120"/>
                        </a:rPr>
                        <a:t>Scenario summaries</a:t>
                      </a:r>
                      <a:endParaRPr lang="en-US" sz="1400" dirty="0">
                        <a:latin typeface="Arial" charset="0"/>
                        <a:ea typeface="Arial" charset="0"/>
                        <a:cs typeface="Arial" charset="0"/>
                      </a:endParaRPr>
                    </a:p>
                  </a:txBody>
                  <a:tcPr marL="82296" marR="82296" marT="82296" marB="82296" anchor="ctr">
                    <a:lnL w="6350" cap="flat" cmpd="sng" algn="ctr">
                      <a:solidFill>
                        <a:srgbClr val="D7E0DE"/>
                      </a:solidFill>
                      <a:prstDash val="solid"/>
                      <a:round/>
                      <a:headEnd type="none" w="med" len="med"/>
                      <a:tailEnd type="none" w="med" len="med"/>
                    </a:lnL>
                    <a:lnR w="6350" cap="flat" cmpd="sng" algn="ctr">
                      <a:solidFill>
                        <a:srgbClr val="D7E0DE"/>
                      </a:solidFill>
                      <a:prstDash val="solid"/>
                      <a:round/>
                      <a:headEnd type="none" w="med" len="med"/>
                      <a:tailEnd type="none" w="med" len="med"/>
                    </a:lnR>
                    <a:lnT w="6350" cap="flat" cmpd="sng" algn="ctr">
                      <a:solidFill>
                        <a:srgbClr val="D7E0DE"/>
                      </a:solidFill>
                      <a:prstDash val="solid"/>
                      <a:round/>
                      <a:headEnd type="none" w="med" len="med"/>
                      <a:tailEnd type="none" w="med" len="med"/>
                    </a:lnT>
                    <a:lnB w="6350" cap="flat" cmpd="sng" algn="ctr">
                      <a:solidFill>
                        <a:srgbClr val="D7E0DE"/>
                      </a:solidFill>
                      <a:prstDash val="solid"/>
                      <a:round/>
                      <a:headEnd type="none" w="med" len="med"/>
                      <a:tailEnd type="none" w="med" len="med"/>
                    </a:lnB>
                    <a:solidFill>
                      <a:srgbClr val="FFFFFF"/>
                    </a:solidFill>
                  </a:tcPr>
                </a:tc>
                <a:tc>
                  <a:txBody>
                    <a:bodyPr/>
                    <a:lstStyle/>
                    <a:p>
                      <a:pPr indent="0" marL="0">
                        <a:buNone/>
                      </a:pPr>
                      <a:r>
                        <a:rPr lang="en-US" sz="1400" dirty="0">
                          <a:solidFill>
                            <a:srgbClr val="172D30"/>
                          </a:solidFill>
                          <a:latin typeface="Arial" pitchFamily="34" charset="0"/>
                          <a:ea typeface="Arial" pitchFamily="34" charset="-122"/>
                          <a:cs typeface="Arial" pitchFamily="34" charset="-120"/>
                        </a:rPr>
                        <a:t>Traces, checkpoints, manifests, plots</a:t>
                      </a:r>
                      <a:endParaRPr lang="en-US" sz="1400" dirty="0">
                        <a:latin typeface="Arial" charset="0"/>
                        <a:ea typeface="Arial" charset="0"/>
                        <a:cs typeface="Arial" charset="0"/>
                      </a:endParaRPr>
                    </a:p>
                  </a:txBody>
                  <a:tcPr marL="82296" marR="82296" marT="82296" marB="82296" anchor="ctr">
                    <a:lnL w="6350" cap="flat" cmpd="sng" algn="ctr">
                      <a:solidFill>
                        <a:srgbClr val="D7E0DE"/>
                      </a:solidFill>
                      <a:prstDash val="solid"/>
                      <a:round/>
                      <a:headEnd type="none" w="med" len="med"/>
                      <a:tailEnd type="none" w="med" len="med"/>
                    </a:lnL>
                    <a:lnR w="6350" cap="flat" cmpd="sng" algn="ctr">
                      <a:solidFill>
                        <a:srgbClr val="D7E0DE"/>
                      </a:solidFill>
                      <a:prstDash val="solid"/>
                      <a:round/>
                      <a:headEnd type="none" w="med" len="med"/>
                      <a:tailEnd type="none" w="med" len="med"/>
                    </a:lnR>
                    <a:lnT w="6350" cap="flat" cmpd="sng" algn="ctr">
                      <a:solidFill>
                        <a:srgbClr val="D7E0DE"/>
                      </a:solidFill>
                      <a:prstDash val="solid"/>
                      <a:round/>
                      <a:headEnd type="none" w="med" len="med"/>
                      <a:tailEnd type="none" w="med" len="med"/>
                    </a:lnT>
                    <a:lnB w="6350" cap="flat" cmpd="sng" algn="ctr">
                      <a:solidFill>
                        <a:srgbClr val="D7E0DE"/>
                      </a:solidFill>
                      <a:prstDash val="solid"/>
                      <a:round/>
                      <a:headEnd type="none" w="med" len="med"/>
                      <a:tailEnd type="none" w="med" len="med"/>
                    </a:lnB>
                    <a:solidFill>
                      <a:srgbClr val="FFFFFF"/>
                    </a:solidFill>
                  </a:tcPr>
                </a:tc>
              </a:tr>
              <a:tr h="438912">
                <a:tc>
                  <a:txBody>
                    <a:bodyPr/>
                    <a:lstStyle/>
                    <a:p>
                      <a:pPr indent="0" marL="0">
                        <a:buNone/>
                      </a:pPr>
                      <a:r>
                        <a:rPr lang="en-US" sz="1400" dirty="0">
                          <a:solidFill>
                            <a:srgbClr val="172D30"/>
                          </a:solidFill>
                          <a:latin typeface="Arial" pitchFamily="34" charset="0"/>
                          <a:ea typeface="Arial" pitchFamily="34" charset="-122"/>
                          <a:cs typeface="Arial" pitchFamily="34" charset="-120"/>
                        </a:rPr>
                        <a:t>Shared core</a:t>
                      </a:r>
                      <a:endParaRPr lang="en-US" sz="1400" dirty="0">
                        <a:latin typeface="Arial" charset="0"/>
                        <a:ea typeface="Arial" charset="0"/>
                        <a:cs typeface="Arial" charset="0"/>
                      </a:endParaRPr>
                    </a:p>
                  </a:txBody>
                  <a:tcPr marL="82296" marR="82296" marT="82296" marB="82296" anchor="ctr">
                    <a:lnL w="6350" cap="flat" cmpd="sng" algn="ctr">
                      <a:solidFill>
                        <a:srgbClr val="D7E0DE"/>
                      </a:solidFill>
                      <a:prstDash val="solid"/>
                      <a:round/>
                      <a:headEnd type="none" w="med" len="med"/>
                      <a:tailEnd type="none" w="med" len="med"/>
                    </a:lnL>
                    <a:lnR w="6350" cap="flat" cmpd="sng" algn="ctr">
                      <a:solidFill>
                        <a:srgbClr val="D7E0DE"/>
                      </a:solidFill>
                      <a:prstDash val="solid"/>
                      <a:round/>
                      <a:headEnd type="none" w="med" len="med"/>
                      <a:tailEnd type="none" w="med" len="med"/>
                    </a:lnR>
                    <a:lnT w="6350" cap="flat" cmpd="sng" algn="ctr">
                      <a:solidFill>
                        <a:srgbClr val="D7E0DE"/>
                      </a:solidFill>
                      <a:prstDash val="solid"/>
                      <a:round/>
                      <a:headEnd type="none" w="med" len="med"/>
                      <a:tailEnd type="none" w="med" len="med"/>
                    </a:lnT>
                    <a:lnB w="6350" cap="flat" cmpd="sng" algn="ctr">
                      <a:solidFill>
                        <a:srgbClr val="D7E0DE"/>
                      </a:solidFill>
                      <a:prstDash val="solid"/>
                      <a:round/>
                      <a:headEnd type="none" w="med" len="med"/>
                      <a:tailEnd type="none" w="med" len="med"/>
                    </a:lnB>
                    <a:solidFill>
                      <a:srgbClr val="FFFFFF"/>
                    </a:solidFill>
                  </a:tcPr>
                </a:tc>
                <a:tc>
                  <a:txBody>
                    <a:bodyPr/>
                    <a:lstStyle/>
                    <a:p>
                      <a:pPr indent="0" marL="0">
                        <a:buNone/>
                      </a:pPr>
                      <a:r>
                        <a:rPr lang="en-US" sz="1400" dirty="0">
                          <a:solidFill>
                            <a:srgbClr val="172D30"/>
                          </a:solidFill>
                          <a:latin typeface="Arial" pitchFamily="34" charset="0"/>
                          <a:ea typeface="Arial" pitchFamily="34" charset="-122"/>
                          <a:cs typeface="Arial" pitchFamily="34" charset="-120"/>
                        </a:rPr>
                        <a:t>Two detectors + synthetic data</a:t>
                      </a:r>
                      <a:endParaRPr lang="en-US" sz="1400" dirty="0">
                        <a:latin typeface="Arial" charset="0"/>
                        <a:ea typeface="Arial" charset="0"/>
                        <a:cs typeface="Arial" charset="0"/>
                      </a:endParaRPr>
                    </a:p>
                  </a:txBody>
                  <a:tcPr marL="82296" marR="82296" marT="82296" marB="82296" anchor="ctr">
                    <a:lnL w="6350" cap="flat" cmpd="sng" algn="ctr">
                      <a:solidFill>
                        <a:srgbClr val="D7E0DE"/>
                      </a:solidFill>
                      <a:prstDash val="solid"/>
                      <a:round/>
                      <a:headEnd type="none" w="med" len="med"/>
                      <a:tailEnd type="none" w="med" len="med"/>
                    </a:lnL>
                    <a:lnR w="6350" cap="flat" cmpd="sng" algn="ctr">
                      <a:solidFill>
                        <a:srgbClr val="D7E0DE"/>
                      </a:solidFill>
                      <a:prstDash val="solid"/>
                      <a:round/>
                      <a:headEnd type="none" w="med" len="med"/>
                      <a:tailEnd type="none" w="med" len="med"/>
                    </a:lnR>
                    <a:lnT w="6350" cap="flat" cmpd="sng" algn="ctr">
                      <a:solidFill>
                        <a:srgbClr val="D7E0DE"/>
                      </a:solidFill>
                      <a:prstDash val="solid"/>
                      <a:round/>
                      <a:headEnd type="none" w="med" len="med"/>
                      <a:tailEnd type="none" w="med" len="med"/>
                    </a:lnT>
                    <a:lnB w="6350" cap="flat" cmpd="sng" algn="ctr">
                      <a:solidFill>
                        <a:srgbClr val="D7E0DE"/>
                      </a:solidFill>
                      <a:prstDash val="solid"/>
                      <a:round/>
                      <a:headEnd type="none" w="med" len="med"/>
                      <a:tailEnd type="none" w="med" len="med"/>
                    </a:lnB>
                    <a:solidFill>
                      <a:srgbClr val="FFFFFF"/>
                    </a:solidFill>
                  </a:tcPr>
                </a:tc>
                <a:tc>
                  <a:txBody>
                    <a:bodyPr/>
                    <a:lstStyle/>
                    <a:p>
                      <a:pPr indent="0" marL="0">
                        <a:buNone/>
                      </a:pPr>
                      <a:r>
                        <a:rPr lang="en-US" sz="1400" dirty="0">
                          <a:solidFill>
                            <a:srgbClr val="172D30"/>
                          </a:solidFill>
                          <a:latin typeface="Arial" pitchFamily="34" charset="0"/>
                          <a:ea typeface="Arial" pitchFamily="34" charset="-122"/>
                          <a:cs typeface="Arial" pitchFamily="34" charset="-120"/>
                        </a:rPr>
                        <a:t>Same model/data bytes; architecture retained</a:t>
                      </a:r>
                      <a:endParaRPr lang="en-US" sz="1400" dirty="0">
                        <a:latin typeface="Arial" charset="0"/>
                        <a:ea typeface="Arial" charset="0"/>
                        <a:cs typeface="Arial" charset="0"/>
                      </a:endParaRPr>
                    </a:p>
                  </a:txBody>
                  <a:tcPr marL="82296" marR="82296" marT="82296" marB="82296" anchor="ctr">
                    <a:lnL w="6350" cap="flat" cmpd="sng" algn="ctr">
                      <a:solidFill>
                        <a:srgbClr val="D7E0DE"/>
                      </a:solidFill>
                      <a:prstDash val="solid"/>
                      <a:round/>
                      <a:headEnd type="none" w="med" len="med"/>
                      <a:tailEnd type="none" w="med" len="med"/>
                    </a:lnL>
                    <a:lnR w="6350" cap="flat" cmpd="sng" algn="ctr">
                      <a:solidFill>
                        <a:srgbClr val="D7E0DE"/>
                      </a:solidFill>
                      <a:prstDash val="solid"/>
                      <a:round/>
                      <a:headEnd type="none" w="med" len="med"/>
                      <a:tailEnd type="none" w="med" len="med"/>
                    </a:lnR>
                    <a:lnT w="6350" cap="flat" cmpd="sng" algn="ctr">
                      <a:solidFill>
                        <a:srgbClr val="D7E0DE"/>
                      </a:solidFill>
                      <a:prstDash val="solid"/>
                      <a:round/>
                      <a:headEnd type="none" w="med" len="med"/>
                      <a:tailEnd type="none" w="med" len="med"/>
                    </a:lnT>
                    <a:lnB w="6350" cap="flat" cmpd="sng" algn="ctr">
                      <a:solidFill>
                        <a:srgbClr val="D7E0DE"/>
                      </a:solidFill>
                      <a:prstDash val="solid"/>
                      <a:round/>
                      <a:headEnd type="none" w="med" len="med"/>
                      <a:tailEnd type="none" w="med" len="med"/>
                    </a:lnB>
                    <a:solidFill>
                      <a:srgbClr val="FFFFFF"/>
                    </a:solidFill>
                  </a:tcPr>
                </a:tc>
              </a:tr>
            </a:tbl>
          </a:graphicData>
        </a:graphic>
      </p:graphicFrame>
      <p:sp>
        <p:nvSpPr>
          <p:cNvPr id="8" name="Text 5"/>
          <p:cNvSpPr/>
          <p:nvPr/>
        </p:nvSpPr>
        <p:spPr>
          <a:xfrm>
            <a:off x="457200" y="3840480"/>
            <a:ext cx="8229600" cy="274320"/>
          </a:xfrm>
          <a:prstGeom prst="rect">
            <a:avLst/>
          </a:prstGeom>
          <a:noFill/>
          <a:ln/>
        </p:spPr>
        <p:txBody>
          <a:bodyPr wrap="square" lIns="0" tIns="0" rIns="0" bIns="0" rtlCol="0" anchor="t"/>
          <a:lstStyle/>
          <a:p>
            <a:pPr indent="0" marL="0">
              <a:buNone/>
            </a:pPr>
            <a:r>
              <a:rPr lang="en-US" sz="1500" b="1" dirty="0">
                <a:solidFill>
                  <a:srgbClr val="01696F"/>
                </a:solidFill>
                <a:latin typeface="Arial" pitchFamily="34" charset="0"/>
                <a:ea typeface="Arial" pitchFamily="34" charset="-122"/>
                <a:cs typeface="Arial" pitchFamily="34" charset="-120"/>
              </a:rPr>
              <a:t>Engineering contribution, not a controlled performance comparison.</a:t>
            </a:r>
            <a:endParaRPr lang="en-US" sz="15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Student project presentation; guide: Dr S. KALYANI; AI-assisted slide preparation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UPI Fraud Stress Lab: Prototype Faculty Review</dc:title>
  <dc:subject>Faculty review of prototype/rl-academic-complete</dc:subject>
  <dc:creator>SHAURYA SINGH; K.H.A.Revanth; K Yuva Karthik; Likith R; Hima Tejaswi</dc:creator>
  <cp:lastModifiedBy>SHAURYA SINGH; K.H.A.Revanth; K Yuva Karthik; Likith R; Hima Tejaswi</cp:lastModifiedBy>
  <cp:revision>1</cp:revision>
  <dcterms:created xsi:type="dcterms:W3CDTF">2026-10-28T15:40:14Z</dcterms:created>
  <dcterms:modified xsi:type="dcterms:W3CDTF">2026-10-28T15:40:14Z</dcterms:modified>
</cp:coreProperties>
</file>