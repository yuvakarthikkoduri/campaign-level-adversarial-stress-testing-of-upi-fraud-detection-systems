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charts/chart1.xml" ContentType="application/vnd.openxmlformats-officedocument.drawingml.chart+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XGBoost</c:v>
                </c:pt>
              </c:strCache>
            </c:strRef>
          </c:tx>
          <c:spPr>
            <a:solidFill>
              <a:srgbClr val="01696F"/>
            </a:solidFill>
            <a:effectLst/>
          </c:spPr>
          <c:invertIfNegative val="0"/>
          <c:dLbls>
            <c:numFmt formatCode="0.0" sourceLinked="0"/>
            <c:txPr>
              <a:bodyPr/>
              <a:lstStyle/>
              <a:p>
                <a:pPr>
                  <a:defRPr b="0" i="0" strike="noStrike" sz="1000" u="none">
                    <a:solidFill>
                      <a:srgbClr val="FFFFFF"/>
                    </a:solidFill>
                    <a:latin typeface="Arial"/>
                  </a:defRPr>
                </a:pPr>
              </a:p>
            </c:txPr>
            <c:dLblPos val="inEnd"/>
            <c:showLegendKey val="0"/>
            <c:showVal val="1"/>
            <c:showCatName val="0"/>
            <c:showSerName val="0"/>
            <c:showPercent val="0"/>
            <c:showBubbleSize val="0"/>
            <c:showLeaderLines val="0"/>
          </c:dLbls>
          <c:cat>
            <c:strRef>
              <c:f>Sheet1!$A$2:$A$5</c:f>
              <c:strCache>
                <c:ptCount val="4"/>
                <c:pt idx="0">
                  <c:v>Static</c:v>
                </c:pt>
                <c:pt idx="1">
                  <c:v>Rule-adaptive</c:v>
                </c:pt>
                <c:pt idx="2">
                  <c:v>Trained RL</c:v>
                </c:pt>
                <c:pt idx="3">
                  <c:v>Zero Q</c:v>
                </c:pt>
              </c:strCache>
            </c:strRef>
          </c:cat>
          <c:val>
            <c:numRef>
              <c:f>Sheet1!$B$2:$B$5</c:f>
              <c:numCache>
                <c:formatCode>General</c:formatCode>
                <c:ptCount val="4"/>
                <c:pt idx="0">
                  <c:v>100</c:v>
                </c:pt>
                <c:pt idx="1">
                  <c:v>100</c:v>
                </c:pt>
                <c:pt idx="2">
                  <c:v>100</c:v>
                </c:pt>
                <c:pt idx="3">
                  <c:v>58.33333333333333</c:v>
                </c:pt>
              </c:numCache>
            </c:numRef>
          </c:val>
        </c:ser>
        <c:ser>
          <c:idx val="1"/>
          <c:order val="1"/>
          <c:tx>
            <c:strRef>
              <c:f>Sheet1!$C$1</c:f>
              <c:strCache>
                <c:ptCount val="1"/>
                <c:pt idx="0">
                  <c:v>Random Forest</c:v>
                </c:pt>
              </c:strCache>
            </c:strRef>
          </c:tx>
          <c:spPr>
            <a:solidFill>
              <a:srgbClr val="707F82"/>
            </a:solidFill>
            <a:effectLst/>
          </c:spPr>
          <c:invertIfNegative val="0"/>
          <c:dLbls>
            <c:numFmt formatCode="0.0" sourceLinked="0"/>
            <c:txPr>
              <a:bodyPr/>
              <a:lstStyle/>
              <a:p>
                <a:pPr>
                  <a:defRPr b="0" i="0" strike="noStrike" sz="1000" u="none">
                    <a:solidFill>
                      <a:srgbClr val="FFFFFF"/>
                    </a:solidFill>
                    <a:latin typeface="Arial"/>
                  </a:defRPr>
                </a:pPr>
              </a:p>
            </c:txPr>
            <c:dLblPos val="inEnd"/>
            <c:showLegendKey val="0"/>
            <c:showVal val="1"/>
            <c:showCatName val="0"/>
            <c:showSerName val="0"/>
            <c:showPercent val="0"/>
            <c:showBubbleSize val="0"/>
            <c:showLeaderLines val="0"/>
          </c:dLbls>
          <c:cat>
            <c:strRef>
              <c:f>Sheet1!$A$2:$A$5</c:f>
              <c:strCache>
                <c:ptCount val="4"/>
                <c:pt idx="0">
                  <c:v>Static</c:v>
                </c:pt>
                <c:pt idx="1">
                  <c:v>Rule-adaptive</c:v>
                </c:pt>
                <c:pt idx="2">
                  <c:v>Trained RL</c:v>
                </c:pt>
                <c:pt idx="3">
                  <c:v>Zero Q</c:v>
                </c:pt>
              </c:strCache>
            </c:strRef>
          </c:cat>
          <c:val>
            <c:numRef>
              <c:f>Sheet1!$C$2:$C$5</c:f>
              <c:numCache>
                <c:formatCode>General</c:formatCode>
                <c:ptCount val="4"/>
                <c:pt idx="0">
                  <c:v>100</c:v>
                </c:pt>
                <c:pt idx="1">
                  <c:v>100</c:v>
                </c:pt>
                <c:pt idx="2">
                  <c:v>98.61111111111111</c:v>
                </c:pt>
                <c:pt idx="3">
                  <c:v>58.33333333333333</c:v>
                </c:pt>
              </c:numCache>
            </c:numRef>
          </c:val>
        </c:ser>
        <c:dLbls>
          <c:numFmt formatCode="0.0" sourceLinked="0"/>
          <c:txPr>
            <a:bodyPr/>
            <a:lstStyle/>
            <a:p>
              <a:pPr>
                <a:defRPr b="0" i="0" strike="noStrike" sz="1000" u="none">
                  <a:solidFill>
                    <a:srgbClr val="FFFFFF"/>
                  </a:solidFill>
                  <a:latin typeface="Arial"/>
                </a:defRPr>
              </a:pPr>
            </a:p>
          </c:txPr>
          <c:dLblPos val="inEnd"/>
          <c:showLegendKey val="0"/>
          <c:showVal val="1"/>
          <c:showCatName val="0"/>
          <c:showSerName val="0"/>
          <c:showPercent val="0"/>
          <c:showBubbleSize val="0"/>
          <c:showLeaderLines val="0"/>
        </c:dLbls>
        <c:gapWidth val="150"/>
        <c:overlap val="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72D30"/>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4EAE8"/>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Completion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172D30"/>
                </a:solidFill>
                <a:latin typeface="Arial"/>
              </a:defRPr>
            </a:pPr>
            <a:endParaRPr lang="en-US"/>
          </a:p>
        </c:txPr>
        <c:crossAx val="2094734554"/>
        <c:crosses val="autoZero"/>
        <c:crossBetween val="between"/>
        <c:majorUnit val="25"/>
      </c:valAx>
      <c:spPr>
        <a:solidFill>
          <a:srgbClr val="FFFFFF"/>
        </a:solidFill>
        <a:ln w="12700" cap="flat">
          <a:solidFill>
            <a:srgbClr val="FFFFFF"/>
          </a:solidFill>
        </a:ln>
        <a:effectLst/>
      </c:spPr>
    </c:plotArea>
    <c:legend>
      <c:legendPos val="b"/>
      <c:overlay val="0"/>
      <c:txPr>
        <a:bodyPr/>
        <a:lstStyle/>
        <a:p>
          <a:pPr>
            <a:defRPr sz="1100">
              <a:solidFill>
                <a:srgbClr val="172D30"/>
              </a:solidFill>
            </a:defRPr>
          </a:pPr>
          <a:endParaRPr lang="en-US"/>
        </a:p>
      </c:txPr>
    </c:legend>
    <c:plotVisOnly val="1"/>
    <c:dispBlanksAs val="span"/>
  </c:chart>
  <c:spPr>
    <a:solidFill>
      <a:srgbClr val="FFFFFF"/>
    </a:solidFill>
    <a:ln w="12700" cap="flat">
      <a:solidFill>
        <a:srgbClr val="FFFFFF"/>
      </a:solid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Lecturer pitch: The project is a Python laboratory, not a deployed fraud-prevention service. It connects attacker decisions, detector responses and simulated account transfers in inspectable campaigns. This presentation describes the requested prototype branch. The later dashboard and matched pilot live on the separate review branch.
Repository: https://github.com/YuvakarthikKoduri/Campaign-Level-Adversarial-Stress-Testing-of-UPI-Fraud-Detection-Systems
Code baseline: 92a12966ec49fd6dcd147fd4d7411382715bc729. Not the later corrected legacy or matched-pilot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semantic explanation of the simulator, not an observed three-transaction trajectory. FLAG is not treated as a prevented transfer. Gross debit is internal simulated money flow, not actual victim loss or proven money saved. Source: src/environment/simulator.py and src/campaigns/executor.py.
Code baseline: 92a12966ec49fd6dcd147fd4d7411382715bc729. Not the later corrected legacy or matched-pilot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Implementation source: src/campaigns/generator.py, src/campaigns/executor.py, src/attackers/, src/detectors/baseline.py and src/experiments/prototype.py. The legacy family labels describe workload generation and pacing; the RL action trajectory need not preserve each family's original shape. This branch does not contain run_dashboard.py or the later mechanism_pilot module.
Code baseline: 92a12966ec49fd6dcd147fd4d7411382715bc729. Not the later corrected legacy or matched-pilot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docs/PROTOTYPE_GUIDE.md and src/attackers/q_learning.py. RL learns only on high-value-burst workloads. Other families are excluded from attacker training, not demonstrably excluded from historical detector training. Action spaces, pacing, clipping and offline costs differ across the legacy policies, so these are not fully matched comparisons. The newer label-blind arm belongs to the later pilot, not this branch.
Code baseline: 92a12966ec49fd6dcd147fd4d7411382715bc729. Not the later corrected legacy or matched-pilot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Exact source: prototype_evidence/comparison-final/{campaigns.json,transactions.csv,summary.csv,config.json} at code baseline 92a1296. New read-only arithmetic checked the historical records, not a new full run. Completion is target-reaching campaigns / attempted campaigns. The counts are not the corrected legacy 4,161 transactions or matched pilot 7,200 campaigns. No error bars are plotted; sample seed SD in percentage points in category order Static, Rule, RL, Zero Q:
XGBoost: 0.000, 0.000, 0.000, 7.217
Random Forest: 0.000, 0.000, 2.406, 7.217
Raw pooled completions: 1077. Pooling is descriptive, not a common strategy effect.
Code baseline: 92a12966ec49fd6dcd147fd4d7411382715bc729. Not the later corrected legacy or matched-pilot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prototype implements an engineering combination, not proven literature-wide novelty. The later source-grounded literature matrix is on review/academic-dashboard-paper-v1 at research/literature_review/comparison_matrix.csv. Published examples include Carminati et al. (RAID 2020), https://www.usenix.org/conference/raid2020/presentation/carminati and Henderson et al., Deep Reinforcement Learning That Matters, https://arxiv.org/abs/1709.06560. No published method is reimplemented on common data here. Inspectable means raw Q state and traces can be examined, not that their correctness is guaranteed.
Code baseline: 92a12966ec49fd6dcd147fd4d7411382715bc729. Not the later corrected legacy or matched-pilot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small demonstration is not a reproduction of the retained 300-training-episode, 24-campaign-per-cell full study. Use a new output directory for every run; outputs are not overwritten. The exact small configuration was newly executed in an isolated workspace. The existing environment was reused, not clean-installed. Full clone/setup commands, reload and regression commands are in the revised README. Dashboard startup requires the later review branch, not this one.
Code baseline: 92a12966ec49fd6dcd147fd4d7411382715bc729. Not the later corrected legacy or matched-pilot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promise unseen-fraud detection, a causal adaptation paradox, universal RL superiority, real-world UPI effectiveness, actual victim-loss reduction, zero AI content or an unmeasured similarity threshold. Later audits repaired decimal-money handling, frozen evaluation state and evidence schema checks on the review branch; these repairs are not backported into this documentation-only prototype update. The existing IEEE paper covers that later corrected study and pilot, not this older snapshot alone. University-approved AI-content and similarity reports remain PENDING EXTERNAL VERIFICATION.
Code baseline: 92a12966ec49fd6dcd147fd4d7411382715bc729. Not the later corrected legacy or matched-pilot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github.com/YuvakarthikKoduri/Campaign-Level-Adversarial-Stress-Testing-of-UPI-Fraud-Detection-Systems/tree/prototype/rl-academic-complete" TargetMode="Externa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github.com/YuvakarthikKoduri/Campaign-Level-Adversarial-Stress-Testing-of-UPI-Fraud-Detection-Systems/tree/prototype/rl-academic-complete" TargetMode="Externa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github.com/YuvakarthikKoduri/Campaign-Level-Adversarial-Stress-Testing-of-UPI-Fraud-Detection-Systems/tree/prototype/rl-academic-complete" TargetMode="Externa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github.com/YuvakarthikKoduri/Campaign-Level-Adversarial-Stress-Testing-of-UPI-Fraud-Detection-Systems/tree/prototype/rl-academic-complete" TargetMode="External"/><Relationship Id="rId2" Type="http://schemas.openxmlformats.org/officeDocument/2006/relationships/chart" Target="/ppt/charts/chart1.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github.com/YuvakarthikKoduri/Campaign-Level-Adversarial-Stress-Testing-of-UPI-Fraud-Detection-Systems/tree/prototype/rl-academic-complete" TargetMode="External"/><Relationship Id="rId2" Type="http://schemas.openxmlformats.org/officeDocument/2006/relationships/hyperlink" Target="https://github.com/YuvakarthikKoduri/Campaign-Level-Adversarial-Stress-Testing-of-UPI-Fraud-Detection-Systems/blob/review/academic-dashboard-paper-v1/research/literature_review/comparison_matrix.csv"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github.com/YuvakarthikKoduri/Campaign-Level-Adversarial-Stress-Testing-of-UPI-Fraud-Detection-Systems/tree/prototype/rl-academic-complete" TargetMode="Externa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github.com/YuvakarthikKoduri/Campaign-Level-Adversarial-Stress-Testing-of-UPI-Fraud-Detection-Systems/tree/prototype/rl-academic-complete" TargetMode="External"/><Relationship Id="rId2" Type="http://schemas.openxmlformats.org/officeDocument/2006/relationships/hyperlink" Target="https://github.com/YuvakarthikKoduri/Campaign-Level-Adversarial-Stress-Testing-of-UPI-Fraud-Detection-Systems/tree/review/academic-dashboard-paper-v1"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2D30"/>
        </a:solidFill>
      </p:bgPr>
    </p:bg>
    <p:spTree>
      <p:nvGrpSpPr>
        <p:cNvPr id="1" name=""/>
        <p:cNvGrpSpPr/>
        <p:nvPr/>
      </p:nvGrpSpPr>
      <p:grpSpPr>
        <a:xfrm>
          <a:off x="0" y="0"/>
          <a:ext cx="0" cy="0"/>
          <a:chOff x="0" y="0"/>
          <a:chExt cx="0" cy="0"/>
        </a:xfrm>
      </p:grpSpPr>
      <p:sp>
        <p:nvSpPr>
          <p:cNvPr id="2" name="Text 0"/>
          <p:cNvSpPr/>
          <p:nvPr/>
        </p:nvSpPr>
        <p:spPr>
          <a:xfrm>
            <a:off x="548640" y="640080"/>
            <a:ext cx="8046720" cy="1508760"/>
          </a:xfrm>
          <a:prstGeom prst="rect">
            <a:avLst/>
          </a:prstGeom>
          <a:noFill/>
          <a:ln/>
        </p:spPr>
        <p:txBody>
          <a:bodyPr wrap="square" lIns="0" tIns="0" rIns="0" bIns="0" rtlCol="0" anchor="t"/>
          <a:lstStyle/>
          <a:p>
            <a:pPr indent="0" marL="0">
              <a:buNone/>
            </a:pPr>
            <a:r>
              <a:rPr lang="en-US" sz="5200" b="1" dirty="0">
                <a:solidFill>
                  <a:srgbClr val="FFFFFF"/>
                </a:solidFill>
                <a:latin typeface="Arial" pitchFamily="34" charset="0"/>
                <a:ea typeface="Arial" pitchFamily="34" charset="-122"/>
                <a:cs typeface="Arial" pitchFamily="34" charset="-120"/>
              </a:rPr>
              <a:t>UPI Fraud</a:t>
            </a:r>
            <a:endParaRPr lang="en-US" sz="5200" dirty="0"/>
          </a:p>
          <a:p>
            <a:pPr indent="0" marL="0">
              <a:buNone/>
            </a:pPr>
            <a:r>
              <a:rPr lang="en-US" sz="5200" b="1" dirty="0">
                <a:solidFill>
                  <a:srgbClr val="FFFFFF"/>
                </a:solidFill>
                <a:latin typeface="Arial" pitchFamily="34" charset="0"/>
                <a:ea typeface="Arial" pitchFamily="34" charset="-122"/>
                <a:cs typeface="Arial" pitchFamily="34" charset="-120"/>
              </a:rPr>
              <a:t>Stress Lab</a:t>
            </a:r>
            <a:endParaRPr lang="en-US" sz="5200" dirty="0"/>
          </a:p>
        </p:txBody>
      </p:sp>
      <p:sp>
        <p:nvSpPr>
          <p:cNvPr id="3" name="Text 1"/>
          <p:cNvSpPr/>
          <p:nvPr/>
        </p:nvSpPr>
        <p:spPr>
          <a:xfrm>
            <a:off x="594360" y="2468880"/>
            <a:ext cx="7955280" cy="914400"/>
          </a:xfrm>
          <a:prstGeom prst="rect">
            <a:avLst/>
          </a:prstGeom>
          <a:noFill/>
          <a:ln/>
        </p:spPr>
        <p:txBody>
          <a:bodyPr wrap="square" lIns="0" tIns="0" rIns="0" bIns="0" rtlCol="0" anchor="t"/>
          <a:lstStyle/>
          <a:p>
            <a:pPr indent="0" marL="0">
              <a:buNone/>
            </a:pPr>
            <a:r>
              <a:rPr lang="en-US" sz="2600" dirty="0">
                <a:solidFill>
                  <a:srgbClr val="BCE2E7"/>
                </a:solidFill>
                <a:latin typeface="Arial" pitchFamily="34" charset="0"/>
                <a:ea typeface="Arial" pitchFamily="34" charset="-122"/>
                <a:cs typeface="Arial" pitchFamily="34" charset="-120"/>
              </a:rPr>
              <a:t>Can an attack campaign reach its target</a:t>
            </a:r>
            <a:endParaRPr lang="en-US" sz="2600" dirty="0"/>
          </a:p>
          <a:p>
            <a:pPr indent="0" marL="0">
              <a:buNone/>
            </a:pPr>
            <a:r>
              <a:rPr lang="en-US" sz="2600" dirty="0">
                <a:solidFill>
                  <a:srgbClr val="BCE2E7"/>
                </a:solidFill>
                <a:latin typeface="Arial" pitchFamily="34" charset="0"/>
                <a:ea typeface="Arial" pitchFamily="34" charset="-122"/>
                <a:cs typeface="Arial" pitchFamily="34" charset="-120"/>
              </a:rPr>
              <a:t>before a detector stops it?</a:t>
            </a:r>
            <a:endParaRPr lang="en-US" sz="2600" dirty="0"/>
          </a:p>
        </p:txBody>
      </p:sp>
      <p:sp>
        <p:nvSpPr>
          <p:cNvPr id="4" name="Text 2"/>
          <p:cNvSpPr/>
          <p:nvPr/>
        </p:nvSpPr>
        <p:spPr>
          <a:xfrm>
            <a:off x="594360" y="3657600"/>
            <a:ext cx="7863840" cy="36576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A working, synthetic campaign-level research prototype</a:t>
            </a:r>
            <a:endParaRPr lang="en-US" sz="1700" dirty="0"/>
          </a:p>
        </p:txBody>
      </p:sp>
      <p:sp>
        <p:nvSpPr>
          <p:cNvPr id="5" name="Text 3"/>
          <p:cNvSpPr/>
          <p:nvPr/>
        </p:nvSpPr>
        <p:spPr>
          <a:xfrm>
            <a:off x="594360" y="4251960"/>
            <a:ext cx="7955280" cy="274320"/>
          </a:xfrm>
          <a:prstGeom prst="rect">
            <a:avLst/>
          </a:prstGeom>
          <a:noFill/>
          <a:ln/>
        </p:spPr>
        <p:txBody>
          <a:bodyPr wrap="square" lIns="0" tIns="0" rIns="0" bIns="0" rtlCol="0" anchor="t"/>
          <a:lstStyle/>
          <a:p>
            <a:pPr indent="0" marL="0">
              <a:buNone/>
            </a:pPr>
            <a:r>
              <a:rPr lang="en-US" sz="1300" dirty="0">
                <a:solidFill>
                  <a:srgbClr val="BCE2E7"/>
                </a:solidFill>
                <a:latin typeface="Arial" pitchFamily="34" charset="0"/>
                <a:ea typeface="Arial" pitchFamily="34" charset="-122"/>
                <a:cs typeface="Arial" pitchFamily="34" charset="-120"/>
              </a:rPr>
              <a:t>prototype/rl-academic-complete  |  code baseline 92a1296</a:t>
            </a:r>
            <a:endParaRPr lang="en-US" sz="1300" dirty="0"/>
          </a:p>
        </p:txBody>
      </p:sp>
      <p:sp>
        <p:nvSpPr>
          <p:cNvPr id="6" name="Text 4"/>
          <p:cNvSpPr/>
          <p:nvPr/>
        </p:nvSpPr>
        <p:spPr>
          <a:xfrm>
            <a:off x="594360" y="4645152"/>
            <a:ext cx="7955280" cy="228600"/>
          </a:xfrm>
          <a:prstGeom prst="rect">
            <a:avLst/>
          </a:prstGeom>
          <a:noFill/>
          <a:ln/>
        </p:spPr>
        <p:txBody>
          <a:bodyPr wrap="square" lIns="0" tIns="0" rIns="0" bIns="0" rtlCol="0" anchor="t"/>
          <a:lstStyle/>
          <a:p>
            <a:pPr indent="0" marL="0">
              <a:buNone/>
            </a:pPr>
            <a:r>
              <a:rPr lang="en-US" sz="1200" dirty="0">
                <a:solidFill>
                  <a:srgbClr val="BCE2E7"/>
                </a:solidFill>
                <a:latin typeface="Arial" pitchFamily="34" charset="0"/>
                <a:ea typeface="Arial" pitchFamily="34" charset="-122"/>
                <a:cs typeface="Arial" pitchFamily="34" charset="-120"/>
              </a:rPr>
              <a:t>Offline simulation only. No real payments. Gate C remains HOLD.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47472"/>
            <a:ext cx="8229600" cy="868680"/>
          </a:xfrm>
          <a:prstGeom prst="rect">
            <a:avLst/>
          </a:prstGeom>
          <a:noFill/>
          <a:ln/>
        </p:spPr>
        <p:txBody>
          <a:bodyPr wrap="square" lIns="0" tIns="0" rIns="0" bIns="0" rtlCol="0" anchor="t"/>
          <a:lstStyle/>
          <a:p>
            <a:pPr indent="0" marL="0">
              <a:buNone/>
            </a:pPr>
            <a:r>
              <a:rPr lang="en-US" sz="3400" b="1" dirty="0">
                <a:solidFill>
                  <a:srgbClr val="172D30"/>
                </a:solidFill>
                <a:latin typeface="Arial" pitchFamily="34" charset="0"/>
                <a:ea typeface="Arial" pitchFamily="34" charset="-122"/>
                <a:cs typeface="Arial" pitchFamily="34" charset="-120"/>
              </a:rPr>
              <a:t>Why measure a whole campaign?</a:t>
            </a:r>
            <a:endParaRPr lang="en-US" sz="3400" dirty="0"/>
          </a:p>
        </p:txBody>
      </p:sp>
      <p:sp>
        <p:nvSpPr>
          <p:cNvPr id="3" name="Shape 1"/>
          <p:cNvSpPr/>
          <p:nvPr/>
        </p:nvSpPr>
        <p:spPr>
          <a:xfrm>
            <a:off x="8503920" y="4663440"/>
            <a:ext cx="292608" cy="292608"/>
          </a:xfrm>
          <a:prstGeom prst="ellipse">
            <a:avLst/>
          </a:prstGeom>
          <a:solidFill>
            <a:srgbClr val="01696F"/>
          </a:solidFill>
          <a:ln w="12700">
            <a:solidFill>
              <a:srgbClr val="01696F">
                <a:alpha val="0"/>
              </a:srgbClr>
            </a:solidFill>
            <a:prstDash val="solid"/>
          </a:ln>
        </p:spPr>
      </p:sp>
      <p:sp>
        <p:nvSpPr>
          <p:cNvPr id="4" name="Text 2"/>
          <p:cNvSpPr/>
          <p:nvPr/>
        </p:nvSpPr>
        <p:spPr>
          <a:xfrm>
            <a:off x="8503920" y="4695444"/>
            <a:ext cx="292608" cy="182880"/>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5" name="Text 3"/>
          <p:cNvSpPr/>
          <p:nvPr/>
        </p:nvSpPr>
        <p:spPr>
          <a:xfrm>
            <a:off x="457200" y="4663440"/>
            <a:ext cx="4206240" cy="201168"/>
          </a:xfrm>
          <a:prstGeom prst="rect">
            <a:avLst/>
          </a:prstGeom>
          <a:noFill/>
          <a:ln/>
        </p:spPr>
        <p:txBody>
          <a:bodyPr wrap="square" lIns="0" tIns="0" rIns="0" bIns="0" rtlCol="0" anchor="t"/>
          <a:lstStyle/>
          <a:p>
            <a:pPr indent="0" marL="0">
              <a:buNone/>
            </a:pPr>
            <a:r>
              <a:rPr lang="en-US" sz="1000" dirty="0">
                <a:solidFill>
                  <a:srgbClr val="465E62"/>
                </a:solidFill>
                <a:latin typeface="Arial" pitchFamily="34" charset="0"/>
                <a:ea typeface="Arial" pitchFamily="34" charset="-122"/>
                <a:cs typeface="Arial" pitchFamily="34" charset="-120"/>
              </a:rPr>
              <a:t>SYNTHETIC RESEARCH  |  GATE C HOLD</a:t>
            </a:r>
            <a:endParaRPr lang="en-US" sz="1000" dirty="0"/>
          </a:p>
        </p:txBody>
      </p:sp>
      <p:sp>
        <p:nvSpPr>
          <p:cNvPr id="6" name="Text 4"/>
          <p:cNvSpPr/>
          <p:nvPr/>
        </p:nvSpPr>
        <p:spPr>
          <a:xfrm>
            <a:off x="457200" y="4370832"/>
            <a:ext cx="8001000" cy="201168"/>
          </a:xfrm>
          <a:prstGeom prst="rect">
            <a:avLst/>
          </a:prstGeom>
          <a:noFill/>
          <a:ln/>
        </p:spPr>
        <p:txBody>
          <a:bodyPr wrap="square" lIns="0" tIns="0" rIns="0" bIns="0" rtlCol="0" anchor="ctr"/>
          <a:lstStyle/>
          <a:p>
            <a:pPr indent="0" marL="0">
              <a:buNone/>
            </a:pPr>
            <a:r>
              <a:rPr lang="en-US" sz="1000" dirty="0">
                <a:solidFill>
                  <a:srgbClr val="465E62"/>
                </a:solidFill>
                <a:latin typeface="Arial" pitchFamily="34" charset="0"/>
                <a:ea typeface="Arial" pitchFamily="34" charset="-122"/>
                <a:cs typeface="Arial" pitchFamily="34" charset="-120"/>
              </a:rPr>
              <a:t>Source: </a:t>
            </a:r>
            <a:r>
              <a:rPr lang="en-US" sz="1000" u="sng" dirty="0">
                <a:solidFill>
                  <a:srgbClr val="01696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prototype source and retained records</a:t>
            </a:r>
            <a:endParaRPr lang="en-US" sz="1000" dirty="0"/>
          </a:p>
        </p:txBody>
      </p:sp>
      <p:sp>
        <p:nvSpPr>
          <p:cNvPr id="7" name="Text 5"/>
          <p:cNvSpPr/>
          <p:nvPr/>
        </p:nvSpPr>
        <p:spPr>
          <a:xfrm>
            <a:off x="457200" y="1371600"/>
            <a:ext cx="8229600" cy="411480"/>
          </a:xfrm>
          <a:prstGeom prst="rect">
            <a:avLst/>
          </a:prstGeom>
          <a:noFill/>
          <a:ln/>
        </p:spPr>
        <p:txBody>
          <a:bodyPr wrap="square" lIns="0" tIns="0" rIns="0" bIns="0" rtlCol="0" anchor="t"/>
          <a:lstStyle/>
          <a:p>
            <a:pPr indent="0" marL="0">
              <a:buNone/>
            </a:pPr>
            <a:r>
              <a:rPr lang="en-US" sz="2000" b="1" dirty="0">
                <a:solidFill>
                  <a:srgbClr val="01696F"/>
                </a:solidFill>
                <a:latin typeface="Arial" pitchFamily="34" charset="0"/>
                <a:ea typeface="Arial" pitchFamily="34" charset="-122"/>
                <a:cs typeface="Arial" pitchFamily="34" charset="-120"/>
              </a:rPr>
              <a:t>A transaction label is not the same as an intervention outcome.</a:t>
            </a:r>
            <a:endParaRPr lang="en-US" sz="2000" dirty="0"/>
          </a:p>
        </p:txBody>
      </p:sp>
      <p:sp>
        <p:nvSpPr>
          <p:cNvPr id="8" name="Shape 6"/>
          <p:cNvSpPr/>
          <p:nvPr/>
        </p:nvSpPr>
        <p:spPr>
          <a:xfrm>
            <a:off x="457200" y="2057400"/>
            <a:ext cx="2560320" cy="1280160"/>
          </a:xfrm>
          <a:prstGeom prst="rect">
            <a:avLst/>
          </a:prstGeom>
          <a:solidFill>
            <a:srgbClr val="F0F4F3"/>
          </a:solidFill>
          <a:ln w="7620">
            <a:solidFill>
              <a:srgbClr val="D7E0DE"/>
            </a:solidFill>
            <a:prstDash val="solid"/>
          </a:ln>
        </p:spPr>
      </p:sp>
      <p:sp>
        <p:nvSpPr>
          <p:cNvPr id="9" name="Text 7"/>
          <p:cNvSpPr/>
          <p:nvPr/>
        </p:nvSpPr>
        <p:spPr>
          <a:xfrm>
            <a:off x="603504" y="2203704"/>
            <a:ext cx="2267712" cy="987552"/>
          </a:xfrm>
          <a:prstGeom prst="rect">
            <a:avLst/>
          </a:prstGeom>
          <a:noFill/>
          <a:ln/>
        </p:spPr>
        <p:txBody>
          <a:bodyPr wrap="square" lIns="0" tIns="0" rIns="0" bIns="0" rtlCol="0" anchor="t"/>
          <a:lstStyle/>
          <a:p>
            <a:pPr indent="0" marL="0">
              <a:buNone/>
            </a:pPr>
            <a:endParaRPr lang="en-US" sz="1600" dirty="0"/>
          </a:p>
        </p:txBody>
      </p:sp>
      <p:sp>
        <p:nvSpPr>
          <p:cNvPr id="10" name="Text 8"/>
          <p:cNvSpPr/>
          <p:nvPr/>
        </p:nvSpPr>
        <p:spPr>
          <a:xfrm>
            <a:off x="612648" y="2231136"/>
            <a:ext cx="2249424" cy="320040"/>
          </a:xfrm>
          <a:prstGeom prst="rect">
            <a:avLst/>
          </a:prstGeom>
          <a:noFill/>
          <a:ln/>
        </p:spPr>
        <p:txBody>
          <a:bodyPr wrap="square" lIns="0" tIns="0" rIns="0" bIns="0" rtlCol="0" anchor="t"/>
          <a:lstStyle/>
          <a:p>
            <a:pPr indent="0" marL="0">
              <a:buNone/>
            </a:pPr>
            <a:r>
              <a:rPr lang="en-US" sz="2200" b="1" dirty="0">
                <a:solidFill>
                  <a:srgbClr val="172D30"/>
                </a:solidFill>
                <a:latin typeface="Arial" pitchFamily="34" charset="0"/>
                <a:ea typeface="Arial" pitchFamily="34" charset="-122"/>
                <a:cs typeface="Arial" pitchFamily="34" charset="-120"/>
              </a:rPr>
              <a:t>ALLOW</a:t>
            </a:r>
            <a:endParaRPr lang="en-US" sz="2200" dirty="0"/>
          </a:p>
        </p:txBody>
      </p:sp>
      <p:sp>
        <p:nvSpPr>
          <p:cNvPr id="11" name="Text 9"/>
          <p:cNvSpPr/>
          <p:nvPr/>
        </p:nvSpPr>
        <p:spPr>
          <a:xfrm>
            <a:off x="612648" y="2679192"/>
            <a:ext cx="2249424" cy="502920"/>
          </a:xfrm>
          <a:prstGeom prst="rect">
            <a:avLst/>
          </a:prstGeom>
          <a:noFill/>
          <a:ln/>
        </p:spPr>
        <p:txBody>
          <a:bodyPr wrap="square" lIns="0" tIns="0" rIns="0" bIns="0" rtlCol="0" anchor="t"/>
          <a:lstStyle/>
          <a:p>
            <a:pPr indent="0" marL="0">
              <a:buNone/>
            </a:pPr>
            <a:r>
              <a:rPr lang="en-US" sz="1500" dirty="0">
                <a:solidFill>
                  <a:srgbClr val="202B2D"/>
                </a:solidFill>
                <a:latin typeface="Arial" pitchFamily="34" charset="0"/>
                <a:ea typeface="Arial" pitchFamily="34" charset="-122"/>
                <a:cs typeface="Arial" pitchFamily="34" charset="-120"/>
              </a:rPr>
              <a:t>Transfer can proceed.</a:t>
            </a:r>
            <a:endParaRPr lang="en-US" sz="1500" dirty="0"/>
          </a:p>
        </p:txBody>
      </p:sp>
      <p:sp>
        <p:nvSpPr>
          <p:cNvPr id="12" name="Text 10"/>
          <p:cNvSpPr/>
          <p:nvPr/>
        </p:nvSpPr>
        <p:spPr>
          <a:xfrm>
            <a:off x="3054096" y="2468880"/>
            <a:ext cx="210312" cy="320040"/>
          </a:xfrm>
          <a:prstGeom prst="rect">
            <a:avLst/>
          </a:prstGeom>
          <a:noFill/>
          <a:ln/>
        </p:spPr>
        <p:txBody>
          <a:bodyPr wrap="square" lIns="0" tIns="0" rIns="0" bIns="0" rtlCol="0" anchor="t"/>
          <a:lstStyle/>
          <a:p>
            <a:pPr indent="0" marL="0">
              <a:buNone/>
            </a:pPr>
            <a:r>
              <a:rPr lang="en-US" sz="1700" dirty="0">
                <a:solidFill>
                  <a:srgbClr val="172D30"/>
                </a:solidFill>
                <a:latin typeface="Arial" pitchFamily="34" charset="0"/>
                <a:ea typeface="Arial" pitchFamily="34" charset="-122"/>
                <a:cs typeface="Arial" pitchFamily="34" charset="-120"/>
              </a:rPr>
              <a:t>→</a:t>
            </a:r>
            <a:endParaRPr lang="en-US" sz="1700" dirty="0"/>
          </a:p>
        </p:txBody>
      </p:sp>
      <p:sp>
        <p:nvSpPr>
          <p:cNvPr id="13" name="Shape 11"/>
          <p:cNvSpPr/>
          <p:nvPr/>
        </p:nvSpPr>
        <p:spPr>
          <a:xfrm>
            <a:off x="3291840" y="2057400"/>
            <a:ext cx="2560320" cy="1280160"/>
          </a:xfrm>
          <a:prstGeom prst="rect">
            <a:avLst/>
          </a:prstGeom>
          <a:solidFill>
            <a:srgbClr val="F0F4F3"/>
          </a:solidFill>
          <a:ln w="7620">
            <a:solidFill>
              <a:srgbClr val="D7E0DE"/>
            </a:solidFill>
            <a:prstDash val="solid"/>
          </a:ln>
        </p:spPr>
      </p:sp>
      <p:sp>
        <p:nvSpPr>
          <p:cNvPr id="14" name="Text 12"/>
          <p:cNvSpPr/>
          <p:nvPr/>
        </p:nvSpPr>
        <p:spPr>
          <a:xfrm>
            <a:off x="3438144" y="2203704"/>
            <a:ext cx="2267712" cy="987552"/>
          </a:xfrm>
          <a:prstGeom prst="rect">
            <a:avLst/>
          </a:prstGeom>
          <a:noFill/>
          <a:ln/>
        </p:spPr>
        <p:txBody>
          <a:bodyPr wrap="square" lIns="0" tIns="0" rIns="0" bIns="0" rtlCol="0" anchor="t"/>
          <a:lstStyle/>
          <a:p>
            <a:pPr indent="0" marL="0">
              <a:buNone/>
            </a:pPr>
            <a:endParaRPr lang="en-US" sz="1600" dirty="0"/>
          </a:p>
        </p:txBody>
      </p:sp>
      <p:sp>
        <p:nvSpPr>
          <p:cNvPr id="15" name="Text 13"/>
          <p:cNvSpPr/>
          <p:nvPr/>
        </p:nvSpPr>
        <p:spPr>
          <a:xfrm>
            <a:off x="3447288" y="2231136"/>
            <a:ext cx="2249424" cy="320040"/>
          </a:xfrm>
          <a:prstGeom prst="rect">
            <a:avLst/>
          </a:prstGeom>
          <a:noFill/>
          <a:ln/>
        </p:spPr>
        <p:txBody>
          <a:bodyPr wrap="square" lIns="0" tIns="0" rIns="0" bIns="0" rtlCol="0" anchor="t"/>
          <a:lstStyle/>
          <a:p>
            <a:pPr indent="0" marL="0">
              <a:buNone/>
            </a:pPr>
            <a:r>
              <a:rPr lang="en-US" sz="2200" b="1" dirty="0">
                <a:solidFill>
                  <a:srgbClr val="172D30"/>
                </a:solidFill>
                <a:latin typeface="Arial" pitchFamily="34" charset="0"/>
                <a:ea typeface="Arial" pitchFamily="34" charset="-122"/>
                <a:cs typeface="Arial" pitchFamily="34" charset="-120"/>
              </a:rPr>
              <a:t>FLAG</a:t>
            </a:r>
            <a:endParaRPr lang="en-US" sz="2200" dirty="0"/>
          </a:p>
        </p:txBody>
      </p:sp>
      <p:sp>
        <p:nvSpPr>
          <p:cNvPr id="16" name="Text 14"/>
          <p:cNvSpPr/>
          <p:nvPr/>
        </p:nvSpPr>
        <p:spPr>
          <a:xfrm>
            <a:off x="3447288" y="2679192"/>
            <a:ext cx="2249424" cy="502920"/>
          </a:xfrm>
          <a:prstGeom prst="rect">
            <a:avLst/>
          </a:prstGeom>
          <a:noFill/>
          <a:ln/>
        </p:spPr>
        <p:txBody>
          <a:bodyPr wrap="square" lIns="0" tIns="0" rIns="0" bIns="0" rtlCol="0" anchor="t"/>
          <a:lstStyle/>
          <a:p>
            <a:pPr indent="0" marL="0">
              <a:buNone/>
            </a:pPr>
            <a:r>
              <a:rPr lang="en-US" sz="1500" dirty="0">
                <a:solidFill>
                  <a:srgbClr val="202B2D"/>
                </a:solidFill>
                <a:latin typeface="Arial" pitchFamily="34" charset="0"/>
                <a:ea typeface="Arial" pitchFamily="34" charset="-122"/>
                <a:cs typeface="Arial" pitchFamily="34" charset="-120"/>
              </a:rPr>
              <a:t>Alert raised; transfer may proceed.</a:t>
            </a:r>
            <a:endParaRPr lang="en-US" sz="1500" dirty="0"/>
          </a:p>
        </p:txBody>
      </p:sp>
      <p:sp>
        <p:nvSpPr>
          <p:cNvPr id="17" name="Text 15"/>
          <p:cNvSpPr/>
          <p:nvPr/>
        </p:nvSpPr>
        <p:spPr>
          <a:xfrm>
            <a:off x="5888736" y="2468880"/>
            <a:ext cx="210312" cy="320040"/>
          </a:xfrm>
          <a:prstGeom prst="rect">
            <a:avLst/>
          </a:prstGeom>
          <a:noFill/>
          <a:ln/>
        </p:spPr>
        <p:txBody>
          <a:bodyPr wrap="square" lIns="0" tIns="0" rIns="0" bIns="0" rtlCol="0" anchor="t"/>
          <a:lstStyle/>
          <a:p>
            <a:pPr indent="0" marL="0">
              <a:buNone/>
            </a:pPr>
            <a:r>
              <a:rPr lang="en-US" sz="1700" dirty="0">
                <a:solidFill>
                  <a:srgbClr val="172D30"/>
                </a:solidFill>
                <a:latin typeface="Arial" pitchFamily="34" charset="0"/>
                <a:ea typeface="Arial" pitchFamily="34" charset="-122"/>
                <a:cs typeface="Arial" pitchFamily="34" charset="-120"/>
              </a:rPr>
              <a:t>→</a:t>
            </a:r>
            <a:endParaRPr lang="en-US" sz="1700" dirty="0"/>
          </a:p>
        </p:txBody>
      </p:sp>
      <p:sp>
        <p:nvSpPr>
          <p:cNvPr id="18" name="Shape 16"/>
          <p:cNvSpPr/>
          <p:nvPr/>
        </p:nvSpPr>
        <p:spPr>
          <a:xfrm>
            <a:off x="6126480" y="2057400"/>
            <a:ext cx="2560320" cy="1280160"/>
          </a:xfrm>
          <a:prstGeom prst="rect">
            <a:avLst/>
          </a:prstGeom>
          <a:solidFill>
            <a:srgbClr val="F0F4F3"/>
          </a:solidFill>
          <a:ln w="7620">
            <a:solidFill>
              <a:srgbClr val="D7E0DE"/>
            </a:solidFill>
            <a:prstDash val="solid"/>
          </a:ln>
        </p:spPr>
      </p:sp>
      <p:sp>
        <p:nvSpPr>
          <p:cNvPr id="19" name="Text 17"/>
          <p:cNvSpPr/>
          <p:nvPr/>
        </p:nvSpPr>
        <p:spPr>
          <a:xfrm>
            <a:off x="6272784" y="2203704"/>
            <a:ext cx="2267712" cy="987552"/>
          </a:xfrm>
          <a:prstGeom prst="rect">
            <a:avLst/>
          </a:prstGeom>
          <a:noFill/>
          <a:ln/>
        </p:spPr>
        <p:txBody>
          <a:bodyPr wrap="square" lIns="0" tIns="0" rIns="0" bIns="0" rtlCol="0" anchor="t"/>
          <a:lstStyle/>
          <a:p>
            <a:pPr indent="0" marL="0">
              <a:buNone/>
            </a:pPr>
            <a:endParaRPr lang="en-US" sz="1600" dirty="0"/>
          </a:p>
        </p:txBody>
      </p:sp>
      <p:sp>
        <p:nvSpPr>
          <p:cNvPr id="20" name="Text 18"/>
          <p:cNvSpPr/>
          <p:nvPr/>
        </p:nvSpPr>
        <p:spPr>
          <a:xfrm>
            <a:off x="6281928" y="2231136"/>
            <a:ext cx="2249424" cy="320040"/>
          </a:xfrm>
          <a:prstGeom prst="rect">
            <a:avLst/>
          </a:prstGeom>
          <a:noFill/>
          <a:ln/>
        </p:spPr>
        <p:txBody>
          <a:bodyPr wrap="square" lIns="0" tIns="0" rIns="0" bIns="0" rtlCol="0" anchor="t"/>
          <a:lstStyle/>
          <a:p>
            <a:pPr indent="0" marL="0">
              <a:buNone/>
            </a:pPr>
            <a:r>
              <a:rPr lang="en-US" sz="2200" b="1" dirty="0">
                <a:solidFill>
                  <a:srgbClr val="172D30"/>
                </a:solidFill>
                <a:latin typeface="Arial" pitchFamily="34" charset="0"/>
                <a:ea typeface="Arial" pitchFamily="34" charset="-122"/>
                <a:cs typeface="Arial" pitchFamily="34" charset="-120"/>
              </a:rPr>
              <a:t>BLOCK</a:t>
            </a:r>
            <a:endParaRPr lang="en-US" sz="2200" dirty="0"/>
          </a:p>
        </p:txBody>
      </p:sp>
      <p:sp>
        <p:nvSpPr>
          <p:cNvPr id="21" name="Text 19"/>
          <p:cNvSpPr/>
          <p:nvPr/>
        </p:nvSpPr>
        <p:spPr>
          <a:xfrm>
            <a:off x="6281928" y="2679192"/>
            <a:ext cx="2249424" cy="502920"/>
          </a:xfrm>
          <a:prstGeom prst="rect">
            <a:avLst/>
          </a:prstGeom>
          <a:noFill/>
          <a:ln/>
        </p:spPr>
        <p:txBody>
          <a:bodyPr wrap="square" lIns="0" tIns="0" rIns="0" bIns="0" rtlCol="0" anchor="t"/>
          <a:lstStyle/>
          <a:p>
            <a:pPr indent="0" marL="0">
              <a:buNone/>
            </a:pPr>
            <a:r>
              <a:rPr lang="en-US" sz="1500" dirty="0">
                <a:solidFill>
                  <a:srgbClr val="202B2D"/>
                </a:solidFill>
                <a:latin typeface="Arial" pitchFamily="34" charset="0"/>
                <a:ea typeface="Arial" pitchFamily="34" charset="-122"/>
                <a:cs typeface="Arial" pitchFamily="34" charset="-120"/>
              </a:rPr>
              <a:t>Simulator stops the campaign.</a:t>
            </a:r>
            <a:endParaRPr lang="en-US" sz="1500" dirty="0"/>
          </a:p>
        </p:txBody>
      </p:sp>
      <p:sp>
        <p:nvSpPr>
          <p:cNvPr id="22" name="Text 20"/>
          <p:cNvSpPr/>
          <p:nvPr/>
        </p:nvSpPr>
        <p:spPr>
          <a:xfrm>
            <a:off x="457200" y="3611880"/>
            <a:ext cx="8229600" cy="548640"/>
          </a:xfrm>
          <a:prstGeom prst="rect">
            <a:avLst/>
          </a:prstGeom>
          <a:noFill/>
          <a:ln/>
        </p:spPr>
        <p:txBody>
          <a:bodyPr wrap="square" lIns="0" tIns="0" rIns="0" bIns="0" rtlCol="0" anchor="t"/>
          <a:lstStyle/>
          <a:p>
            <a:pPr indent="0" marL="0">
              <a:buNone/>
            </a:pPr>
            <a:r>
              <a:rPr lang="en-US" sz="1900" dirty="0">
                <a:solidFill>
                  <a:srgbClr val="202B2D"/>
                </a:solidFill>
                <a:latin typeface="Arial" pitchFamily="34" charset="0"/>
                <a:ea typeface="Arial" pitchFamily="34" charset="-122"/>
                <a:cs typeface="Arial" pitchFamily="34" charset="-120"/>
              </a:rPr>
              <a:t>Measure target completion, first alert, first block and gross simulated debit.</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47472"/>
            <a:ext cx="8229600" cy="868680"/>
          </a:xfrm>
          <a:prstGeom prst="rect">
            <a:avLst/>
          </a:prstGeom>
          <a:noFill/>
          <a:ln/>
        </p:spPr>
        <p:txBody>
          <a:bodyPr wrap="square" lIns="0" tIns="0" rIns="0" bIns="0" rtlCol="0" anchor="t"/>
          <a:lstStyle/>
          <a:p>
            <a:pPr indent="0" marL="0">
              <a:buNone/>
            </a:pPr>
            <a:r>
              <a:rPr lang="en-US" sz="3400" b="1" dirty="0">
                <a:solidFill>
                  <a:srgbClr val="172D30"/>
                </a:solidFill>
                <a:latin typeface="Arial" pitchFamily="34" charset="0"/>
                <a:ea typeface="Arial" pitchFamily="34" charset="-122"/>
                <a:cs typeface="Arial" pitchFamily="34" charset="-120"/>
              </a:rPr>
              <a:t>How the prototype works</a:t>
            </a:r>
            <a:endParaRPr lang="en-US" sz="3400" dirty="0"/>
          </a:p>
        </p:txBody>
      </p:sp>
      <p:sp>
        <p:nvSpPr>
          <p:cNvPr id="3" name="Shape 1"/>
          <p:cNvSpPr/>
          <p:nvPr/>
        </p:nvSpPr>
        <p:spPr>
          <a:xfrm>
            <a:off x="8503920" y="4663440"/>
            <a:ext cx="292608" cy="292608"/>
          </a:xfrm>
          <a:prstGeom prst="ellipse">
            <a:avLst/>
          </a:prstGeom>
          <a:solidFill>
            <a:srgbClr val="01696F"/>
          </a:solidFill>
          <a:ln w="12700">
            <a:solidFill>
              <a:srgbClr val="01696F">
                <a:alpha val="0"/>
              </a:srgbClr>
            </a:solidFill>
            <a:prstDash val="solid"/>
          </a:ln>
        </p:spPr>
      </p:sp>
      <p:sp>
        <p:nvSpPr>
          <p:cNvPr id="4" name="Text 2"/>
          <p:cNvSpPr/>
          <p:nvPr/>
        </p:nvSpPr>
        <p:spPr>
          <a:xfrm>
            <a:off x="8503920" y="4695444"/>
            <a:ext cx="292608" cy="182880"/>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5" name="Text 3"/>
          <p:cNvSpPr/>
          <p:nvPr/>
        </p:nvSpPr>
        <p:spPr>
          <a:xfrm>
            <a:off x="457200" y="4663440"/>
            <a:ext cx="4206240" cy="201168"/>
          </a:xfrm>
          <a:prstGeom prst="rect">
            <a:avLst/>
          </a:prstGeom>
          <a:noFill/>
          <a:ln/>
        </p:spPr>
        <p:txBody>
          <a:bodyPr wrap="square" lIns="0" tIns="0" rIns="0" bIns="0" rtlCol="0" anchor="t"/>
          <a:lstStyle/>
          <a:p>
            <a:pPr indent="0" marL="0">
              <a:buNone/>
            </a:pPr>
            <a:r>
              <a:rPr lang="en-US" sz="1000" dirty="0">
                <a:solidFill>
                  <a:srgbClr val="465E62"/>
                </a:solidFill>
                <a:latin typeface="Arial" pitchFamily="34" charset="0"/>
                <a:ea typeface="Arial" pitchFamily="34" charset="-122"/>
                <a:cs typeface="Arial" pitchFamily="34" charset="-120"/>
              </a:rPr>
              <a:t>SYNTHETIC RESEARCH  |  GATE C HOLD</a:t>
            </a:r>
            <a:endParaRPr lang="en-US" sz="1000" dirty="0"/>
          </a:p>
        </p:txBody>
      </p:sp>
      <p:sp>
        <p:nvSpPr>
          <p:cNvPr id="6" name="Text 4"/>
          <p:cNvSpPr/>
          <p:nvPr/>
        </p:nvSpPr>
        <p:spPr>
          <a:xfrm>
            <a:off x="457200" y="4370832"/>
            <a:ext cx="8001000" cy="201168"/>
          </a:xfrm>
          <a:prstGeom prst="rect">
            <a:avLst/>
          </a:prstGeom>
          <a:noFill/>
          <a:ln/>
        </p:spPr>
        <p:txBody>
          <a:bodyPr wrap="square" lIns="0" tIns="0" rIns="0" bIns="0" rtlCol="0" anchor="ctr"/>
          <a:lstStyle/>
          <a:p>
            <a:pPr indent="0" marL="0">
              <a:buNone/>
            </a:pPr>
            <a:r>
              <a:rPr lang="en-US" sz="1000" dirty="0">
                <a:solidFill>
                  <a:srgbClr val="465E62"/>
                </a:solidFill>
                <a:latin typeface="Arial" pitchFamily="34" charset="0"/>
                <a:ea typeface="Arial" pitchFamily="34" charset="-122"/>
                <a:cs typeface="Arial" pitchFamily="34" charset="-120"/>
              </a:rPr>
              <a:t>Source: </a:t>
            </a:r>
            <a:r>
              <a:rPr lang="en-US" sz="1000" u="sng" dirty="0">
                <a:solidFill>
                  <a:srgbClr val="01696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prototype source and retained records</a:t>
            </a:r>
            <a:endParaRPr lang="en-US" sz="1000" dirty="0"/>
          </a:p>
        </p:txBody>
      </p:sp>
      <p:sp>
        <p:nvSpPr>
          <p:cNvPr id="7" name="Shape 5"/>
          <p:cNvSpPr/>
          <p:nvPr/>
        </p:nvSpPr>
        <p:spPr>
          <a:xfrm>
            <a:off x="457200" y="1508760"/>
            <a:ext cx="1783080" cy="868680"/>
          </a:xfrm>
          <a:prstGeom prst="rect">
            <a:avLst/>
          </a:prstGeom>
          <a:solidFill>
            <a:srgbClr val="F0F4F3"/>
          </a:solidFill>
          <a:ln w="7620">
            <a:solidFill>
              <a:srgbClr val="D7E0DE"/>
            </a:solidFill>
            <a:prstDash val="solid"/>
          </a:ln>
        </p:spPr>
      </p:sp>
      <p:sp>
        <p:nvSpPr>
          <p:cNvPr id="8" name="Text 6"/>
          <p:cNvSpPr/>
          <p:nvPr/>
        </p:nvSpPr>
        <p:spPr>
          <a:xfrm>
            <a:off x="603504" y="1655064"/>
            <a:ext cx="1490472" cy="576072"/>
          </a:xfrm>
          <a:prstGeom prst="rect">
            <a:avLst/>
          </a:prstGeom>
          <a:noFill/>
          <a:ln/>
        </p:spPr>
        <p:txBody>
          <a:bodyPr wrap="square" lIns="0" tIns="0" rIns="0" bIns="0" rtlCol="0" anchor="t"/>
          <a:lstStyle/>
          <a:p>
            <a:pPr indent="0" marL="0">
              <a:buNone/>
            </a:pPr>
            <a:r>
              <a:rPr lang="en-US" sz="1600" dirty="0">
                <a:solidFill>
                  <a:srgbClr val="202B2D"/>
                </a:solidFill>
                <a:latin typeface="Arial" pitchFamily="34" charset="0"/>
                <a:ea typeface="Arial" pitchFamily="34" charset="-122"/>
                <a:cs typeface="Arial" pitchFamily="34" charset="-120"/>
              </a:rPr>
              <a:t>Campaign</a:t>
            </a:r>
            <a:endParaRPr lang="en-US" sz="1600" dirty="0"/>
          </a:p>
          <a:p>
            <a:pPr indent="0" marL="0">
              <a:buNone/>
            </a:pPr>
            <a:r>
              <a:rPr lang="en-US" sz="1600" dirty="0">
                <a:solidFill>
                  <a:srgbClr val="202B2D"/>
                </a:solidFill>
                <a:latin typeface="Arial" pitchFamily="34" charset="0"/>
                <a:ea typeface="Arial" pitchFamily="34" charset="-122"/>
                <a:cs typeface="Arial" pitchFamily="34" charset="-120"/>
              </a:rPr>
              <a:t>workload</a:t>
            </a:r>
            <a:endParaRPr lang="en-US" sz="1600" dirty="0"/>
          </a:p>
        </p:txBody>
      </p:sp>
      <p:sp>
        <p:nvSpPr>
          <p:cNvPr id="9" name="Text 7"/>
          <p:cNvSpPr/>
          <p:nvPr/>
        </p:nvSpPr>
        <p:spPr>
          <a:xfrm>
            <a:off x="2286000" y="1755648"/>
            <a:ext cx="274320" cy="365760"/>
          </a:xfrm>
          <a:prstGeom prst="rect">
            <a:avLst/>
          </a:prstGeom>
          <a:noFill/>
          <a:ln/>
        </p:spPr>
        <p:txBody>
          <a:bodyPr wrap="square" lIns="0" tIns="0" rIns="0" bIns="0" rtlCol="0" anchor="t"/>
          <a:lstStyle/>
          <a:p>
            <a:pPr indent="0" marL="0">
              <a:buNone/>
            </a:pPr>
            <a:r>
              <a:rPr lang="en-US" sz="2300" dirty="0">
                <a:solidFill>
                  <a:srgbClr val="172D30"/>
                </a:solidFill>
                <a:latin typeface="Arial" pitchFamily="34" charset="0"/>
                <a:ea typeface="Arial" pitchFamily="34" charset="-122"/>
                <a:cs typeface="Arial" pitchFamily="34" charset="-120"/>
              </a:rPr>
              <a:t>→</a:t>
            </a:r>
            <a:endParaRPr lang="en-US" sz="2300" dirty="0"/>
          </a:p>
        </p:txBody>
      </p:sp>
      <p:sp>
        <p:nvSpPr>
          <p:cNvPr id="10" name="Shape 8"/>
          <p:cNvSpPr/>
          <p:nvPr/>
        </p:nvSpPr>
        <p:spPr>
          <a:xfrm>
            <a:off x="2606040" y="1508760"/>
            <a:ext cx="1783080" cy="868680"/>
          </a:xfrm>
          <a:prstGeom prst="rect">
            <a:avLst/>
          </a:prstGeom>
          <a:solidFill>
            <a:srgbClr val="F0F4F3"/>
          </a:solidFill>
          <a:ln w="7620">
            <a:solidFill>
              <a:srgbClr val="D7E0DE"/>
            </a:solidFill>
            <a:prstDash val="solid"/>
          </a:ln>
        </p:spPr>
      </p:sp>
      <p:sp>
        <p:nvSpPr>
          <p:cNvPr id="11" name="Text 9"/>
          <p:cNvSpPr/>
          <p:nvPr/>
        </p:nvSpPr>
        <p:spPr>
          <a:xfrm>
            <a:off x="2752344" y="1655064"/>
            <a:ext cx="1490472" cy="576072"/>
          </a:xfrm>
          <a:prstGeom prst="rect">
            <a:avLst/>
          </a:prstGeom>
          <a:noFill/>
          <a:ln/>
        </p:spPr>
        <p:txBody>
          <a:bodyPr wrap="square" lIns="0" tIns="0" rIns="0" bIns="0" rtlCol="0" anchor="t"/>
          <a:lstStyle/>
          <a:p>
            <a:pPr indent="0" marL="0">
              <a:buNone/>
            </a:pPr>
            <a:r>
              <a:rPr lang="en-US" sz="1600" dirty="0">
                <a:solidFill>
                  <a:srgbClr val="202B2D"/>
                </a:solidFill>
                <a:latin typeface="Arial" pitchFamily="34" charset="0"/>
                <a:ea typeface="Arial" pitchFamily="34" charset="-122"/>
                <a:cs typeface="Arial" pitchFamily="34" charset="-120"/>
              </a:rPr>
              <a:t>Attacker</a:t>
            </a:r>
            <a:endParaRPr lang="en-US" sz="1600" dirty="0"/>
          </a:p>
          <a:p>
            <a:pPr indent="0" marL="0">
              <a:buNone/>
            </a:pPr>
            <a:r>
              <a:rPr lang="en-US" sz="1600" dirty="0">
                <a:solidFill>
                  <a:srgbClr val="202B2D"/>
                </a:solidFill>
                <a:latin typeface="Arial" pitchFamily="34" charset="0"/>
                <a:ea typeface="Arial" pitchFamily="34" charset="-122"/>
                <a:cs typeface="Arial" pitchFamily="34" charset="-120"/>
              </a:rPr>
              <a:t>actions</a:t>
            </a:r>
            <a:endParaRPr lang="en-US" sz="1600" dirty="0"/>
          </a:p>
        </p:txBody>
      </p:sp>
      <p:sp>
        <p:nvSpPr>
          <p:cNvPr id="12" name="Text 10"/>
          <p:cNvSpPr/>
          <p:nvPr/>
        </p:nvSpPr>
        <p:spPr>
          <a:xfrm>
            <a:off x="4434840" y="1755648"/>
            <a:ext cx="274320" cy="365760"/>
          </a:xfrm>
          <a:prstGeom prst="rect">
            <a:avLst/>
          </a:prstGeom>
          <a:noFill/>
          <a:ln/>
        </p:spPr>
        <p:txBody>
          <a:bodyPr wrap="square" lIns="0" tIns="0" rIns="0" bIns="0" rtlCol="0" anchor="t"/>
          <a:lstStyle/>
          <a:p>
            <a:pPr indent="0" marL="0">
              <a:buNone/>
            </a:pPr>
            <a:r>
              <a:rPr lang="en-US" sz="2300" dirty="0">
                <a:solidFill>
                  <a:srgbClr val="172D30"/>
                </a:solidFill>
                <a:latin typeface="Arial" pitchFamily="34" charset="0"/>
                <a:ea typeface="Arial" pitchFamily="34" charset="-122"/>
                <a:cs typeface="Arial" pitchFamily="34" charset="-120"/>
              </a:rPr>
              <a:t>→</a:t>
            </a:r>
            <a:endParaRPr lang="en-US" sz="2300" dirty="0"/>
          </a:p>
        </p:txBody>
      </p:sp>
      <p:sp>
        <p:nvSpPr>
          <p:cNvPr id="13" name="Shape 11"/>
          <p:cNvSpPr/>
          <p:nvPr/>
        </p:nvSpPr>
        <p:spPr>
          <a:xfrm>
            <a:off x="4754880" y="1508760"/>
            <a:ext cx="1783080" cy="868680"/>
          </a:xfrm>
          <a:prstGeom prst="rect">
            <a:avLst/>
          </a:prstGeom>
          <a:solidFill>
            <a:srgbClr val="F0F4F3"/>
          </a:solidFill>
          <a:ln w="7620">
            <a:solidFill>
              <a:srgbClr val="D7E0DE"/>
            </a:solidFill>
            <a:prstDash val="solid"/>
          </a:ln>
        </p:spPr>
      </p:sp>
      <p:sp>
        <p:nvSpPr>
          <p:cNvPr id="14" name="Text 12"/>
          <p:cNvSpPr/>
          <p:nvPr/>
        </p:nvSpPr>
        <p:spPr>
          <a:xfrm>
            <a:off x="4901184" y="1655064"/>
            <a:ext cx="1490472" cy="576072"/>
          </a:xfrm>
          <a:prstGeom prst="rect">
            <a:avLst/>
          </a:prstGeom>
          <a:noFill/>
          <a:ln/>
        </p:spPr>
        <p:txBody>
          <a:bodyPr wrap="square" lIns="0" tIns="0" rIns="0" bIns="0" rtlCol="0" anchor="t"/>
          <a:lstStyle/>
          <a:p>
            <a:pPr indent="0" marL="0">
              <a:buNone/>
            </a:pPr>
            <a:r>
              <a:rPr lang="en-US" sz="1600" dirty="0">
                <a:solidFill>
                  <a:srgbClr val="202B2D"/>
                </a:solidFill>
                <a:latin typeface="Arial" pitchFamily="34" charset="0"/>
                <a:ea typeface="Arial" pitchFamily="34" charset="-122"/>
                <a:cs typeface="Arial" pitchFamily="34" charset="-120"/>
              </a:rPr>
              <a:t>Ledger +</a:t>
            </a:r>
            <a:endParaRPr lang="en-US" sz="1600" dirty="0"/>
          </a:p>
          <a:p>
            <a:pPr indent="0" marL="0">
              <a:buNone/>
            </a:pPr>
            <a:r>
              <a:rPr lang="en-US" sz="1600" dirty="0">
                <a:solidFill>
                  <a:srgbClr val="202B2D"/>
                </a:solidFill>
                <a:latin typeface="Arial" pitchFamily="34" charset="0"/>
                <a:ea typeface="Arial" pitchFamily="34" charset="-122"/>
                <a:cs typeface="Arial" pitchFamily="34" charset="-120"/>
              </a:rPr>
              <a:t>detector</a:t>
            </a:r>
            <a:endParaRPr lang="en-US" sz="1600" dirty="0"/>
          </a:p>
        </p:txBody>
      </p:sp>
      <p:sp>
        <p:nvSpPr>
          <p:cNvPr id="15" name="Text 13"/>
          <p:cNvSpPr/>
          <p:nvPr/>
        </p:nvSpPr>
        <p:spPr>
          <a:xfrm>
            <a:off x="6583680" y="1755648"/>
            <a:ext cx="274320" cy="365760"/>
          </a:xfrm>
          <a:prstGeom prst="rect">
            <a:avLst/>
          </a:prstGeom>
          <a:noFill/>
          <a:ln/>
        </p:spPr>
        <p:txBody>
          <a:bodyPr wrap="square" lIns="0" tIns="0" rIns="0" bIns="0" rtlCol="0" anchor="t"/>
          <a:lstStyle/>
          <a:p>
            <a:pPr indent="0" marL="0">
              <a:buNone/>
            </a:pPr>
            <a:r>
              <a:rPr lang="en-US" sz="2300" dirty="0">
                <a:solidFill>
                  <a:srgbClr val="172D30"/>
                </a:solidFill>
                <a:latin typeface="Arial" pitchFamily="34" charset="0"/>
                <a:ea typeface="Arial" pitchFamily="34" charset="-122"/>
                <a:cs typeface="Arial" pitchFamily="34" charset="-120"/>
              </a:rPr>
              <a:t>→</a:t>
            </a:r>
            <a:endParaRPr lang="en-US" sz="2300" dirty="0"/>
          </a:p>
        </p:txBody>
      </p:sp>
      <p:sp>
        <p:nvSpPr>
          <p:cNvPr id="16" name="Shape 14"/>
          <p:cNvSpPr/>
          <p:nvPr/>
        </p:nvSpPr>
        <p:spPr>
          <a:xfrm>
            <a:off x="6903720" y="1508760"/>
            <a:ext cx="1783080" cy="868680"/>
          </a:xfrm>
          <a:prstGeom prst="rect">
            <a:avLst/>
          </a:prstGeom>
          <a:solidFill>
            <a:srgbClr val="F0F4F3"/>
          </a:solidFill>
          <a:ln w="7620">
            <a:solidFill>
              <a:srgbClr val="D7E0DE"/>
            </a:solidFill>
            <a:prstDash val="solid"/>
          </a:ln>
        </p:spPr>
      </p:sp>
      <p:sp>
        <p:nvSpPr>
          <p:cNvPr id="17" name="Text 15"/>
          <p:cNvSpPr/>
          <p:nvPr/>
        </p:nvSpPr>
        <p:spPr>
          <a:xfrm>
            <a:off x="7050024" y="1655064"/>
            <a:ext cx="1490472" cy="576072"/>
          </a:xfrm>
          <a:prstGeom prst="rect">
            <a:avLst/>
          </a:prstGeom>
          <a:noFill/>
          <a:ln/>
        </p:spPr>
        <p:txBody>
          <a:bodyPr wrap="square" lIns="0" tIns="0" rIns="0" bIns="0" rtlCol="0" anchor="t"/>
          <a:lstStyle/>
          <a:p>
            <a:pPr indent="0" marL="0">
              <a:buNone/>
            </a:pPr>
            <a:r>
              <a:rPr lang="en-US" sz="1600" dirty="0">
                <a:solidFill>
                  <a:srgbClr val="202B2D"/>
                </a:solidFill>
                <a:latin typeface="Arial" pitchFamily="34" charset="0"/>
                <a:ea typeface="Arial" pitchFamily="34" charset="-122"/>
                <a:cs typeface="Arial" pitchFamily="34" charset="-120"/>
              </a:rPr>
              <a:t>Recorded</a:t>
            </a:r>
            <a:endParaRPr lang="en-US" sz="1600" dirty="0"/>
          </a:p>
          <a:p>
            <a:pPr indent="0" marL="0">
              <a:buNone/>
            </a:pPr>
            <a:r>
              <a:rPr lang="en-US" sz="1600" dirty="0">
                <a:solidFill>
                  <a:srgbClr val="202B2D"/>
                </a:solidFill>
                <a:latin typeface="Arial" pitchFamily="34" charset="0"/>
                <a:ea typeface="Arial" pitchFamily="34" charset="-122"/>
                <a:cs typeface="Arial" pitchFamily="34" charset="-120"/>
              </a:rPr>
              <a:t>outcomes</a:t>
            </a:r>
            <a:endParaRPr lang="en-US" sz="1600" dirty="0"/>
          </a:p>
        </p:txBody>
      </p:sp>
      <p:sp>
        <p:nvSpPr>
          <p:cNvPr id="18" name="Text 16"/>
          <p:cNvSpPr/>
          <p:nvPr/>
        </p:nvSpPr>
        <p:spPr>
          <a:xfrm>
            <a:off x="457200" y="2596896"/>
            <a:ext cx="8229600" cy="365760"/>
          </a:xfrm>
          <a:prstGeom prst="rect">
            <a:avLst/>
          </a:prstGeom>
          <a:noFill/>
          <a:ln/>
        </p:spPr>
        <p:txBody>
          <a:bodyPr wrap="square" lIns="0" tIns="0" rIns="0" bIns="0" rtlCol="0" anchor="t"/>
          <a:lstStyle/>
          <a:p>
            <a:pPr indent="0" marL="0">
              <a:buNone/>
            </a:pPr>
            <a:r>
              <a:rPr lang="en-US" sz="1600" dirty="0">
                <a:solidFill>
                  <a:srgbClr val="01696F"/>
                </a:solidFill>
                <a:latin typeface="Arial" pitchFamily="34" charset="0"/>
                <a:ea typeface="Arial" pitchFamily="34" charset="-122"/>
                <a:cs typeface="Arial" pitchFamily="34" charset="-120"/>
              </a:rPr>
              <a:t>Feedback: detector → adaptive attacker (public decisions only).</a:t>
            </a:r>
            <a:endParaRPr lang="en-US" sz="1600" dirty="0"/>
          </a:p>
        </p:txBody>
      </p:sp>
      <p:sp>
        <p:nvSpPr>
          <p:cNvPr id="19" name="Text 17"/>
          <p:cNvSpPr/>
          <p:nvPr/>
        </p:nvSpPr>
        <p:spPr>
          <a:xfrm>
            <a:off x="457200" y="3154680"/>
            <a:ext cx="3840480" cy="320040"/>
          </a:xfrm>
          <a:prstGeom prst="rect">
            <a:avLst/>
          </a:prstGeom>
          <a:noFill/>
          <a:ln/>
        </p:spPr>
        <p:txBody>
          <a:bodyPr wrap="square" lIns="0" tIns="0" rIns="0" bIns="0" rtlCol="0" anchor="t"/>
          <a:lstStyle/>
          <a:p>
            <a:pPr indent="0" marL="0">
              <a:buNone/>
            </a:pPr>
            <a:r>
              <a:rPr lang="en-US" sz="2000" b="1" dirty="0">
                <a:solidFill>
                  <a:srgbClr val="172D30"/>
                </a:solidFill>
                <a:latin typeface="Arial" pitchFamily="34" charset="0"/>
                <a:ea typeface="Arial" pitchFamily="34" charset="-122"/>
                <a:cs typeface="Arial" pitchFamily="34" charset="-120"/>
              </a:rPr>
              <a:t>Two saved detectors</a:t>
            </a:r>
            <a:endParaRPr lang="en-US" sz="2000" dirty="0"/>
          </a:p>
        </p:txBody>
      </p:sp>
      <p:sp>
        <p:nvSpPr>
          <p:cNvPr id="20" name="Text 18"/>
          <p:cNvSpPr/>
          <p:nvPr/>
        </p:nvSpPr>
        <p:spPr>
          <a:xfrm>
            <a:off x="457200" y="3621024"/>
            <a:ext cx="3749040" cy="640080"/>
          </a:xfrm>
          <a:prstGeom prst="rect">
            <a:avLst/>
          </a:prstGeom>
          <a:noFill/>
          <a:ln/>
        </p:spPr>
        <p:txBody>
          <a:bodyPr wrap="square" lIns="0" tIns="0" rIns="0" bIns="0" rtlCol="0" anchor="t"/>
          <a:lstStyle/>
          <a:p>
            <a:pPr indent="0" marL="0">
              <a:buNone/>
            </a:pPr>
            <a:r>
              <a:rPr lang="en-US" sz="1500" dirty="0">
                <a:solidFill>
                  <a:srgbClr val="202B2D"/>
                </a:solidFill>
                <a:latin typeface="Arial" pitchFamily="34" charset="0"/>
                <a:ea typeface="Arial" pitchFamily="34" charset="-122"/>
                <a:cs typeface="Arial" pitchFamily="34" charset="-120"/>
              </a:rPr>
              <a:t>XGBoost and Random Forest</a:t>
            </a:r>
            <a:endParaRPr lang="en-US" sz="1500" dirty="0"/>
          </a:p>
          <a:p>
            <a:pPr indent="0" marL="0">
              <a:buNone/>
            </a:pPr>
            <a:r>
              <a:rPr lang="en-US" sz="1500" dirty="0">
                <a:solidFill>
                  <a:srgbClr val="202B2D"/>
                </a:solidFill>
                <a:latin typeface="Arial" pitchFamily="34" charset="0"/>
                <a:ea typeface="Arial" pitchFamily="34" charset="-122"/>
                <a:cs typeface="Arial" pitchFamily="34" charset="-120"/>
              </a:rPr>
              <a:t>Reused artifacts; no retraining required for the demo.</a:t>
            </a:r>
            <a:endParaRPr lang="en-US" sz="1500" dirty="0"/>
          </a:p>
        </p:txBody>
      </p:sp>
      <p:sp>
        <p:nvSpPr>
          <p:cNvPr id="21" name="Text 19"/>
          <p:cNvSpPr/>
          <p:nvPr/>
        </p:nvSpPr>
        <p:spPr>
          <a:xfrm>
            <a:off x="4572000" y="3154680"/>
            <a:ext cx="4114800" cy="320040"/>
          </a:xfrm>
          <a:prstGeom prst="rect">
            <a:avLst/>
          </a:prstGeom>
          <a:noFill/>
          <a:ln/>
        </p:spPr>
        <p:txBody>
          <a:bodyPr wrap="square" lIns="0" tIns="0" rIns="0" bIns="0" rtlCol="0" anchor="t"/>
          <a:lstStyle/>
          <a:p>
            <a:pPr indent="0" marL="0">
              <a:buNone/>
            </a:pPr>
            <a:r>
              <a:rPr lang="en-US" sz="2000" b="1" dirty="0">
                <a:solidFill>
                  <a:srgbClr val="172D30"/>
                </a:solidFill>
                <a:latin typeface="Arial" pitchFamily="34" charset="0"/>
                <a:ea typeface="Arial" pitchFamily="34" charset="-122"/>
                <a:cs typeface="Arial" pitchFamily="34" charset="-120"/>
              </a:rPr>
              <a:t>Four workload families</a:t>
            </a:r>
            <a:endParaRPr lang="en-US" sz="2000" dirty="0"/>
          </a:p>
        </p:txBody>
      </p:sp>
      <p:sp>
        <p:nvSpPr>
          <p:cNvPr id="22" name="Text 20"/>
          <p:cNvSpPr/>
          <p:nvPr/>
        </p:nvSpPr>
        <p:spPr>
          <a:xfrm>
            <a:off x="4572000" y="3621024"/>
            <a:ext cx="4114800" cy="640080"/>
          </a:xfrm>
          <a:prstGeom prst="rect">
            <a:avLst/>
          </a:prstGeom>
          <a:noFill/>
          <a:ln/>
        </p:spPr>
        <p:txBody>
          <a:bodyPr wrap="square" lIns="0" tIns="0" rIns="0" bIns="0" rtlCol="0" anchor="t"/>
          <a:lstStyle/>
          <a:p>
            <a:pPr indent="0" marL="0">
              <a:buNone/>
            </a:pPr>
            <a:r>
              <a:rPr lang="en-US" sz="1500" dirty="0">
                <a:solidFill>
                  <a:srgbClr val="202B2D"/>
                </a:solidFill>
                <a:latin typeface="Arial" pitchFamily="34" charset="0"/>
                <a:ea typeface="Arial" pitchFamily="34" charset="-122"/>
                <a:cs typeface="Arial" pitchFamily="34" charset="-120"/>
              </a:rPr>
              <a:t>High-value burst · Slow drain</a:t>
            </a:r>
            <a:endParaRPr lang="en-US" sz="1500" dirty="0"/>
          </a:p>
          <a:p>
            <a:pPr indent="0" marL="0">
              <a:buNone/>
            </a:pPr>
            <a:r>
              <a:rPr lang="en-US" sz="1500" dirty="0">
                <a:solidFill>
                  <a:srgbClr val="202B2D"/>
                </a:solidFill>
                <a:latin typeface="Arial" pitchFamily="34" charset="0"/>
                <a:ea typeface="Arial" pitchFamily="34" charset="-122"/>
                <a:cs typeface="Arial" pitchFamily="34" charset="-120"/>
              </a:rPr>
              <a:t>Gradual escalation · Beneficiary hopping</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47472"/>
            <a:ext cx="8229600" cy="868680"/>
          </a:xfrm>
          <a:prstGeom prst="rect">
            <a:avLst/>
          </a:prstGeom>
          <a:noFill/>
          <a:ln/>
        </p:spPr>
        <p:txBody>
          <a:bodyPr wrap="square" lIns="0" tIns="0" rIns="0" bIns="0" rtlCol="0" anchor="t"/>
          <a:lstStyle/>
          <a:p>
            <a:pPr indent="0" marL="0">
              <a:buNone/>
            </a:pPr>
            <a:r>
              <a:rPr lang="en-US" sz="3400" b="1" dirty="0">
                <a:solidFill>
                  <a:srgbClr val="172D30"/>
                </a:solidFill>
                <a:latin typeface="Arial" pitchFamily="34" charset="0"/>
                <a:ea typeface="Arial" pitchFamily="34" charset="-122"/>
                <a:cs typeface="Arial" pitchFamily="34" charset="-120"/>
              </a:rPr>
              <a:t>Compare four attacker controls</a:t>
            </a:r>
            <a:endParaRPr lang="en-US" sz="3400" dirty="0"/>
          </a:p>
        </p:txBody>
      </p:sp>
      <p:sp>
        <p:nvSpPr>
          <p:cNvPr id="3" name="Shape 1"/>
          <p:cNvSpPr/>
          <p:nvPr/>
        </p:nvSpPr>
        <p:spPr>
          <a:xfrm>
            <a:off x="8503920" y="4663440"/>
            <a:ext cx="292608" cy="292608"/>
          </a:xfrm>
          <a:prstGeom prst="ellipse">
            <a:avLst/>
          </a:prstGeom>
          <a:solidFill>
            <a:srgbClr val="01696F"/>
          </a:solidFill>
          <a:ln w="12700">
            <a:solidFill>
              <a:srgbClr val="01696F">
                <a:alpha val="0"/>
              </a:srgbClr>
            </a:solidFill>
            <a:prstDash val="solid"/>
          </a:ln>
        </p:spPr>
      </p:sp>
      <p:sp>
        <p:nvSpPr>
          <p:cNvPr id="4" name="Text 2"/>
          <p:cNvSpPr/>
          <p:nvPr/>
        </p:nvSpPr>
        <p:spPr>
          <a:xfrm>
            <a:off x="8503920" y="4695444"/>
            <a:ext cx="292608" cy="182880"/>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5" name="Text 3"/>
          <p:cNvSpPr/>
          <p:nvPr/>
        </p:nvSpPr>
        <p:spPr>
          <a:xfrm>
            <a:off x="457200" y="4663440"/>
            <a:ext cx="4206240" cy="201168"/>
          </a:xfrm>
          <a:prstGeom prst="rect">
            <a:avLst/>
          </a:prstGeom>
          <a:noFill/>
          <a:ln/>
        </p:spPr>
        <p:txBody>
          <a:bodyPr wrap="square" lIns="0" tIns="0" rIns="0" bIns="0" rtlCol="0" anchor="t"/>
          <a:lstStyle/>
          <a:p>
            <a:pPr indent="0" marL="0">
              <a:buNone/>
            </a:pPr>
            <a:r>
              <a:rPr lang="en-US" sz="1000" dirty="0">
                <a:solidFill>
                  <a:srgbClr val="465E62"/>
                </a:solidFill>
                <a:latin typeface="Arial" pitchFamily="34" charset="0"/>
                <a:ea typeface="Arial" pitchFamily="34" charset="-122"/>
                <a:cs typeface="Arial" pitchFamily="34" charset="-120"/>
              </a:rPr>
              <a:t>SYNTHETIC RESEARCH  |  GATE C HOLD</a:t>
            </a:r>
            <a:endParaRPr lang="en-US" sz="1000" dirty="0"/>
          </a:p>
        </p:txBody>
      </p:sp>
      <p:sp>
        <p:nvSpPr>
          <p:cNvPr id="6" name="Text 4"/>
          <p:cNvSpPr/>
          <p:nvPr/>
        </p:nvSpPr>
        <p:spPr>
          <a:xfrm>
            <a:off x="457200" y="4370832"/>
            <a:ext cx="8001000" cy="201168"/>
          </a:xfrm>
          <a:prstGeom prst="rect">
            <a:avLst/>
          </a:prstGeom>
          <a:noFill/>
          <a:ln/>
        </p:spPr>
        <p:txBody>
          <a:bodyPr wrap="square" lIns="0" tIns="0" rIns="0" bIns="0" rtlCol="0" anchor="ctr"/>
          <a:lstStyle/>
          <a:p>
            <a:pPr indent="0" marL="0">
              <a:buNone/>
            </a:pPr>
            <a:r>
              <a:rPr lang="en-US" sz="1000" dirty="0">
                <a:solidFill>
                  <a:srgbClr val="465E62"/>
                </a:solidFill>
                <a:latin typeface="Arial" pitchFamily="34" charset="0"/>
                <a:ea typeface="Arial" pitchFamily="34" charset="-122"/>
                <a:cs typeface="Arial" pitchFamily="34" charset="-120"/>
              </a:rPr>
              <a:t>Source: </a:t>
            </a:r>
            <a:r>
              <a:rPr lang="en-US" sz="1000" u="sng" dirty="0">
                <a:solidFill>
                  <a:srgbClr val="01696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prototype source and retained records</a:t>
            </a:r>
            <a:endParaRPr lang="en-US" sz="1000" dirty="0"/>
          </a:p>
        </p:txBody>
      </p:sp>
      <p:sp>
        <p:nvSpPr>
          <p:cNvPr id="7" name="Text 5"/>
          <p:cNvSpPr/>
          <p:nvPr/>
        </p:nvSpPr>
        <p:spPr>
          <a:xfrm>
            <a:off x="457200" y="1417320"/>
            <a:ext cx="2331720" cy="365760"/>
          </a:xfrm>
          <a:prstGeom prst="rect">
            <a:avLst/>
          </a:prstGeom>
          <a:noFill/>
          <a:ln/>
        </p:spPr>
        <p:txBody>
          <a:bodyPr wrap="square" lIns="0" tIns="0" rIns="0" bIns="0" rtlCol="0" anchor="t"/>
          <a:lstStyle/>
          <a:p>
            <a:pPr indent="0" marL="0">
              <a:buNone/>
            </a:pPr>
            <a:r>
              <a:rPr lang="en-US" sz="1800" b="1" dirty="0">
                <a:solidFill>
                  <a:srgbClr val="01696F"/>
                </a:solidFill>
                <a:latin typeface="Arial" pitchFamily="34" charset="0"/>
                <a:ea typeface="Arial" pitchFamily="34" charset="-122"/>
                <a:cs typeface="Arial" pitchFamily="34" charset="-120"/>
              </a:rPr>
              <a:t>Static</a:t>
            </a:r>
            <a:endParaRPr lang="en-US" sz="1800" dirty="0"/>
          </a:p>
        </p:txBody>
      </p:sp>
      <p:sp>
        <p:nvSpPr>
          <p:cNvPr id="8" name="Text 6"/>
          <p:cNvSpPr/>
          <p:nvPr/>
        </p:nvSpPr>
        <p:spPr>
          <a:xfrm>
            <a:off x="2880360" y="1417320"/>
            <a:ext cx="5806440" cy="457200"/>
          </a:xfrm>
          <a:prstGeom prst="rect">
            <a:avLst/>
          </a:prstGeom>
          <a:noFill/>
          <a:ln/>
        </p:spPr>
        <p:txBody>
          <a:bodyPr wrap="square" lIns="0" tIns="0" rIns="0" bIns="0" rtlCol="0" anchor="t"/>
          <a:lstStyle/>
          <a:p>
            <a:pPr indent="0" marL="0">
              <a:buNone/>
            </a:pPr>
            <a:r>
              <a:rPr lang="en-US" sz="1600" dirty="0">
                <a:solidFill>
                  <a:srgbClr val="202B2D"/>
                </a:solidFill>
                <a:latin typeface="Arial" pitchFamily="34" charset="0"/>
                <a:ea typeface="Arial" pitchFamily="34" charset="-122"/>
                <a:cs typeface="Arial" pitchFamily="34" charset="-120"/>
              </a:rPr>
              <a:t>Family rules that do not respond to detector feedback.</a:t>
            </a:r>
            <a:endParaRPr lang="en-US" sz="1600" dirty="0"/>
          </a:p>
        </p:txBody>
      </p:sp>
      <p:sp>
        <p:nvSpPr>
          <p:cNvPr id="9" name="Text 7"/>
          <p:cNvSpPr/>
          <p:nvPr/>
        </p:nvSpPr>
        <p:spPr>
          <a:xfrm>
            <a:off x="457200" y="2011680"/>
            <a:ext cx="2331720" cy="365760"/>
          </a:xfrm>
          <a:prstGeom prst="rect">
            <a:avLst/>
          </a:prstGeom>
          <a:noFill/>
          <a:ln/>
        </p:spPr>
        <p:txBody>
          <a:bodyPr wrap="square" lIns="0" tIns="0" rIns="0" bIns="0" rtlCol="0" anchor="t"/>
          <a:lstStyle/>
          <a:p>
            <a:pPr indent="0" marL="0">
              <a:buNone/>
            </a:pPr>
            <a:r>
              <a:rPr lang="en-US" sz="1800" b="1" dirty="0">
                <a:solidFill>
                  <a:srgbClr val="01696F"/>
                </a:solidFill>
                <a:latin typeface="Arial" pitchFamily="34" charset="0"/>
                <a:ea typeface="Arial" pitchFamily="34" charset="-122"/>
                <a:cs typeface="Arial" pitchFamily="34" charset="-120"/>
              </a:rPr>
              <a:t>Rule-adaptive</a:t>
            </a:r>
            <a:endParaRPr lang="en-US" sz="1800" dirty="0"/>
          </a:p>
        </p:txBody>
      </p:sp>
      <p:sp>
        <p:nvSpPr>
          <p:cNvPr id="10" name="Text 8"/>
          <p:cNvSpPr/>
          <p:nvPr/>
        </p:nvSpPr>
        <p:spPr>
          <a:xfrm>
            <a:off x="2880360" y="2011680"/>
            <a:ext cx="5806440" cy="457200"/>
          </a:xfrm>
          <a:prstGeom prst="rect">
            <a:avLst/>
          </a:prstGeom>
          <a:noFill/>
          <a:ln/>
        </p:spPr>
        <p:txBody>
          <a:bodyPr wrap="square" lIns="0" tIns="0" rIns="0" bIns="0" rtlCol="0" anchor="t"/>
          <a:lstStyle/>
          <a:p>
            <a:pPr indent="0" marL="0">
              <a:buNone/>
            </a:pPr>
            <a:r>
              <a:rPr lang="en-US" sz="1600" dirty="0">
                <a:solidFill>
                  <a:srgbClr val="202B2D"/>
                </a:solidFill>
                <a:latin typeface="Arial" pitchFamily="34" charset="0"/>
                <a:ea typeface="Arial" pitchFamily="34" charset="-122"/>
                <a:cs typeface="Arial" pitchFamily="34" charset="-120"/>
              </a:rPr>
              <a:t>Hand-written rules respond to observed decisions.</a:t>
            </a:r>
            <a:endParaRPr lang="en-US" sz="1600" dirty="0"/>
          </a:p>
        </p:txBody>
      </p:sp>
      <p:sp>
        <p:nvSpPr>
          <p:cNvPr id="11" name="Text 9"/>
          <p:cNvSpPr/>
          <p:nvPr/>
        </p:nvSpPr>
        <p:spPr>
          <a:xfrm>
            <a:off x="457200" y="2606040"/>
            <a:ext cx="2331720" cy="365760"/>
          </a:xfrm>
          <a:prstGeom prst="rect">
            <a:avLst/>
          </a:prstGeom>
          <a:noFill/>
          <a:ln/>
        </p:spPr>
        <p:txBody>
          <a:bodyPr wrap="square" lIns="0" tIns="0" rIns="0" bIns="0" rtlCol="0" anchor="t"/>
          <a:lstStyle/>
          <a:p>
            <a:pPr indent="0" marL="0">
              <a:buNone/>
            </a:pPr>
            <a:r>
              <a:rPr lang="en-US" sz="1800" b="1" dirty="0">
                <a:solidFill>
                  <a:srgbClr val="01696F"/>
                </a:solidFill>
                <a:latin typeface="Arial" pitchFamily="34" charset="0"/>
                <a:ea typeface="Arial" pitchFamily="34" charset="-122"/>
                <a:cs typeface="Arial" pitchFamily="34" charset="-120"/>
              </a:rPr>
              <a:t>Trained RL</a:t>
            </a:r>
            <a:endParaRPr lang="en-US" sz="1800" dirty="0"/>
          </a:p>
        </p:txBody>
      </p:sp>
      <p:sp>
        <p:nvSpPr>
          <p:cNvPr id="12" name="Text 10"/>
          <p:cNvSpPr/>
          <p:nvPr/>
        </p:nvSpPr>
        <p:spPr>
          <a:xfrm>
            <a:off x="2880360" y="2606040"/>
            <a:ext cx="5806440" cy="457200"/>
          </a:xfrm>
          <a:prstGeom prst="rect">
            <a:avLst/>
          </a:prstGeom>
          <a:noFill/>
          <a:ln/>
        </p:spPr>
        <p:txBody>
          <a:bodyPr wrap="square" lIns="0" tIns="0" rIns="0" bIns="0" rtlCol="0" anchor="t"/>
          <a:lstStyle/>
          <a:p>
            <a:pPr indent="0" marL="0">
              <a:buNone/>
            </a:pPr>
            <a:r>
              <a:rPr lang="en-US" sz="1600" dirty="0">
                <a:solidFill>
                  <a:srgbClr val="202B2D"/>
                </a:solidFill>
                <a:latin typeface="Arial" pitchFamily="34" charset="0"/>
                <a:ea typeface="Arial" pitchFamily="34" charset="-122"/>
                <a:cs typeface="Arial" pitchFamily="34" charset="-120"/>
              </a:rPr>
              <a:t>Tabular reinforcement learning (RL), trained before evaluation.</a:t>
            </a:r>
            <a:endParaRPr lang="en-US" sz="1600" dirty="0"/>
          </a:p>
        </p:txBody>
      </p:sp>
      <p:sp>
        <p:nvSpPr>
          <p:cNvPr id="13" name="Text 11"/>
          <p:cNvSpPr/>
          <p:nvPr/>
        </p:nvSpPr>
        <p:spPr>
          <a:xfrm>
            <a:off x="457200" y="3200400"/>
            <a:ext cx="2331720" cy="365760"/>
          </a:xfrm>
          <a:prstGeom prst="rect">
            <a:avLst/>
          </a:prstGeom>
          <a:noFill/>
          <a:ln/>
        </p:spPr>
        <p:txBody>
          <a:bodyPr wrap="square" lIns="0" tIns="0" rIns="0" bIns="0" rtlCol="0" anchor="t"/>
          <a:lstStyle/>
          <a:p>
            <a:pPr indent="0" marL="0">
              <a:buNone/>
            </a:pPr>
            <a:r>
              <a:rPr lang="en-US" sz="1800" b="1" dirty="0">
                <a:solidFill>
                  <a:srgbClr val="01696F"/>
                </a:solidFill>
                <a:latin typeface="Arial" pitchFamily="34" charset="0"/>
                <a:ea typeface="Arial" pitchFamily="34" charset="-122"/>
                <a:cs typeface="Arial" pitchFamily="34" charset="-120"/>
              </a:rPr>
              <a:t>Zero-Q control</a:t>
            </a:r>
            <a:endParaRPr lang="en-US" sz="1800" dirty="0"/>
          </a:p>
        </p:txBody>
      </p:sp>
      <p:sp>
        <p:nvSpPr>
          <p:cNvPr id="14" name="Text 12"/>
          <p:cNvSpPr/>
          <p:nvPr/>
        </p:nvSpPr>
        <p:spPr>
          <a:xfrm>
            <a:off x="2880360" y="3200400"/>
            <a:ext cx="5806440" cy="457200"/>
          </a:xfrm>
          <a:prstGeom prst="rect">
            <a:avLst/>
          </a:prstGeom>
          <a:noFill/>
          <a:ln/>
        </p:spPr>
        <p:txBody>
          <a:bodyPr wrap="square" lIns="0" tIns="0" rIns="0" bIns="0" rtlCol="0" anchor="t"/>
          <a:lstStyle/>
          <a:p>
            <a:pPr indent="0" marL="0">
              <a:buNone/>
            </a:pPr>
            <a:r>
              <a:rPr lang="en-US" sz="1600" dirty="0">
                <a:solidFill>
                  <a:srgbClr val="202B2D"/>
                </a:solidFill>
                <a:latin typeface="Arial" pitchFamily="34" charset="0"/>
                <a:ea typeface="Arial" pitchFamily="34" charset="-122"/>
                <a:cs typeface="Arial" pitchFamily="34" charset="-120"/>
              </a:rPr>
              <a:t>Same RL action vocabulary without learned Q values.</a:t>
            </a:r>
            <a:endParaRPr lang="en-US" sz="1600" dirty="0"/>
          </a:p>
        </p:txBody>
      </p:sp>
      <p:sp>
        <p:nvSpPr>
          <p:cNvPr id="15" name="Text 13"/>
          <p:cNvSpPr/>
          <p:nvPr/>
        </p:nvSpPr>
        <p:spPr>
          <a:xfrm>
            <a:off x="457200" y="3931920"/>
            <a:ext cx="8229600" cy="274320"/>
          </a:xfrm>
          <a:prstGeom prst="rect">
            <a:avLst/>
          </a:prstGeom>
          <a:noFill/>
          <a:ln/>
        </p:spPr>
        <p:txBody>
          <a:bodyPr wrap="square" lIns="0" tIns="0" rIns="0" bIns="0" rtlCol="0" anchor="t"/>
          <a:lstStyle/>
          <a:p>
            <a:pPr indent="0" marL="0">
              <a:buNone/>
            </a:pPr>
            <a:r>
              <a:rPr lang="en-US" sz="1500" b="1" dirty="0">
                <a:solidFill>
                  <a:srgbClr val="172D30"/>
                </a:solidFill>
                <a:latin typeface="Arial" pitchFamily="34" charset="0"/>
                <a:ea typeface="Arial" pitchFamily="34" charset="-122"/>
                <a:cs typeface="Arial" pitchFamily="34" charset="-120"/>
              </a:rPr>
              <a:t>RL: at most 64 states and 16 amount / pacing / recipient actions.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47472"/>
            <a:ext cx="8229600" cy="868680"/>
          </a:xfrm>
          <a:prstGeom prst="rect">
            <a:avLst/>
          </a:prstGeom>
          <a:noFill/>
          <a:ln/>
        </p:spPr>
        <p:txBody>
          <a:bodyPr wrap="square" lIns="0" tIns="0" rIns="0" bIns="0" rtlCol="0" anchor="t"/>
          <a:lstStyle/>
          <a:p>
            <a:pPr indent="0" marL="0">
              <a:buNone/>
            </a:pPr>
            <a:r>
              <a:rPr lang="en-US" sz="3400" b="1" dirty="0">
                <a:solidFill>
                  <a:srgbClr val="172D30"/>
                </a:solidFill>
                <a:latin typeface="Arial" pitchFamily="34" charset="0"/>
                <a:ea typeface="Arial" pitchFamily="34" charset="-122"/>
                <a:cs typeface="Arial" pitchFamily="34" charset="-120"/>
              </a:rPr>
              <a:t>What the retained records show</a:t>
            </a:r>
            <a:endParaRPr lang="en-US" sz="3400" dirty="0"/>
          </a:p>
        </p:txBody>
      </p:sp>
      <p:sp>
        <p:nvSpPr>
          <p:cNvPr id="3" name="Shape 1"/>
          <p:cNvSpPr/>
          <p:nvPr/>
        </p:nvSpPr>
        <p:spPr>
          <a:xfrm>
            <a:off x="8503920" y="4663440"/>
            <a:ext cx="292608" cy="292608"/>
          </a:xfrm>
          <a:prstGeom prst="ellipse">
            <a:avLst/>
          </a:prstGeom>
          <a:solidFill>
            <a:srgbClr val="01696F"/>
          </a:solidFill>
          <a:ln w="12700">
            <a:solidFill>
              <a:srgbClr val="01696F">
                <a:alpha val="0"/>
              </a:srgbClr>
            </a:solidFill>
            <a:prstDash val="solid"/>
          </a:ln>
        </p:spPr>
      </p:sp>
      <p:sp>
        <p:nvSpPr>
          <p:cNvPr id="4" name="Text 2"/>
          <p:cNvSpPr/>
          <p:nvPr/>
        </p:nvSpPr>
        <p:spPr>
          <a:xfrm>
            <a:off x="8503920" y="4695444"/>
            <a:ext cx="292608" cy="182880"/>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5</a:t>
            </a:r>
            <a:endParaRPr lang="en-US" sz="1000" dirty="0"/>
          </a:p>
        </p:txBody>
      </p:sp>
      <p:sp>
        <p:nvSpPr>
          <p:cNvPr id="5" name="Text 3"/>
          <p:cNvSpPr/>
          <p:nvPr/>
        </p:nvSpPr>
        <p:spPr>
          <a:xfrm>
            <a:off x="457200" y="4663440"/>
            <a:ext cx="4206240" cy="201168"/>
          </a:xfrm>
          <a:prstGeom prst="rect">
            <a:avLst/>
          </a:prstGeom>
          <a:noFill/>
          <a:ln/>
        </p:spPr>
        <p:txBody>
          <a:bodyPr wrap="square" lIns="0" tIns="0" rIns="0" bIns="0" rtlCol="0" anchor="t"/>
          <a:lstStyle/>
          <a:p>
            <a:pPr indent="0" marL="0">
              <a:buNone/>
            </a:pPr>
            <a:r>
              <a:rPr lang="en-US" sz="1000" dirty="0">
                <a:solidFill>
                  <a:srgbClr val="465E62"/>
                </a:solidFill>
                <a:latin typeface="Arial" pitchFamily="34" charset="0"/>
                <a:ea typeface="Arial" pitchFamily="34" charset="-122"/>
                <a:cs typeface="Arial" pitchFamily="34" charset="-120"/>
              </a:rPr>
              <a:t>SYNTHETIC RESEARCH  |  GATE C HOLD</a:t>
            </a:r>
            <a:endParaRPr lang="en-US" sz="1000" dirty="0"/>
          </a:p>
        </p:txBody>
      </p:sp>
      <p:sp>
        <p:nvSpPr>
          <p:cNvPr id="6" name="Text 4"/>
          <p:cNvSpPr/>
          <p:nvPr/>
        </p:nvSpPr>
        <p:spPr>
          <a:xfrm>
            <a:off x="457200" y="4370832"/>
            <a:ext cx="8001000" cy="201168"/>
          </a:xfrm>
          <a:prstGeom prst="rect">
            <a:avLst/>
          </a:prstGeom>
          <a:noFill/>
          <a:ln/>
        </p:spPr>
        <p:txBody>
          <a:bodyPr wrap="square" lIns="0" tIns="0" rIns="0" bIns="0" rtlCol="0" anchor="ctr"/>
          <a:lstStyle/>
          <a:p>
            <a:pPr indent="0" marL="0">
              <a:buNone/>
            </a:pPr>
            <a:r>
              <a:rPr lang="en-US" sz="1000" dirty="0">
                <a:solidFill>
                  <a:srgbClr val="465E62"/>
                </a:solidFill>
                <a:latin typeface="Arial" pitchFamily="34" charset="0"/>
                <a:ea typeface="Arial" pitchFamily="34" charset="-122"/>
                <a:cs typeface="Arial" pitchFamily="34" charset="-120"/>
              </a:rPr>
              <a:t>Source: </a:t>
            </a:r>
            <a:r>
              <a:rPr lang="en-US" sz="1000" u="sng" dirty="0">
                <a:solidFill>
                  <a:srgbClr val="01696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prototype source and retained records</a:t>
            </a:r>
            <a:endParaRPr lang="en-US" sz="1000" dirty="0"/>
          </a:p>
        </p:txBody>
      </p:sp>
      <p:sp>
        <p:nvSpPr>
          <p:cNvPr id="7" name="Text 5"/>
          <p:cNvSpPr/>
          <p:nvPr/>
        </p:nvSpPr>
        <p:spPr>
          <a:xfrm>
            <a:off x="457200" y="1325880"/>
            <a:ext cx="2606040" cy="502920"/>
          </a:xfrm>
          <a:prstGeom prst="rect">
            <a:avLst/>
          </a:prstGeom>
          <a:noFill/>
          <a:ln/>
        </p:spPr>
        <p:txBody>
          <a:bodyPr wrap="square" lIns="0" tIns="0" rIns="0" bIns="0" rtlCol="0" anchor="t"/>
          <a:lstStyle/>
          <a:p>
            <a:pPr indent="0" marL="0">
              <a:buNone/>
            </a:pPr>
            <a:r>
              <a:rPr lang="en-US" sz="3400" b="1" dirty="0">
                <a:solidFill>
                  <a:srgbClr val="01696F"/>
                </a:solidFill>
                <a:latin typeface="Arial" pitchFamily="34" charset="0"/>
                <a:ea typeface="Arial" pitchFamily="34" charset="-122"/>
                <a:cs typeface="Arial" pitchFamily="34" charset="-120"/>
              </a:rPr>
              <a:t>1,152</a:t>
            </a:r>
            <a:endParaRPr lang="en-US" sz="3400" dirty="0"/>
          </a:p>
        </p:txBody>
      </p:sp>
      <p:sp>
        <p:nvSpPr>
          <p:cNvPr id="8" name="Text 6"/>
          <p:cNvSpPr/>
          <p:nvPr/>
        </p:nvSpPr>
        <p:spPr>
          <a:xfrm>
            <a:off x="457200" y="1874520"/>
            <a:ext cx="2606040" cy="228600"/>
          </a:xfrm>
          <a:prstGeom prst="rect">
            <a:avLst/>
          </a:prstGeom>
          <a:noFill/>
          <a:ln/>
        </p:spPr>
        <p:txBody>
          <a:bodyPr wrap="square" lIns="0" tIns="0" rIns="0" bIns="0" rtlCol="0" anchor="t"/>
          <a:lstStyle/>
          <a:p>
            <a:pPr indent="0" marL="0">
              <a:buNone/>
            </a:pPr>
            <a:r>
              <a:rPr lang="en-US" sz="1300" dirty="0">
                <a:solidFill>
                  <a:srgbClr val="202B2D"/>
                </a:solidFill>
                <a:latin typeface="Arial" pitchFamily="34" charset="0"/>
                <a:ea typeface="Arial" pitchFamily="34" charset="-122"/>
                <a:cs typeface="Arial" pitchFamily="34" charset="-120"/>
              </a:rPr>
              <a:t>attack campaigns</a:t>
            </a:r>
            <a:endParaRPr lang="en-US" sz="1300" dirty="0"/>
          </a:p>
        </p:txBody>
      </p:sp>
      <p:sp>
        <p:nvSpPr>
          <p:cNvPr id="9" name="Text 7"/>
          <p:cNvSpPr/>
          <p:nvPr/>
        </p:nvSpPr>
        <p:spPr>
          <a:xfrm>
            <a:off x="3246120" y="1325880"/>
            <a:ext cx="2606040" cy="502920"/>
          </a:xfrm>
          <a:prstGeom prst="rect">
            <a:avLst/>
          </a:prstGeom>
          <a:noFill/>
          <a:ln/>
        </p:spPr>
        <p:txBody>
          <a:bodyPr wrap="square" lIns="0" tIns="0" rIns="0" bIns="0" rtlCol="0" anchor="t"/>
          <a:lstStyle/>
          <a:p>
            <a:pPr indent="0" marL="0">
              <a:buNone/>
            </a:pPr>
            <a:r>
              <a:rPr lang="en-US" sz="3400" b="1" dirty="0">
                <a:solidFill>
                  <a:srgbClr val="01696F"/>
                </a:solidFill>
                <a:latin typeface="Arial" pitchFamily="34" charset="0"/>
                <a:ea typeface="Arial" pitchFamily="34" charset="-122"/>
                <a:cs typeface="Arial" pitchFamily="34" charset="-120"/>
              </a:rPr>
              <a:t>4,189</a:t>
            </a:r>
            <a:endParaRPr lang="en-US" sz="3400" dirty="0"/>
          </a:p>
        </p:txBody>
      </p:sp>
      <p:sp>
        <p:nvSpPr>
          <p:cNvPr id="10" name="Text 8"/>
          <p:cNvSpPr/>
          <p:nvPr/>
        </p:nvSpPr>
        <p:spPr>
          <a:xfrm>
            <a:off x="3246120" y="1874520"/>
            <a:ext cx="2606040" cy="228600"/>
          </a:xfrm>
          <a:prstGeom prst="rect">
            <a:avLst/>
          </a:prstGeom>
          <a:noFill/>
          <a:ln/>
        </p:spPr>
        <p:txBody>
          <a:bodyPr wrap="square" lIns="0" tIns="0" rIns="0" bIns="0" rtlCol="0" anchor="t"/>
          <a:lstStyle/>
          <a:p>
            <a:pPr indent="0" marL="0">
              <a:buNone/>
            </a:pPr>
            <a:r>
              <a:rPr lang="en-US" sz="1300" dirty="0">
                <a:solidFill>
                  <a:srgbClr val="202B2D"/>
                </a:solidFill>
                <a:latin typeface="Arial" pitchFamily="34" charset="0"/>
                <a:ea typeface="Arial" pitchFamily="34" charset="-122"/>
                <a:cs typeface="Arial" pitchFamily="34" charset="-120"/>
              </a:rPr>
              <a:t>evaluated transactions</a:t>
            </a:r>
            <a:endParaRPr lang="en-US" sz="1300" dirty="0"/>
          </a:p>
        </p:txBody>
      </p:sp>
      <p:sp>
        <p:nvSpPr>
          <p:cNvPr id="11" name="Text 9"/>
          <p:cNvSpPr/>
          <p:nvPr/>
        </p:nvSpPr>
        <p:spPr>
          <a:xfrm>
            <a:off x="6035040" y="1325880"/>
            <a:ext cx="2606040" cy="502920"/>
          </a:xfrm>
          <a:prstGeom prst="rect">
            <a:avLst/>
          </a:prstGeom>
          <a:noFill/>
          <a:ln/>
        </p:spPr>
        <p:txBody>
          <a:bodyPr wrap="square" lIns="0" tIns="0" rIns="0" bIns="0" rtlCol="0" anchor="t"/>
          <a:lstStyle/>
          <a:p>
            <a:pPr indent="0" marL="0">
              <a:buNone/>
            </a:pPr>
            <a:r>
              <a:rPr lang="en-US" sz="3400" b="1" dirty="0">
                <a:solidFill>
                  <a:srgbClr val="01696F"/>
                </a:solidFill>
                <a:latin typeface="Arial" pitchFamily="34" charset="0"/>
                <a:ea typeface="Arial" pitchFamily="34" charset="-122"/>
                <a:cs typeface="Arial" pitchFamily="34" charset="-120"/>
              </a:rPr>
              <a:t>3</a:t>
            </a:r>
            <a:endParaRPr lang="en-US" sz="3400" dirty="0"/>
          </a:p>
        </p:txBody>
      </p:sp>
      <p:sp>
        <p:nvSpPr>
          <p:cNvPr id="12" name="Text 10"/>
          <p:cNvSpPr/>
          <p:nvPr/>
        </p:nvSpPr>
        <p:spPr>
          <a:xfrm>
            <a:off x="6035040" y="1874520"/>
            <a:ext cx="2606040" cy="228600"/>
          </a:xfrm>
          <a:prstGeom prst="rect">
            <a:avLst/>
          </a:prstGeom>
          <a:noFill/>
          <a:ln/>
        </p:spPr>
        <p:txBody>
          <a:bodyPr wrap="square" lIns="0" tIns="0" rIns="0" bIns="0" rtlCol="0" anchor="t"/>
          <a:lstStyle/>
          <a:p>
            <a:pPr indent="0" marL="0">
              <a:buNone/>
            </a:pPr>
            <a:r>
              <a:rPr lang="en-US" sz="1300" dirty="0">
                <a:solidFill>
                  <a:srgbClr val="202B2D"/>
                </a:solidFill>
                <a:latin typeface="Arial" pitchFamily="34" charset="0"/>
                <a:ea typeface="Arial" pitchFamily="34" charset="-122"/>
                <a:cs typeface="Arial" pitchFamily="34" charset="-120"/>
              </a:rPr>
              <a:t>evaluation seeds</a:t>
            </a:r>
            <a:endParaRPr lang="en-US" sz="1300" dirty="0"/>
          </a:p>
        </p:txBody>
      </p:sp>
      <p:sp>
        <p:nvSpPr>
          <p:cNvPr id="13" name="Text 11"/>
          <p:cNvSpPr/>
          <p:nvPr/>
        </p:nvSpPr>
        <p:spPr>
          <a:xfrm>
            <a:off x="457200" y="2176272"/>
            <a:ext cx="5394960" cy="256032"/>
          </a:xfrm>
          <a:prstGeom prst="rect">
            <a:avLst/>
          </a:prstGeom>
          <a:noFill/>
          <a:ln/>
        </p:spPr>
        <p:txBody>
          <a:bodyPr wrap="square" lIns="0" tIns="0" rIns="0" bIns="0" rtlCol="0" anchor="t"/>
          <a:lstStyle/>
          <a:p>
            <a:pPr indent="0" marL="0">
              <a:buNone/>
            </a:pPr>
            <a:r>
              <a:rPr lang="en-US" sz="1300" b="1" dirty="0">
                <a:solidFill>
                  <a:srgbClr val="172D30"/>
                </a:solidFill>
                <a:latin typeface="Arial" pitchFamily="34" charset="0"/>
                <a:ea typeface="Arial" pitchFamily="34" charset="-122"/>
                <a:cs typeface="Arial" pitchFamily="34" charset="-120"/>
              </a:rPr>
              <a:t>High-value-burst subset: campaign completion</a:t>
            </a:r>
            <a:endParaRPr lang="en-US" sz="1300" dirty="0"/>
          </a:p>
        </p:txBody>
      </p:sp>
      <p:graphicFrame>
        <p:nvGraphicFramePr>
          <p:cNvPr id="14" name="Chart 0" descr=""/>
          <p:cNvGraphicFramePr/>
          <p:nvPr/>
        </p:nvGraphicFramePr>
        <p:xfrm>
          <a:off x="457200" y="2487168"/>
          <a:ext cx="5349240" cy="1783080"/>
        </p:xfrm>
        <a:graphic xmlns:a="http://schemas.openxmlformats.org/drawingml/2006/main">
          <a:graphicData uri="http://schemas.openxmlformats.org/drawingml/2006/chart">
            <c:chart xmlns:c="http://schemas.openxmlformats.org/drawingml/2006/chart" r:id="rId2"/>
          </a:graphicData>
        </a:graphic>
      </p:graphicFrame>
      <p:sp>
        <p:nvSpPr>
          <p:cNvPr id="15" name="Text 12"/>
          <p:cNvSpPr/>
          <p:nvPr/>
        </p:nvSpPr>
        <p:spPr>
          <a:xfrm>
            <a:off x="6080760" y="2331720"/>
            <a:ext cx="2606040" cy="777240"/>
          </a:xfrm>
          <a:prstGeom prst="rect">
            <a:avLst/>
          </a:prstGeom>
          <a:noFill/>
          <a:ln/>
        </p:spPr>
        <p:txBody>
          <a:bodyPr wrap="square" lIns="0" tIns="0" rIns="0" bIns="0" rtlCol="0" anchor="t"/>
          <a:lstStyle/>
          <a:p>
            <a:pPr indent="0" marL="0">
              <a:buNone/>
            </a:pPr>
            <a:r>
              <a:rPr lang="en-US" sz="1300" b="1" dirty="0">
                <a:solidFill>
                  <a:srgbClr val="172D30"/>
                </a:solidFill>
                <a:latin typeface="Arial" pitchFamily="34" charset="0"/>
                <a:ea typeface="Arial" pitchFamily="34" charset="-122"/>
                <a:cs typeface="Arial" pitchFamily="34" charset="-120"/>
              </a:rPr>
              <a:t>High-value-burst workload</a:t>
            </a:r>
            <a:endParaRPr lang="en-US" sz="1300" dirty="0"/>
          </a:p>
          <a:p>
            <a:pPr indent="0" marL="0">
              <a:buNone/>
            </a:pPr>
            <a:r>
              <a:rPr lang="en-US" sz="1300" b="1" dirty="0">
                <a:solidFill>
                  <a:srgbClr val="172D30"/>
                </a:solidFill>
                <a:latin typeface="Arial" pitchFamily="34" charset="0"/>
                <a:ea typeface="Arial" pitchFamily="34" charset="-122"/>
                <a:cs typeface="Arial" pitchFamily="34" charset="-120"/>
              </a:rPr>
              <a:t>72 campaigns per arm / detector</a:t>
            </a:r>
            <a:endParaRPr lang="en-US" sz="1300" dirty="0"/>
          </a:p>
          <a:p>
            <a:pPr indent="0" marL="0">
              <a:buNone/>
            </a:pPr>
            <a:r>
              <a:rPr lang="en-US" sz="1300" b="1" dirty="0">
                <a:solidFill>
                  <a:srgbClr val="172D30"/>
                </a:solidFill>
                <a:latin typeface="Arial" pitchFamily="34" charset="0"/>
                <a:ea typeface="Arial" pitchFamily="34" charset="-122"/>
                <a:cs typeface="Arial" pitchFamily="34" charset="-120"/>
              </a:rPr>
              <a:t>3 seed-level replications</a:t>
            </a:r>
            <a:endParaRPr lang="en-US" sz="1300" dirty="0"/>
          </a:p>
        </p:txBody>
      </p:sp>
      <p:sp>
        <p:nvSpPr>
          <p:cNvPr id="16" name="Text 13"/>
          <p:cNvSpPr/>
          <p:nvPr/>
        </p:nvSpPr>
        <p:spPr>
          <a:xfrm>
            <a:off x="6080760" y="3090672"/>
            <a:ext cx="2606040" cy="228600"/>
          </a:xfrm>
          <a:prstGeom prst="rect">
            <a:avLst/>
          </a:prstGeom>
          <a:noFill/>
          <a:ln/>
        </p:spPr>
        <p:txBody>
          <a:bodyPr wrap="square" lIns="0" tIns="0" rIns="0" bIns="0" rtlCol="0" anchor="t"/>
          <a:lstStyle/>
          <a:p>
            <a:pPr indent="0" marL="0">
              <a:buNone/>
            </a:pPr>
            <a:r>
              <a:rPr lang="en-US" sz="1100" dirty="0">
                <a:solidFill>
                  <a:srgbClr val="465E62"/>
                </a:solidFill>
                <a:latin typeface="Arial" pitchFamily="34" charset="0"/>
                <a:ea typeface="Arial" pitchFamily="34" charset="-122"/>
                <a:cs typeface="Arial" pitchFamily="34" charset="-120"/>
              </a:rPr>
              <a:t>Seed SDs: speaker notes.</a:t>
            </a:r>
            <a:endParaRPr lang="en-US" sz="1100" dirty="0"/>
          </a:p>
        </p:txBody>
      </p:sp>
      <p:sp>
        <p:nvSpPr>
          <p:cNvPr id="17" name="Text 14"/>
          <p:cNvSpPr/>
          <p:nvPr/>
        </p:nvSpPr>
        <p:spPr>
          <a:xfrm>
            <a:off x="6080760" y="3383280"/>
            <a:ext cx="2606040" cy="685800"/>
          </a:xfrm>
          <a:prstGeom prst="rect">
            <a:avLst/>
          </a:prstGeom>
          <a:noFill/>
          <a:ln/>
        </p:spPr>
        <p:txBody>
          <a:bodyPr wrap="square" lIns="0" tIns="0" rIns="0" bIns="0" rtlCol="0" anchor="t"/>
          <a:lstStyle/>
          <a:p>
            <a:pPr indent="0" marL="0">
              <a:buNone/>
            </a:pPr>
            <a:r>
              <a:rPr lang="en-US" sz="1400" dirty="0">
                <a:solidFill>
                  <a:srgbClr val="465E62"/>
                </a:solidFill>
                <a:latin typeface="Arial" pitchFamily="34" charset="0"/>
                <a:ea typeface="Arial" pitchFamily="34" charset="-122"/>
                <a:cs typeface="Arial" pitchFamily="34" charset="-120"/>
              </a:rPr>
              <a:t>Historical, confounded comparisons.</a:t>
            </a:r>
            <a:endParaRPr lang="en-US" sz="1400" dirty="0"/>
          </a:p>
          <a:p>
            <a:pPr indent="0" marL="0">
              <a:buNone/>
            </a:pPr>
            <a:r>
              <a:rPr lang="en-US" sz="1400" dirty="0">
                <a:solidFill>
                  <a:srgbClr val="465E62"/>
                </a:solidFill>
                <a:latin typeface="Arial" pitchFamily="34" charset="0"/>
                <a:ea typeface="Arial" pitchFamily="34" charset="-122"/>
                <a:cs typeface="Arial" pitchFamily="34" charset="-120"/>
              </a:rPr>
              <a:t>Not detector accuracy or proof</a:t>
            </a:r>
            <a:endParaRPr lang="en-US" sz="1400" dirty="0"/>
          </a:p>
          <a:p>
            <a:pPr indent="0" marL="0">
              <a:buNone/>
            </a:pPr>
            <a:r>
              <a:rPr lang="en-US" sz="1400" dirty="0">
                <a:solidFill>
                  <a:srgbClr val="465E62"/>
                </a:solidFill>
                <a:latin typeface="Arial" pitchFamily="34" charset="0"/>
                <a:ea typeface="Arial" pitchFamily="34" charset="-122"/>
                <a:cs typeface="Arial" pitchFamily="34" charset="-120"/>
              </a:rPr>
              <a:t>of RL superiority.</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47472"/>
            <a:ext cx="8229600" cy="868680"/>
          </a:xfrm>
          <a:prstGeom prst="rect">
            <a:avLst/>
          </a:prstGeom>
          <a:noFill/>
          <a:ln/>
        </p:spPr>
        <p:txBody>
          <a:bodyPr wrap="square" lIns="0" tIns="0" rIns="0" bIns="0" rtlCol="0" anchor="t"/>
          <a:lstStyle/>
          <a:p>
            <a:pPr indent="0" marL="0">
              <a:buNone/>
            </a:pPr>
            <a:r>
              <a:rPr lang="en-US" sz="3400" b="1" dirty="0">
                <a:solidFill>
                  <a:srgbClr val="172D30"/>
                </a:solidFill>
                <a:latin typeface="Arial" pitchFamily="34" charset="0"/>
                <a:ea typeface="Arial" pitchFamily="34" charset="-122"/>
                <a:cs typeface="Arial" pitchFamily="34" charset="-120"/>
              </a:rPr>
              <a:t>A bounded engineering contribution</a:t>
            </a:r>
            <a:endParaRPr lang="en-US" sz="3400" dirty="0"/>
          </a:p>
        </p:txBody>
      </p:sp>
      <p:sp>
        <p:nvSpPr>
          <p:cNvPr id="3" name="Shape 1"/>
          <p:cNvSpPr/>
          <p:nvPr/>
        </p:nvSpPr>
        <p:spPr>
          <a:xfrm>
            <a:off x="8503920" y="4663440"/>
            <a:ext cx="292608" cy="292608"/>
          </a:xfrm>
          <a:prstGeom prst="ellipse">
            <a:avLst/>
          </a:prstGeom>
          <a:solidFill>
            <a:srgbClr val="01696F"/>
          </a:solidFill>
          <a:ln w="12700">
            <a:solidFill>
              <a:srgbClr val="01696F">
                <a:alpha val="0"/>
              </a:srgbClr>
            </a:solidFill>
            <a:prstDash val="solid"/>
          </a:ln>
        </p:spPr>
      </p:sp>
      <p:sp>
        <p:nvSpPr>
          <p:cNvPr id="4" name="Text 2"/>
          <p:cNvSpPr/>
          <p:nvPr/>
        </p:nvSpPr>
        <p:spPr>
          <a:xfrm>
            <a:off x="8503920" y="4695444"/>
            <a:ext cx="292608" cy="182880"/>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6</a:t>
            </a:r>
            <a:endParaRPr lang="en-US" sz="1000" dirty="0"/>
          </a:p>
        </p:txBody>
      </p:sp>
      <p:sp>
        <p:nvSpPr>
          <p:cNvPr id="5" name="Text 3"/>
          <p:cNvSpPr/>
          <p:nvPr/>
        </p:nvSpPr>
        <p:spPr>
          <a:xfrm>
            <a:off x="457200" y="4663440"/>
            <a:ext cx="4206240" cy="201168"/>
          </a:xfrm>
          <a:prstGeom prst="rect">
            <a:avLst/>
          </a:prstGeom>
          <a:noFill/>
          <a:ln/>
        </p:spPr>
        <p:txBody>
          <a:bodyPr wrap="square" lIns="0" tIns="0" rIns="0" bIns="0" rtlCol="0" anchor="t"/>
          <a:lstStyle/>
          <a:p>
            <a:pPr indent="0" marL="0">
              <a:buNone/>
            </a:pPr>
            <a:r>
              <a:rPr lang="en-US" sz="1000" dirty="0">
                <a:solidFill>
                  <a:srgbClr val="465E62"/>
                </a:solidFill>
                <a:latin typeface="Arial" pitchFamily="34" charset="0"/>
                <a:ea typeface="Arial" pitchFamily="34" charset="-122"/>
                <a:cs typeface="Arial" pitchFamily="34" charset="-120"/>
              </a:rPr>
              <a:t>SYNTHETIC RESEARCH  |  GATE C HOLD</a:t>
            </a:r>
            <a:endParaRPr lang="en-US" sz="1000" dirty="0"/>
          </a:p>
        </p:txBody>
      </p:sp>
      <p:sp>
        <p:nvSpPr>
          <p:cNvPr id="6" name="Text 4"/>
          <p:cNvSpPr/>
          <p:nvPr/>
        </p:nvSpPr>
        <p:spPr>
          <a:xfrm>
            <a:off x="457200" y="4370832"/>
            <a:ext cx="8001000" cy="201168"/>
          </a:xfrm>
          <a:prstGeom prst="rect">
            <a:avLst/>
          </a:prstGeom>
          <a:noFill/>
          <a:ln/>
        </p:spPr>
        <p:txBody>
          <a:bodyPr wrap="square" lIns="0" tIns="0" rIns="0" bIns="0" rtlCol="0" anchor="ctr"/>
          <a:lstStyle/>
          <a:p>
            <a:pPr indent="0" marL="0">
              <a:buNone/>
            </a:pPr>
            <a:r>
              <a:rPr lang="en-US" sz="1000" dirty="0">
                <a:solidFill>
                  <a:srgbClr val="465E62"/>
                </a:solidFill>
                <a:latin typeface="Arial" pitchFamily="34" charset="0"/>
                <a:ea typeface="Arial" pitchFamily="34" charset="-122"/>
                <a:cs typeface="Arial" pitchFamily="34" charset="-120"/>
              </a:rPr>
              <a:t>Source: </a:t>
            </a:r>
            <a:r>
              <a:rPr lang="en-US" sz="1000" u="sng" dirty="0">
                <a:solidFill>
                  <a:srgbClr val="01696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prototype source and retained records</a:t>
            </a:r>
            <a:endParaRPr lang="en-US" sz="1000" dirty="0"/>
          </a:p>
        </p:txBody>
      </p:sp>
      <p:sp>
        <p:nvSpPr>
          <p:cNvPr id="7" name="Text 5"/>
          <p:cNvSpPr/>
          <p:nvPr/>
        </p:nvSpPr>
        <p:spPr>
          <a:xfrm>
            <a:off x="457200" y="1371600"/>
            <a:ext cx="3840480" cy="365760"/>
          </a:xfrm>
          <a:prstGeom prst="rect">
            <a:avLst/>
          </a:prstGeom>
          <a:noFill/>
          <a:ln/>
        </p:spPr>
        <p:txBody>
          <a:bodyPr wrap="square" lIns="0" tIns="0" rIns="0" bIns="0" rtlCol="0" anchor="t"/>
          <a:lstStyle/>
          <a:p>
            <a:pPr indent="0" marL="0">
              <a:buNone/>
            </a:pPr>
            <a:r>
              <a:rPr lang="en-US" sz="2300" b="1" dirty="0">
                <a:solidFill>
                  <a:srgbClr val="172D30"/>
                </a:solidFill>
                <a:latin typeface="Arial" pitchFamily="34" charset="0"/>
                <a:ea typeface="Arial" pitchFamily="34" charset="-122"/>
                <a:cs typeface="Arial" pitchFamily="34" charset="-120"/>
              </a:rPr>
              <a:t>Existing methods</a:t>
            </a:r>
            <a:endParaRPr lang="en-US" sz="2300" dirty="0"/>
          </a:p>
        </p:txBody>
      </p:sp>
      <p:sp>
        <p:nvSpPr>
          <p:cNvPr id="8" name="Text 6"/>
          <p:cNvSpPr/>
          <p:nvPr/>
        </p:nvSpPr>
        <p:spPr>
          <a:xfrm>
            <a:off x="457200" y="2194560"/>
            <a:ext cx="3749040" cy="1508760"/>
          </a:xfrm>
          <a:prstGeom prst="rect">
            <a:avLst/>
          </a:prstGeom>
          <a:noFill/>
          <a:ln/>
        </p:spPr>
        <p:txBody>
          <a:bodyPr wrap="square" lIns="0" tIns="0" rIns="0" bIns="0" rtlCol="0" anchor="t"/>
          <a:lstStyle/>
          <a:p>
            <a:pPr indent="0" marL="0">
              <a:buNone/>
            </a:pPr>
            <a:r>
              <a:rPr lang="en-US" sz="1900" dirty="0">
                <a:solidFill>
                  <a:srgbClr val="202B2D"/>
                </a:solidFill>
                <a:latin typeface="Arial" pitchFamily="34" charset="0"/>
                <a:ea typeface="Arial" pitchFamily="34" charset="-122"/>
                <a:cs typeface="Arial" pitchFamily="34" charset="-120"/>
              </a:rPr>
              <a:t>Fraud classification</a:t>
            </a:r>
            <a:endParaRPr lang="en-US" sz="1900" dirty="0"/>
          </a:p>
          <a:p>
            <a:pPr indent="0" marL="0">
              <a:buNone/>
            </a:pPr>
            <a:r>
              <a:rPr lang="en-US" sz="1900" dirty="0">
                <a:solidFill>
                  <a:srgbClr val="202B2D"/>
                </a:solidFill>
                <a:latin typeface="Arial" pitchFamily="34" charset="0"/>
                <a:ea typeface="Arial" pitchFamily="34" charset="-122"/>
                <a:cs typeface="Arial" pitchFamily="34" charset="-120"/>
              </a:rPr>
              <a:t>Sequential modelling</a:t>
            </a:r>
            <a:endParaRPr lang="en-US" sz="1900" dirty="0"/>
          </a:p>
          <a:p>
            <a:pPr indent="0" marL="0">
              <a:buNone/>
            </a:pPr>
            <a:r>
              <a:rPr lang="en-US" sz="1900" dirty="0">
                <a:solidFill>
                  <a:srgbClr val="202B2D"/>
                </a:solidFill>
                <a:latin typeface="Arial" pitchFamily="34" charset="0"/>
                <a:ea typeface="Arial" pitchFamily="34" charset="-122"/>
                <a:cs typeface="Arial" pitchFamily="34" charset="-120"/>
              </a:rPr>
              <a:t>Adversarial evasion</a:t>
            </a:r>
            <a:endParaRPr lang="en-US" sz="1900" dirty="0"/>
          </a:p>
          <a:p>
            <a:pPr indent="0" marL="0">
              <a:buNone/>
            </a:pPr>
            <a:r>
              <a:rPr lang="en-US" sz="1900" dirty="0">
                <a:solidFill>
                  <a:srgbClr val="202B2D"/>
                </a:solidFill>
                <a:latin typeface="Arial" pitchFamily="34" charset="0"/>
                <a:ea typeface="Arial" pitchFamily="34" charset="-122"/>
                <a:cs typeface="Arial" pitchFamily="34" charset="-120"/>
              </a:rPr>
              <a:t>Learning-based attackers</a:t>
            </a:r>
            <a:endParaRPr lang="en-US" sz="1900" dirty="0"/>
          </a:p>
        </p:txBody>
      </p:sp>
      <p:sp>
        <p:nvSpPr>
          <p:cNvPr id="9" name="Text 7"/>
          <p:cNvSpPr/>
          <p:nvPr/>
        </p:nvSpPr>
        <p:spPr>
          <a:xfrm>
            <a:off x="4617720" y="1371600"/>
            <a:ext cx="4069080" cy="640080"/>
          </a:xfrm>
          <a:prstGeom prst="rect">
            <a:avLst/>
          </a:prstGeom>
          <a:noFill/>
          <a:ln/>
        </p:spPr>
        <p:txBody>
          <a:bodyPr wrap="square" lIns="0" tIns="0" rIns="0" bIns="0" rtlCol="0" anchor="t"/>
          <a:lstStyle/>
          <a:p>
            <a:pPr indent="0" marL="0">
              <a:buNone/>
            </a:pPr>
            <a:r>
              <a:rPr lang="en-US" sz="2300" b="1" dirty="0">
                <a:solidFill>
                  <a:srgbClr val="01696F"/>
                </a:solidFill>
                <a:latin typeface="Arial" pitchFamily="34" charset="0"/>
                <a:ea typeface="Arial" pitchFamily="34" charset="-122"/>
                <a:cs typeface="Arial" pitchFamily="34" charset="-120"/>
              </a:rPr>
              <a:t>Our implemented combination</a:t>
            </a:r>
            <a:endParaRPr lang="en-US" sz="2300" dirty="0"/>
          </a:p>
        </p:txBody>
      </p:sp>
      <p:sp>
        <p:nvSpPr>
          <p:cNvPr id="10" name="Text 8"/>
          <p:cNvSpPr/>
          <p:nvPr/>
        </p:nvSpPr>
        <p:spPr>
          <a:xfrm>
            <a:off x="4617720" y="2194560"/>
            <a:ext cx="4069080" cy="1508760"/>
          </a:xfrm>
          <a:prstGeom prst="rect">
            <a:avLst/>
          </a:prstGeom>
          <a:noFill/>
          <a:ln/>
        </p:spPr>
        <p:txBody>
          <a:bodyPr wrap="square" lIns="0" tIns="0" rIns="0" bIns="0" rtlCol="0" anchor="t"/>
          <a:lstStyle/>
          <a:p>
            <a:pPr indent="0" marL="0">
              <a:buNone/>
            </a:pPr>
            <a:r>
              <a:rPr lang="en-US" sz="1900" dirty="0">
                <a:solidFill>
                  <a:srgbClr val="202B2D"/>
                </a:solidFill>
                <a:latin typeface="Arial" pitchFamily="34" charset="0"/>
                <a:ea typeface="Arial" pitchFamily="34" charset="-122"/>
                <a:cs typeface="Arial" pitchFamily="34" charset="-120"/>
              </a:rPr>
              <a:t>Campaign + ledger execution</a:t>
            </a:r>
            <a:endParaRPr lang="en-US" sz="1900" dirty="0"/>
          </a:p>
          <a:p>
            <a:pPr indent="0" marL="0">
              <a:buNone/>
            </a:pPr>
            <a:r>
              <a:rPr lang="en-US" sz="1900" dirty="0">
                <a:solidFill>
                  <a:srgbClr val="202B2D"/>
                </a:solidFill>
                <a:latin typeface="Arial" pitchFamily="34" charset="0"/>
                <a:ea typeface="Arial" pitchFamily="34" charset="-122"/>
                <a:cs typeface="Arial" pitchFamily="34" charset="-120"/>
              </a:rPr>
              <a:t>Inspectable tabular policies</a:t>
            </a:r>
            <a:endParaRPr lang="en-US" sz="1900" dirty="0"/>
          </a:p>
          <a:p>
            <a:pPr indent="0" marL="0">
              <a:buNone/>
            </a:pPr>
            <a:r>
              <a:rPr lang="en-US" sz="1900" dirty="0">
                <a:solidFill>
                  <a:srgbClr val="202B2D"/>
                </a:solidFill>
                <a:latin typeface="Arial" pitchFamily="34" charset="0"/>
                <a:ea typeface="Arial" pitchFamily="34" charset="-122"/>
                <a:cs typeface="Arial" pitchFamily="34" charset="-120"/>
              </a:rPr>
              <a:t>Saved checkpoints and raw traces</a:t>
            </a:r>
            <a:endParaRPr lang="en-US" sz="1900" dirty="0"/>
          </a:p>
          <a:p>
            <a:pPr indent="0" marL="0">
              <a:buNone/>
            </a:pPr>
            <a:r>
              <a:rPr lang="en-US" sz="1900" dirty="0">
                <a:solidFill>
                  <a:srgbClr val="202B2D"/>
                </a:solidFill>
                <a:latin typeface="Arial" pitchFamily="34" charset="0"/>
                <a:ea typeface="Arial" pitchFamily="34" charset="-122"/>
                <a:cs typeface="Arial" pitchFamily="34" charset="-120"/>
              </a:rPr>
              <a:t>Reproducible comparisons</a:t>
            </a:r>
            <a:endParaRPr lang="en-US" sz="1900" dirty="0"/>
          </a:p>
        </p:txBody>
      </p:sp>
      <p:sp>
        <p:nvSpPr>
          <p:cNvPr id="11" name="Text 9"/>
          <p:cNvSpPr/>
          <p:nvPr/>
        </p:nvSpPr>
        <p:spPr>
          <a:xfrm>
            <a:off x="457200" y="3977640"/>
            <a:ext cx="8229600" cy="320040"/>
          </a:xfrm>
          <a:prstGeom prst="rect">
            <a:avLst/>
          </a:prstGeom>
          <a:noFill/>
          <a:ln/>
        </p:spPr>
        <p:txBody>
          <a:bodyPr wrap="square" lIns="0" tIns="0" rIns="0" bIns="0" rtlCol="0" anchor="t"/>
          <a:lstStyle/>
          <a:p>
            <a:pPr indent="0" marL="0">
              <a:buNone/>
            </a:pPr>
            <a:r>
              <a:rPr lang="en-US" sz="1500" dirty="0">
                <a:solidFill>
                  <a:srgbClr val="202B2D"/>
                </a:solidFill>
                <a:latin typeface="Arial" pitchFamily="34" charset="0"/>
                <a:ea typeface="Arial" pitchFamily="34" charset="-122"/>
                <a:cs typeface="Arial" pitchFamily="34" charset="-120"/>
              </a:rPr>
              <a:t>Useful research infrastructure, not a first-ever algorithm or superiority claim.</a:t>
            </a:r>
            <a:endParaRPr lang="en-US" sz="1500" dirty="0"/>
          </a:p>
        </p:txBody>
      </p:sp>
      <p:sp>
        <p:nvSpPr>
          <p:cNvPr id="12" name="Text 10"/>
          <p:cNvSpPr/>
          <p:nvPr/>
        </p:nvSpPr>
        <p:spPr>
          <a:xfrm>
            <a:off x="457200" y="4370832"/>
            <a:ext cx="8001000" cy="201168"/>
          </a:xfrm>
          <a:prstGeom prst="rect">
            <a:avLst/>
          </a:prstGeom>
          <a:solidFill>
            <a:srgbClr val="FFFFFF"/>
          </a:solidFill>
          <a:ln/>
        </p:spPr>
        <p:txBody>
          <a:bodyPr wrap="square" lIns="0" tIns="0" rIns="0" bIns="0" rtlCol="0" anchor="ctr"/>
          <a:lstStyle/>
          <a:p>
            <a:pPr indent="0" marL="0">
              <a:buNone/>
            </a:pPr>
            <a:r>
              <a:rPr lang="en-US" sz="1000" dirty="0">
                <a:solidFill>
                  <a:srgbClr val="465E62"/>
                </a:solidFill>
                <a:latin typeface="Arial" pitchFamily="34" charset="0"/>
                <a:ea typeface="Arial" pitchFamily="34" charset="-122"/>
                <a:cs typeface="Arial" pitchFamily="34" charset="-120"/>
              </a:rPr>
              <a:t>Source: </a:t>
            </a:r>
            <a:r>
              <a:rPr lang="en-US" sz="1000" u="sng" dirty="0">
                <a:solidFill>
                  <a:srgbClr val="01696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source-grounded literature matrix (review branch)</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47472"/>
            <a:ext cx="8229600" cy="868680"/>
          </a:xfrm>
          <a:prstGeom prst="rect">
            <a:avLst/>
          </a:prstGeom>
          <a:noFill/>
          <a:ln/>
        </p:spPr>
        <p:txBody>
          <a:bodyPr wrap="square" lIns="0" tIns="0" rIns="0" bIns="0" rtlCol="0" anchor="t"/>
          <a:lstStyle/>
          <a:p>
            <a:pPr indent="0" marL="0">
              <a:buNone/>
            </a:pPr>
            <a:r>
              <a:rPr lang="en-US" sz="3400" b="1" dirty="0">
                <a:solidFill>
                  <a:srgbClr val="172D30"/>
                </a:solidFill>
                <a:latin typeface="Arial" pitchFamily="34" charset="0"/>
                <a:ea typeface="Arial" pitchFamily="34" charset="-122"/>
                <a:cs typeface="Arial" pitchFamily="34" charset="-120"/>
              </a:rPr>
              <a:t>Run the prototype in a terminal</a:t>
            </a:r>
            <a:endParaRPr lang="en-US" sz="3400" dirty="0"/>
          </a:p>
        </p:txBody>
      </p:sp>
      <p:sp>
        <p:nvSpPr>
          <p:cNvPr id="3" name="Shape 1"/>
          <p:cNvSpPr/>
          <p:nvPr/>
        </p:nvSpPr>
        <p:spPr>
          <a:xfrm>
            <a:off x="8503920" y="4663440"/>
            <a:ext cx="292608" cy="292608"/>
          </a:xfrm>
          <a:prstGeom prst="ellipse">
            <a:avLst/>
          </a:prstGeom>
          <a:solidFill>
            <a:srgbClr val="01696F"/>
          </a:solidFill>
          <a:ln w="12700">
            <a:solidFill>
              <a:srgbClr val="01696F">
                <a:alpha val="0"/>
              </a:srgbClr>
            </a:solidFill>
            <a:prstDash val="solid"/>
          </a:ln>
        </p:spPr>
      </p:sp>
      <p:sp>
        <p:nvSpPr>
          <p:cNvPr id="4" name="Text 2"/>
          <p:cNvSpPr/>
          <p:nvPr/>
        </p:nvSpPr>
        <p:spPr>
          <a:xfrm>
            <a:off x="8503920" y="4695444"/>
            <a:ext cx="292608" cy="182880"/>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7</a:t>
            </a:r>
            <a:endParaRPr lang="en-US" sz="1000" dirty="0"/>
          </a:p>
        </p:txBody>
      </p:sp>
      <p:sp>
        <p:nvSpPr>
          <p:cNvPr id="5" name="Text 3"/>
          <p:cNvSpPr/>
          <p:nvPr/>
        </p:nvSpPr>
        <p:spPr>
          <a:xfrm>
            <a:off x="457200" y="4663440"/>
            <a:ext cx="4206240" cy="201168"/>
          </a:xfrm>
          <a:prstGeom prst="rect">
            <a:avLst/>
          </a:prstGeom>
          <a:noFill/>
          <a:ln/>
        </p:spPr>
        <p:txBody>
          <a:bodyPr wrap="square" lIns="0" tIns="0" rIns="0" bIns="0" rtlCol="0" anchor="t"/>
          <a:lstStyle/>
          <a:p>
            <a:pPr indent="0" marL="0">
              <a:buNone/>
            </a:pPr>
            <a:r>
              <a:rPr lang="en-US" sz="1000" dirty="0">
                <a:solidFill>
                  <a:srgbClr val="465E62"/>
                </a:solidFill>
                <a:latin typeface="Arial" pitchFamily="34" charset="0"/>
                <a:ea typeface="Arial" pitchFamily="34" charset="-122"/>
                <a:cs typeface="Arial" pitchFamily="34" charset="-120"/>
              </a:rPr>
              <a:t>SYNTHETIC RESEARCH  |  GATE C HOLD</a:t>
            </a:r>
            <a:endParaRPr lang="en-US" sz="1000" dirty="0"/>
          </a:p>
        </p:txBody>
      </p:sp>
      <p:sp>
        <p:nvSpPr>
          <p:cNvPr id="6" name="Text 4"/>
          <p:cNvSpPr/>
          <p:nvPr/>
        </p:nvSpPr>
        <p:spPr>
          <a:xfrm>
            <a:off x="457200" y="4370832"/>
            <a:ext cx="8001000" cy="201168"/>
          </a:xfrm>
          <a:prstGeom prst="rect">
            <a:avLst/>
          </a:prstGeom>
          <a:noFill/>
          <a:ln/>
        </p:spPr>
        <p:txBody>
          <a:bodyPr wrap="square" lIns="0" tIns="0" rIns="0" bIns="0" rtlCol="0" anchor="ctr"/>
          <a:lstStyle/>
          <a:p>
            <a:pPr indent="0" marL="0">
              <a:buNone/>
            </a:pPr>
            <a:r>
              <a:rPr lang="en-US" sz="1000" dirty="0">
                <a:solidFill>
                  <a:srgbClr val="465E62"/>
                </a:solidFill>
                <a:latin typeface="Arial" pitchFamily="34" charset="0"/>
                <a:ea typeface="Arial" pitchFamily="34" charset="-122"/>
                <a:cs typeface="Arial" pitchFamily="34" charset="-120"/>
              </a:rPr>
              <a:t>Source: </a:t>
            </a:r>
            <a:r>
              <a:rPr lang="en-US" sz="1000" u="sng" dirty="0">
                <a:solidFill>
                  <a:srgbClr val="01696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prototype source and retained records</a:t>
            </a:r>
            <a:endParaRPr lang="en-US" sz="1000" dirty="0"/>
          </a:p>
        </p:txBody>
      </p:sp>
      <p:sp>
        <p:nvSpPr>
          <p:cNvPr id="7" name="Text 5"/>
          <p:cNvSpPr/>
          <p:nvPr/>
        </p:nvSpPr>
        <p:spPr>
          <a:xfrm>
            <a:off x="457200" y="1325880"/>
            <a:ext cx="8229600" cy="411480"/>
          </a:xfrm>
          <a:prstGeom prst="rect">
            <a:avLst/>
          </a:prstGeom>
          <a:noFill/>
          <a:ln/>
        </p:spPr>
        <p:txBody>
          <a:bodyPr wrap="square" lIns="0" tIns="0" rIns="0" bIns="0" rtlCol="0" anchor="t"/>
          <a:lstStyle/>
          <a:p>
            <a:pPr indent="0" marL="0">
              <a:buNone/>
            </a:pPr>
            <a:r>
              <a:rPr lang="en-US" sz="1500" dirty="0">
                <a:solidFill>
                  <a:srgbClr val="202B2D"/>
                </a:solidFill>
                <a:latin typeface="Arial" pitchFamily="34" charset="0"/>
                <a:ea typeface="Arial" pitchFamily="34" charset="-122"/>
                <a:cs typeface="Arial" pitchFamily="34" charset="-120"/>
              </a:rPr>
              <a:t>From a clone of prototype/rl-academic-complete; Linux / WSL2, Python 3.11.</a:t>
            </a:r>
            <a:endParaRPr lang="en-US" sz="1500" dirty="0"/>
          </a:p>
        </p:txBody>
      </p:sp>
      <p:sp>
        <p:nvSpPr>
          <p:cNvPr id="8" name="Shape 6"/>
          <p:cNvSpPr/>
          <p:nvPr/>
        </p:nvSpPr>
        <p:spPr>
          <a:xfrm>
            <a:off x="457200" y="1901952"/>
            <a:ext cx="8229600" cy="2011680"/>
          </a:xfrm>
          <a:prstGeom prst="rect">
            <a:avLst/>
          </a:prstGeom>
          <a:solidFill>
            <a:srgbClr val="172D30"/>
          </a:solidFill>
          <a:ln w="12700">
            <a:solidFill>
              <a:srgbClr val="172D30">
                <a:alpha val="0"/>
              </a:srgbClr>
            </a:solidFill>
            <a:prstDash val="solid"/>
          </a:ln>
        </p:spPr>
      </p:sp>
      <p:sp>
        <p:nvSpPr>
          <p:cNvPr id="9" name="Text 7"/>
          <p:cNvSpPr/>
          <p:nvPr/>
        </p:nvSpPr>
        <p:spPr>
          <a:xfrm>
            <a:off x="612648" y="2048256"/>
            <a:ext cx="7909560" cy="1737360"/>
          </a:xfrm>
          <a:prstGeom prst="rect">
            <a:avLst/>
          </a:prstGeom>
          <a:noFill/>
          <a:ln/>
        </p:spPr>
        <p:txBody>
          <a:bodyPr wrap="square" lIns="0" tIns="0" rIns="0" bIns="0" rtlCol="0" anchor="t"/>
          <a:lstStyle/>
          <a:p>
            <a:pPr indent="0" marL="0">
              <a:buNone/>
            </a:pPr>
            <a:r>
              <a:rPr lang="en-US" sz="1400" dirty="0">
                <a:solidFill>
                  <a:srgbClr val="FFFFFF"/>
                </a:solidFill>
                <a:latin typeface="Courier New" pitchFamily="34" charset="0"/>
                <a:ea typeface="Courier New" pitchFamily="34" charset="-122"/>
                <a:cs typeface="Courier New" pitchFamily="34" charset="-120"/>
              </a:rPr>
              <a:t>python3.11 -m venv .venv</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source .venv/bin/activate</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python -m pip install -r requirements-milestone1.lock</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python -B -s run_prototype.py \</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  --detector both --attacker all --seeds 101 \</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  --episodes 2 --campaigns 1 --output demo-faculty-01</a:t>
            </a:r>
            <a:endParaRPr lang="en-US" sz="1400" dirty="0"/>
          </a:p>
        </p:txBody>
      </p:sp>
      <p:sp>
        <p:nvSpPr>
          <p:cNvPr id="10" name="Text 8"/>
          <p:cNvSpPr/>
          <p:nvPr/>
        </p:nvSpPr>
        <p:spPr>
          <a:xfrm>
            <a:off x="457200" y="4023360"/>
            <a:ext cx="8229600" cy="274320"/>
          </a:xfrm>
          <a:prstGeom prst="rect">
            <a:avLst/>
          </a:prstGeom>
          <a:noFill/>
          <a:ln/>
        </p:spPr>
        <p:txBody>
          <a:bodyPr wrap="square" lIns="0" tIns="0" rIns="0" bIns="0" rtlCol="0" anchor="t"/>
          <a:lstStyle/>
          <a:p>
            <a:pPr indent="0" marL="0">
              <a:buNone/>
            </a:pPr>
            <a:r>
              <a:rPr lang="en-US" sz="1400" dirty="0">
                <a:solidFill>
                  <a:srgbClr val="01696F"/>
                </a:solidFill>
                <a:latin typeface="Arial" pitchFamily="34" charset="0"/>
                <a:ea typeface="Arial" pitchFamily="34" charset="-122"/>
                <a:cs typeface="Arial" pitchFamily="34" charset="-120"/>
              </a:rPr>
              <a:t>Inspect campaigns.json, transactions.csv, summary.csv and comparison.svg.</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47472"/>
            <a:ext cx="8229600" cy="868680"/>
          </a:xfrm>
          <a:prstGeom prst="rect">
            <a:avLst/>
          </a:prstGeom>
          <a:noFill/>
          <a:ln/>
        </p:spPr>
        <p:txBody>
          <a:bodyPr wrap="square" lIns="0" tIns="0" rIns="0" bIns="0" rtlCol="0" anchor="t"/>
          <a:lstStyle/>
          <a:p>
            <a:pPr indent="0" marL="0">
              <a:buNone/>
            </a:pPr>
            <a:r>
              <a:rPr lang="en-US" sz="3400" b="1" dirty="0">
                <a:solidFill>
                  <a:srgbClr val="172D30"/>
                </a:solidFill>
                <a:latin typeface="Arial" pitchFamily="34" charset="0"/>
                <a:ea typeface="Arial" pitchFamily="34" charset="-122"/>
                <a:cs typeface="Arial" pitchFamily="34" charset="-120"/>
              </a:rPr>
              <a:t>What we can defend at review</a:t>
            </a:r>
            <a:endParaRPr lang="en-US" sz="3400" dirty="0"/>
          </a:p>
        </p:txBody>
      </p:sp>
      <p:sp>
        <p:nvSpPr>
          <p:cNvPr id="3" name="Shape 1"/>
          <p:cNvSpPr/>
          <p:nvPr/>
        </p:nvSpPr>
        <p:spPr>
          <a:xfrm>
            <a:off x="8503920" y="4663440"/>
            <a:ext cx="292608" cy="292608"/>
          </a:xfrm>
          <a:prstGeom prst="ellipse">
            <a:avLst/>
          </a:prstGeom>
          <a:solidFill>
            <a:srgbClr val="01696F"/>
          </a:solidFill>
          <a:ln w="12700">
            <a:solidFill>
              <a:srgbClr val="01696F">
                <a:alpha val="0"/>
              </a:srgbClr>
            </a:solidFill>
            <a:prstDash val="solid"/>
          </a:ln>
        </p:spPr>
      </p:sp>
      <p:sp>
        <p:nvSpPr>
          <p:cNvPr id="4" name="Text 2"/>
          <p:cNvSpPr/>
          <p:nvPr/>
        </p:nvSpPr>
        <p:spPr>
          <a:xfrm>
            <a:off x="8503920" y="4695444"/>
            <a:ext cx="292608" cy="182880"/>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8</a:t>
            </a:r>
            <a:endParaRPr lang="en-US" sz="1000" dirty="0"/>
          </a:p>
        </p:txBody>
      </p:sp>
      <p:sp>
        <p:nvSpPr>
          <p:cNvPr id="5" name="Text 3"/>
          <p:cNvSpPr/>
          <p:nvPr/>
        </p:nvSpPr>
        <p:spPr>
          <a:xfrm>
            <a:off x="457200" y="4663440"/>
            <a:ext cx="4206240" cy="201168"/>
          </a:xfrm>
          <a:prstGeom prst="rect">
            <a:avLst/>
          </a:prstGeom>
          <a:noFill/>
          <a:ln/>
        </p:spPr>
        <p:txBody>
          <a:bodyPr wrap="square" lIns="0" tIns="0" rIns="0" bIns="0" rtlCol="0" anchor="t"/>
          <a:lstStyle/>
          <a:p>
            <a:pPr indent="0" marL="0">
              <a:buNone/>
            </a:pPr>
            <a:r>
              <a:rPr lang="en-US" sz="1000" dirty="0">
                <a:solidFill>
                  <a:srgbClr val="465E62"/>
                </a:solidFill>
                <a:latin typeface="Arial" pitchFamily="34" charset="0"/>
                <a:ea typeface="Arial" pitchFamily="34" charset="-122"/>
                <a:cs typeface="Arial" pitchFamily="34" charset="-120"/>
              </a:rPr>
              <a:t>SYNTHETIC RESEARCH  |  GATE C HOLD</a:t>
            </a:r>
            <a:endParaRPr lang="en-US" sz="1000" dirty="0"/>
          </a:p>
        </p:txBody>
      </p:sp>
      <p:sp>
        <p:nvSpPr>
          <p:cNvPr id="6" name="Text 4"/>
          <p:cNvSpPr/>
          <p:nvPr/>
        </p:nvSpPr>
        <p:spPr>
          <a:xfrm>
            <a:off x="457200" y="4370832"/>
            <a:ext cx="8001000" cy="201168"/>
          </a:xfrm>
          <a:prstGeom prst="rect">
            <a:avLst/>
          </a:prstGeom>
          <a:noFill/>
          <a:ln/>
        </p:spPr>
        <p:txBody>
          <a:bodyPr wrap="square" lIns="0" tIns="0" rIns="0" bIns="0" rtlCol="0" anchor="ctr"/>
          <a:lstStyle/>
          <a:p>
            <a:pPr indent="0" marL="0">
              <a:buNone/>
            </a:pPr>
            <a:r>
              <a:rPr lang="en-US" sz="1000" dirty="0">
                <a:solidFill>
                  <a:srgbClr val="465E62"/>
                </a:solidFill>
                <a:latin typeface="Arial" pitchFamily="34" charset="0"/>
                <a:ea typeface="Arial" pitchFamily="34" charset="-122"/>
                <a:cs typeface="Arial" pitchFamily="34" charset="-120"/>
              </a:rPr>
              <a:t>Source: </a:t>
            </a:r>
            <a:r>
              <a:rPr lang="en-US" sz="1000" u="sng" dirty="0">
                <a:solidFill>
                  <a:srgbClr val="01696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prototype source and retained records</a:t>
            </a:r>
            <a:endParaRPr lang="en-US" sz="1000" dirty="0"/>
          </a:p>
        </p:txBody>
      </p:sp>
      <p:sp>
        <p:nvSpPr>
          <p:cNvPr id="7" name="Text 5"/>
          <p:cNvSpPr/>
          <p:nvPr/>
        </p:nvSpPr>
        <p:spPr>
          <a:xfrm>
            <a:off x="457200" y="1371600"/>
            <a:ext cx="2286000" cy="365760"/>
          </a:xfrm>
          <a:prstGeom prst="rect">
            <a:avLst/>
          </a:prstGeom>
          <a:noFill/>
          <a:ln/>
        </p:spPr>
        <p:txBody>
          <a:bodyPr wrap="square" lIns="0" tIns="0" rIns="0" bIns="0" rtlCol="0" anchor="t"/>
          <a:lstStyle/>
          <a:p>
            <a:pPr indent="0" marL="0">
              <a:buNone/>
            </a:pPr>
            <a:r>
              <a:rPr lang="en-US" sz="2000" b="1" dirty="0">
                <a:solidFill>
                  <a:srgbClr val="01696F"/>
                </a:solidFill>
                <a:latin typeface="Arial" pitchFamily="34" charset="0"/>
                <a:ea typeface="Arial" pitchFamily="34" charset="-122"/>
                <a:cs typeface="Arial" pitchFamily="34" charset="-120"/>
              </a:rPr>
              <a:t>Implemented</a:t>
            </a:r>
            <a:endParaRPr lang="en-US" sz="2000" dirty="0"/>
          </a:p>
        </p:txBody>
      </p:sp>
      <p:sp>
        <p:nvSpPr>
          <p:cNvPr id="8" name="Text 6"/>
          <p:cNvSpPr/>
          <p:nvPr/>
        </p:nvSpPr>
        <p:spPr>
          <a:xfrm>
            <a:off x="2834640" y="1371600"/>
            <a:ext cx="5852160" cy="594360"/>
          </a:xfrm>
          <a:prstGeom prst="rect">
            <a:avLst/>
          </a:prstGeom>
          <a:noFill/>
          <a:ln/>
        </p:spPr>
        <p:txBody>
          <a:bodyPr wrap="square" lIns="0" tIns="0" rIns="0" bIns="0" rtlCol="0" anchor="t"/>
          <a:lstStyle/>
          <a:p>
            <a:pPr indent="0" marL="0">
              <a:buNone/>
            </a:pPr>
            <a:r>
              <a:rPr lang="en-US" sz="1700" dirty="0">
                <a:solidFill>
                  <a:srgbClr val="202B2D"/>
                </a:solidFill>
                <a:latin typeface="Arial" pitchFamily="34" charset="0"/>
                <a:ea typeface="Arial" pitchFamily="34" charset="-122"/>
                <a:cs typeface="Arial" pitchFamily="34" charset="-120"/>
              </a:rPr>
              <a:t>Campaign simulation, two detectors,</a:t>
            </a:r>
            <a:endParaRPr lang="en-US" sz="1700" dirty="0"/>
          </a:p>
          <a:p>
            <a:pPr indent="0" marL="0">
              <a:buNone/>
            </a:pPr>
            <a:r>
              <a:rPr lang="en-US" sz="1700" dirty="0">
                <a:solidFill>
                  <a:srgbClr val="202B2D"/>
                </a:solidFill>
                <a:latin typeface="Arial" pitchFamily="34" charset="0"/>
                <a:ea typeface="Arial" pitchFamily="34" charset="-122"/>
                <a:cs typeface="Arial" pitchFamily="34" charset="-120"/>
              </a:rPr>
              <a:t>four attacker controls and raw outputs.</a:t>
            </a:r>
            <a:endParaRPr lang="en-US" sz="1700" dirty="0"/>
          </a:p>
        </p:txBody>
      </p:sp>
      <p:sp>
        <p:nvSpPr>
          <p:cNvPr id="9" name="Text 7"/>
          <p:cNvSpPr/>
          <p:nvPr/>
        </p:nvSpPr>
        <p:spPr>
          <a:xfrm>
            <a:off x="457200" y="2194560"/>
            <a:ext cx="2286000" cy="365760"/>
          </a:xfrm>
          <a:prstGeom prst="rect">
            <a:avLst/>
          </a:prstGeom>
          <a:noFill/>
          <a:ln/>
        </p:spPr>
        <p:txBody>
          <a:bodyPr wrap="square" lIns="0" tIns="0" rIns="0" bIns="0" rtlCol="0" anchor="t"/>
          <a:lstStyle/>
          <a:p>
            <a:pPr indent="0" marL="0">
              <a:buNone/>
            </a:pPr>
            <a:r>
              <a:rPr lang="en-US" sz="2000" b="1" dirty="0">
                <a:solidFill>
                  <a:srgbClr val="01696F"/>
                </a:solidFill>
                <a:latin typeface="Arial" pitchFamily="34" charset="0"/>
                <a:ea typeface="Arial" pitchFamily="34" charset="-122"/>
                <a:cs typeface="Arial" pitchFamily="34" charset="-120"/>
              </a:rPr>
              <a:t>Still limited</a:t>
            </a:r>
            <a:endParaRPr lang="en-US" sz="2000" dirty="0"/>
          </a:p>
        </p:txBody>
      </p:sp>
      <p:sp>
        <p:nvSpPr>
          <p:cNvPr id="10" name="Text 8"/>
          <p:cNvSpPr/>
          <p:nvPr/>
        </p:nvSpPr>
        <p:spPr>
          <a:xfrm>
            <a:off x="2834640" y="2194560"/>
            <a:ext cx="5852160" cy="594360"/>
          </a:xfrm>
          <a:prstGeom prst="rect">
            <a:avLst/>
          </a:prstGeom>
          <a:noFill/>
          <a:ln/>
        </p:spPr>
        <p:txBody>
          <a:bodyPr wrap="square" lIns="0" tIns="0" rIns="0" bIns="0" rtlCol="0" anchor="t"/>
          <a:lstStyle/>
          <a:p>
            <a:pPr indent="0" marL="0">
              <a:buNone/>
            </a:pPr>
            <a:r>
              <a:rPr lang="en-US" sz="1700" dirty="0">
                <a:solidFill>
                  <a:srgbClr val="202B2D"/>
                </a:solidFill>
                <a:latin typeface="Arial" pitchFamily="34" charset="0"/>
                <a:ea typeface="Arial" pitchFamily="34" charset="-122"/>
                <a:cs typeface="Arial" pitchFamily="34" charset="-120"/>
              </a:rPr>
              <a:t>Synthetic data; detector-family exclusion</a:t>
            </a:r>
            <a:endParaRPr lang="en-US" sz="1700" dirty="0"/>
          </a:p>
          <a:p>
            <a:pPr indent="0" marL="0">
              <a:buNone/>
            </a:pPr>
            <a:r>
              <a:rPr lang="en-US" sz="1700" dirty="0">
                <a:solidFill>
                  <a:srgbClr val="202B2D"/>
                </a:solidFill>
                <a:latin typeface="Arial" pitchFamily="34" charset="0"/>
                <a:ea typeface="Arial" pitchFamily="34" charset="-122"/>
                <a:cs typeface="Arial" pitchFamily="34" charset="-120"/>
              </a:rPr>
              <a:t>unverified; legacy policy comparisons confounded.</a:t>
            </a:r>
            <a:endParaRPr lang="en-US" sz="1700" dirty="0"/>
          </a:p>
        </p:txBody>
      </p:sp>
      <p:sp>
        <p:nvSpPr>
          <p:cNvPr id="11" name="Text 9"/>
          <p:cNvSpPr/>
          <p:nvPr/>
        </p:nvSpPr>
        <p:spPr>
          <a:xfrm>
            <a:off x="457200" y="3017520"/>
            <a:ext cx="2286000" cy="365760"/>
          </a:xfrm>
          <a:prstGeom prst="rect">
            <a:avLst/>
          </a:prstGeom>
          <a:noFill/>
          <a:ln/>
        </p:spPr>
        <p:txBody>
          <a:bodyPr wrap="square" lIns="0" tIns="0" rIns="0" bIns="0" rtlCol="0" anchor="t"/>
          <a:lstStyle/>
          <a:p>
            <a:pPr indent="0" marL="0">
              <a:buNone/>
            </a:pPr>
            <a:r>
              <a:rPr lang="en-US" sz="2000" b="1" dirty="0">
                <a:solidFill>
                  <a:srgbClr val="01696F"/>
                </a:solidFill>
                <a:latin typeface="Arial" pitchFamily="34" charset="0"/>
                <a:ea typeface="Arial" pitchFamily="34" charset="-122"/>
                <a:cs typeface="Arial" pitchFamily="34" charset="-120"/>
              </a:rPr>
              <a:t>Submission pending</a:t>
            </a:r>
            <a:endParaRPr lang="en-US" sz="2000" dirty="0"/>
          </a:p>
        </p:txBody>
      </p:sp>
      <p:sp>
        <p:nvSpPr>
          <p:cNvPr id="12" name="Text 10"/>
          <p:cNvSpPr/>
          <p:nvPr/>
        </p:nvSpPr>
        <p:spPr>
          <a:xfrm>
            <a:off x="2834640" y="3017520"/>
            <a:ext cx="5852160" cy="594360"/>
          </a:xfrm>
          <a:prstGeom prst="rect">
            <a:avLst/>
          </a:prstGeom>
          <a:noFill/>
          <a:ln/>
        </p:spPr>
        <p:txBody>
          <a:bodyPr wrap="square" lIns="0" tIns="0" rIns="0" bIns="0" rtlCol="0" anchor="t"/>
          <a:lstStyle/>
          <a:p>
            <a:pPr indent="0" marL="0">
              <a:buNone/>
            </a:pPr>
            <a:r>
              <a:rPr lang="en-US" sz="1700" dirty="0">
                <a:solidFill>
                  <a:srgbClr val="202B2D"/>
                </a:solidFill>
                <a:latin typeface="Arial" pitchFamily="34" charset="0"/>
                <a:ea typeface="Arial" pitchFamily="34" charset="-122"/>
                <a:cs typeface="Arial" pitchFamily="34" charset="-120"/>
              </a:rPr>
              <a:t>The later IEEE draft is AI-assisted.</a:t>
            </a:r>
            <a:endParaRPr lang="en-US" sz="1700" dirty="0"/>
          </a:p>
          <a:p>
            <a:pPr indent="0" marL="0">
              <a:buNone/>
            </a:pPr>
            <a:r>
              <a:rPr lang="en-US" sz="1700" dirty="0">
                <a:solidFill>
                  <a:srgbClr val="202B2D"/>
                </a:solidFill>
                <a:latin typeface="Arial" pitchFamily="34" charset="0"/>
                <a:ea typeface="Arial" pitchFamily="34" charset="-122"/>
                <a:cs typeface="Arial" pitchFamily="34" charset="-120"/>
              </a:rPr>
              <a:t>Human authorship review and approved checks remain.</a:t>
            </a:r>
            <a:endParaRPr lang="en-US" sz="1700" dirty="0"/>
          </a:p>
        </p:txBody>
      </p:sp>
      <p:sp>
        <p:nvSpPr>
          <p:cNvPr id="13" name="Text 11"/>
          <p:cNvSpPr/>
          <p:nvPr/>
        </p:nvSpPr>
        <p:spPr>
          <a:xfrm>
            <a:off x="457200" y="4023360"/>
            <a:ext cx="8229600" cy="274320"/>
          </a:xfrm>
          <a:prstGeom prst="rect">
            <a:avLst/>
          </a:prstGeom>
          <a:noFill/>
          <a:ln/>
        </p:spPr>
        <p:txBody>
          <a:bodyPr wrap="square" lIns="0" tIns="0" rIns="0" bIns="0" rtlCol="0" anchor="ctr"/>
          <a:lstStyle/>
          <a:p>
            <a:pPr indent="0" marL="0">
              <a:buNone/>
            </a:pPr>
            <a:r>
              <a:rPr lang="en-US" sz="1300" dirty="0">
                <a:solidFill>
                  <a:srgbClr val="172D30"/>
                </a:solidFill>
                <a:latin typeface="Arial" pitchFamily="34" charset="0"/>
                <a:ea typeface="Arial" pitchFamily="34" charset="-122"/>
                <a:cs typeface="Arial" pitchFamily="34" charset="-120"/>
              </a:rPr>
              <a:t>Later dashboard, matched pilot and IEEE paper: </a:t>
            </a:r>
            <a:r>
              <a:rPr lang="en-US" sz="1300" u="sng" dirty="0">
                <a:solidFill>
                  <a:srgbClr val="01696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review branch</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Researcher authorship details pending approval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UPI Fraud Stress Lab: Prototype Faculty Review</dc:title>
  <dc:subject>Faculty review of prototype/rl-academic-complete</dc:subject>
  <dc:creator>AI-assisted draft for researcher review</dc:creator>
  <cp:lastModifiedBy>AI-assisted draft for researcher review</cp:lastModifiedBy>
  <cp:revision>1</cp:revision>
  <dcterms:created xsi:type="dcterms:W3CDTF">2026-10-28T15:03:42Z</dcterms:created>
  <dcterms:modified xsi:type="dcterms:W3CDTF">2026-10-28T15:03:42Z</dcterms:modified>
</cp:coreProperties>
</file>