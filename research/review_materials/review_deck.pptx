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80B8A5"/>
            </a:solidFill>
          </c:spPr>
          <c:cat>
            <c:strRef>
              <c:f>Sheet1!$A$2:$A$6</c:f>
              <c:strCache>
                <c:ptCount val="5"/>
                <c:pt idx="0">
                  <c:v>Static</c:v>
                </c:pt>
                <c:pt idx="1">
                  <c:v>Rule</c:v>
                </c:pt>
                <c:pt idx="2">
                  <c:v>RL</c:v>
                </c:pt>
                <c:pt idx="3">
                  <c:v>Blind RL</c:v>
                </c:pt>
                <c:pt idx="4">
                  <c:v>Zero Q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1.6666666666666667</c:v>
                </c:pt>
                <c:pt idx="1">
                  <c:v>75.27777777777777</c:v>
                </c:pt>
                <c:pt idx="2">
                  <c:v>43.333333333333336</c:v>
                </c:pt>
                <c:pt idx="3">
                  <c:v>42.22222222222222</c:v>
                </c:pt>
                <c:pt idx="4">
                  <c:v>50.833333333333336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2B25B"/>
            </a:solidFill>
          </c:spPr>
          <c:cat>
            <c:strRef>
              <c:f>Sheet1!$A$2:$A$6</c:f>
              <c:strCache>
                <c:ptCount val="5"/>
                <c:pt idx="0">
                  <c:v>Static</c:v>
                </c:pt>
                <c:pt idx="1">
                  <c:v>Rule</c:v>
                </c:pt>
                <c:pt idx="2">
                  <c:v>RL</c:v>
                </c:pt>
                <c:pt idx="3">
                  <c:v>Blind RL</c:v>
                </c:pt>
                <c:pt idx="4">
                  <c:v>Zero Q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71.11111111111111</c:v>
                </c:pt>
                <c:pt idx="1">
                  <c:v>100.0</c:v>
                </c:pt>
                <c:pt idx="2">
                  <c:v>91.94444444444444</c:v>
                </c:pt>
                <c:pt idx="3">
                  <c:v>89.72222222222223</c:v>
                </c:pt>
                <c:pt idx="4">
                  <c:v>85.27777777777777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CEBE6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300">
                    <a:solidFill>
                      <a:srgbClr val="ECEBE6"/>
                    </a:solidFill>
                  </a:defRPr>
                </a:pPr>
                <a:r>
                  <a:t>Completion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CEBE6"/>
                </a:solidFill>
                <a:latin typeface="Liberation Sans"/>
              </a:defRPr>
            </a:pPr>
          </a:p>
        </c:txPr>
        <c:crossAx val="-2068027336"/>
        <c:crosses val="autoZero"/>
        <c:majorUnit val="25.0"/>
      </c:valAx>
    </c:plotArea>
    <c:legend>
      <c:legendPos val="b"/>
      <c:txPr>
        <a:bodyPr/>
        <a:lstStyle/>
        <a:p>
          <a:pPr>
            <a:defRPr sz="1300">
              <a:solidFill>
                <a:srgbClr val="ECEBE6"/>
              </a:solidFill>
            </a:defRPr>
          </a:pPr>
        </a:p>
      </c:txPr>
    </c:legend>
    <c:dispBlanksAs val="gap"/>
  </c:chart>
  <c:spPr>
    <a:solidFill>
      <a:srgbClr val="171C1E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Legitimate GE mimics</c:v>
                </c:pt>
              </c:strCache>
            </c:strRef>
          </c:tx>
          <c:spPr>
            <a:solidFill>
              <a:srgbClr val="80B8A5"/>
            </a:solidFill>
          </c:spPr>
          <c:cat>
            <c:strRef>
              <c:f>Sheet1!$A$2:$A$3</c:f>
              <c:strCache>
                <c:ptCount val="2"/>
                <c:pt idx="0">
                  <c:v>XGBoost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48.27777777777778</c:v>
                </c:pt>
                <c:pt idx="1">
                  <c:v>12.805555555555555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CEBE6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300">
                    <a:solidFill>
                      <a:srgbClr val="ECEBE6"/>
                    </a:solidFill>
                  </a:defRPr>
                </a:pPr>
                <a:r>
                  <a:t>Benign false-block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CEBE6"/>
                </a:solidFill>
                <a:latin typeface="Liberation Sans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spPr>
    <a:solidFill>
      <a:srgbClr val="171C1E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09/TDSC.2026.3673847" TargetMode="External"/><Relationship Id="rId3" Type="http://schemas.openxmlformats.org/officeDocument/2006/relationships/hyperlink" Target="https://www.usenix.org/conference/raid2020/presentation/carminati" TargetMode="External"/><Relationship Id="rId4" Type="http://schemas.openxmlformats.org/officeDocument/2006/relationships/hyperlink" Target="https://www.msc-les.org/proceedings/emss/2016/EMSS2016_249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UPI Fraud Stress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0">
                <a:solidFill>
                  <a:srgbClr val="80B8A5"/>
                </a:solidFill>
                <a:latin typeface="Liberation Sans"/>
              </a:defRPr>
            </a:pPr>
            <a:r>
              <a:t>Campaign-level evaluation before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ECEBE6"/>
                </a:solidFill>
                <a:latin typeface="Liberation Sans"/>
              </a:defRPr>
            </a:pPr>
            <a:r>
              <a:t>An auditable engineering case study, not a deployed UPI detector.</a:t>
            </a:r>
          </a:p>
          <a:p>
            <a:pPr>
              <a:spcAft>
                <a:spcPts val="1200"/>
              </a:spcAft>
              <a:defRPr sz="2500" b="0">
                <a:solidFill>
                  <a:srgbClr val="ECEBE6"/>
                </a:solidFill>
                <a:latin typeface="Liberation Sans"/>
              </a:defRPr>
            </a:pPr>
            <a:r>
              <a:t>Working software, matched synthetic controls and preserved adverse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2BEBD"/>
                </a:solidFill>
                <a:latin typeface="Liberation Sans"/>
              </a:defRPr>
            </a:pPr>
            <a:r>
              <a:t>Academic review draft • author, venue and external checker approval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Why evaluate a campaign?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Transaction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AUC ranks examples in a specified dataset.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It does not say when a sequence stops.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Campaign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Does a simulated actor reach its target before BLOCK?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FLAG can still transfer; BLOCK terminates.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E2B25B"/>
                </a:solidFill>
                <a:latin typeface="Liberation Sans"/>
              </a:defRPr>
            </a:pPr>
            <a:r>
              <a:t>Gross simulated debit is not victim loss or proven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The implemented evidence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468880" cy="1005840"/>
          </a:xfrm>
          <a:prstGeom prst="rect">
            <a:avLst/>
          </a:prstGeom>
          <a:solidFill>
            <a:srgbClr val="253235"/>
          </a:solidFill>
          <a:ln>
            <a:solidFill>
              <a:srgbClr val="46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31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CEBE6"/>
                </a:solidFill>
                <a:latin typeface="Liberation Sans"/>
              </a:defRPr>
            </a:pPr>
            <a:r>
              <a:t>Local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80B8A5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920240"/>
            <a:ext cx="2468880" cy="1005840"/>
          </a:xfrm>
          <a:prstGeom prst="rect">
            <a:avLst/>
          </a:prstGeom>
          <a:solidFill>
            <a:srgbClr val="253235"/>
          </a:solidFill>
          <a:ln>
            <a:solidFill>
              <a:srgbClr val="46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31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CEBE6"/>
                </a:solidFill>
                <a:latin typeface="Liberation Sans"/>
              </a:defRPr>
            </a:pPr>
            <a:r>
              <a:t>Safe Python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945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80B8A5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920240"/>
            <a:ext cx="2468880" cy="1005840"/>
          </a:xfrm>
          <a:prstGeom prst="rect">
            <a:avLst/>
          </a:prstGeom>
          <a:solidFill>
            <a:srgbClr val="253235"/>
          </a:solidFill>
          <a:ln>
            <a:solidFill>
              <a:srgbClr val="46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CEBE6"/>
                </a:solidFill>
                <a:latin typeface="Liberation Sans"/>
              </a:defRPr>
            </a:pPr>
            <a:r>
              <a:t>Existing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945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80B8A5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1920240"/>
            <a:ext cx="2468880" cy="1005840"/>
          </a:xfrm>
          <a:prstGeom prst="rect">
            <a:avLst/>
          </a:prstGeom>
          <a:solidFill>
            <a:srgbClr val="253235"/>
          </a:solidFill>
          <a:ln>
            <a:solidFill>
              <a:srgbClr val="465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231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CEBE6"/>
                </a:solidFill>
                <a:latin typeface="Liberation Sans"/>
              </a:defRPr>
            </a:pPr>
            <a:r>
              <a:t>Immutable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ECEBE6"/>
                </a:solidFill>
                <a:latin typeface="Liberation Sans"/>
              </a:defRPr>
            </a:pPr>
            <a:r>
              <a:t>Independent checkers and raw-record reconstruction feed tables, figures and the paper.</a:t>
            </a:r>
          </a:p>
          <a:p>
            <a:pPr>
              <a:spcAft>
                <a:spcPts val="1200"/>
              </a:spcAft>
              <a:defRPr sz="2300" b="0">
                <a:solidFill>
                  <a:srgbClr val="ECEBE6"/>
                </a:solidFill>
                <a:latin typeface="Liberation Sans"/>
              </a:defRPr>
            </a:pPr>
            <a:r>
              <a:t>No arbitrary shell, public binding or Git/Gate C endpoint.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A narrow, registered exploratory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Data and detectors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9 independent blocks; 18 fresh detector fits.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7,200 evaluated attack campaigns.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HVB allowed; declared GE excluded from development.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Ordinary benign and GE-mimic test strata.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Five online-matched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Static; rule-adaptive; trained RL;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explicit-label-blind RL; zero Q.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Common actions, clipping, pacing and budgets.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Offline training costs remain unequal.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E2B25B"/>
                </a:solidFill>
                <a:latin typeface="Liberation Sans"/>
              </a:defRPr>
            </a:pPr>
            <a:r>
              <a:t>No powered confirmatory lockbox and no real-world UPI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Completion depends on detector and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600200"/>
          <a:ext cx="7498079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7373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80B8A5"/>
                </a:solidFill>
                <a:latin typeface="Liberation Sans"/>
              </a:defRPr>
            </a:pPr>
            <a:r>
              <a:t>Held-out GE</a:t>
            </a:r>
          </a:p>
          <a:p>
            <a:pPr>
              <a:spcAft>
                <a:spcPts val="1200"/>
              </a:spcAft>
              <a:defRPr sz="1800" b="0">
                <a:solidFill>
                  <a:srgbClr val="80B8A5"/>
                </a:solidFill>
                <a:latin typeface="Liberation Sans"/>
              </a:defRPr>
            </a:pPr>
            <a:r>
              <a:t>360 campaigns per arm/detector</a:t>
            </a:r>
          </a:p>
          <a:p>
            <a:pPr>
              <a:spcAft>
                <a:spcPts val="1200"/>
              </a:spcAft>
              <a:defRPr sz="1800" b="0">
                <a:solidFill>
                  <a:srgbClr val="80B8A5"/>
                </a:solidFill>
                <a:latin typeface="Liberation Sans"/>
              </a:defRPr>
            </a:pPr>
            <a:r>
              <a:t>9 independent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246120"/>
            <a:ext cx="32918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Block SD (percentage points)</a:t>
            </a:r>
          </a:p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Arm: XGB / RF</a:t>
            </a:r>
          </a:p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Static: 1.25 / 7.61</a:t>
            </a:r>
          </a:p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Rule: 14.33 / 0.00</a:t>
            </a:r>
          </a:p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RL: 24.08 / 8.36</a:t>
            </a:r>
          </a:p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Blind RL: 24.86 / 9.56</a:t>
            </a:r>
          </a:p>
          <a:p>
            <a:pPr>
              <a:spcAft>
                <a:spcPts val="1200"/>
              </a:spcAft>
              <a:defRPr sz="1500" b="0">
                <a:solidFill>
                  <a:srgbClr val="ECEBE6"/>
                </a:solidFill>
                <a:latin typeface="Liberation Sans"/>
              </a:defRPr>
            </a:pPr>
            <a:r>
              <a:t>Zero Q: 17.98 / 6.43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Benign mechanism shift is a major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645920"/>
          <a:ext cx="72237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1691640"/>
            <a:ext cx="3474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E2B25B"/>
                </a:solidFill>
                <a:latin typeface="Liberation Sans"/>
              </a:defRPr>
            </a:pPr>
            <a:r>
              <a:t>48.278%</a:t>
            </a:r>
          </a:p>
          <a:p>
            <a:pPr>
              <a:spcAft>
                <a:spcPts val="1200"/>
              </a:spcAft>
              <a:defRPr sz="2300" b="0">
                <a:solidFill>
                  <a:srgbClr val="E2B25B"/>
                </a:solidFill>
                <a:latin typeface="Liberation Sans"/>
              </a:defRPr>
            </a:pPr>
            <a:r>
              <a:t>1,738 / 3,600 XGBoost episodes</a:t>
            </a:r>
          </a:p>
          <a:p>
            <a:pPr>
              <a:spcAft>
                <a:spcPts val="1200"/>
              </a:spcAft>
              <a:defRPr sz="2300" b="0">
                <a:solidFill>
                  <a:srgbClr val="E2B25B"/>
                </a:solidFill>
                <a:latin typeface="Liberation Sans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E2B25B"/>
                </a:solidFill>
                <a:latin typeface="Liberation Sans"/>
              </a:defRPr>
            </a:pPr>
            <a:r>
              <a:t>12.806%</a:t>
            </a:r>
          </a:p>
          <a:p>
            <a:pPr>
              <a:spcAft>
                <a:spcPts val="1200"/>
              </a:spcAft>
              <a:defRPr sz="2300" b="0">
                <a:solidFill>
                  <a:srgbClr val="E2B25B"/>
                </a:solidFill>
                <a:latin typeface="Liberation Sans"/>
              </a:defRPr>
            </a:pPr>
            <a:r>
              <a:t>461 / 3,600 RF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ECEBE6"/>
                </a:solidFill>
                <a:latin typeface="Liberation Sans"/>
              </a:defRPr>
            </a:pPr>
            <a:r>
              <a:t>Ordinary benign: 0 observed BLOCK / 3,600 per detector.</a:t>
            </a:r>
          </a:p>
          <a:p>
            <a:pPr>
              <a:spcAft>
                <a:spcPts val="1200"/>
              </a:spcAft>
              <a:defRPr sz="1900" b="0">
                <a:solidFill>
                  <a:srgbClr val="ECEBE6"/>
                </a:solidFill>
                <a:latin typeface="Liberation Sans"/>
              </a:defRPr>
            </a:pPr>
            <a:r>
              <a:t>No population guarantee; nine blocks. Mechanism exclusion ≠ reliable discrimination.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What we can defensibly contribute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Source: verified literature links below; project implementation and retained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Prior research already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Sequence fraud detection, synthetic finance,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banking evasion and learned attackers.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This project is not the first RL fraud attack.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Implemented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Auditable campaign/ledger infrastructure,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five matched controls, narrow lineage checks,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benign-shift controls and reconstruction.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No universal superiority claim.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54864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80B8A5"/>
                </a:solidFill>
                <a:latin typeface="Liberation Sans"/>
              </a:defRPr>
            </a:pPr>
            <a:r>
              <a:t>Fraud-RLA</a:t>
            </a:r>
          </a:p>
        </p:txBody>
      </p:sp>
      <p:sp>
        <p:nvSpPr>
          <p:cNvPr id="11" name="TextBox 10">
            <a:hlinkClick r:id="rId3"/>
          </p:cNvPr>
          <p:cNvSpPr txBox="1"/>
          <p:nvPr/>
        </p:nvSpPr>
        <p:spPr>
          <a:xfrm>
            <a:off x="411480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80B8A5"/>
                </a:solidFill>
                <a:latin typeface="Liberation Sans"/>
              </a:defRPr>
            </a:pPr>
            <a:r>
              <a:t>Banking evasion</a:t>
            </a:r>
          </a:p>
        </p:txBody>
      </p:sp>
      <p:sp>
        <p:nvSpPr>
          <p:cNvPr id="12" name="TextBox 11">
            <a:hlinkClick r:id="rId4"/>
          </p:cNvPr>
          <p:cNvSpPr txBox="1"/>
          <p:nvPr/>
        </p:nvSpPr>
        <p:spPr>
          <a:xfrm>
            <a:off x="786384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80B8A5"/>
                </a:solidFill>
                <a:latin typeface="Liberation Sans"/>
              </a:defRPr>
            </a:pPr>
            <a:r>
              <a:t>PaySim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A real local research workstation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pic>
        <p:nvPicPr>
          <p:cNvPr id="6" name="Picture 5" descr="dashboard-review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3598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80B8A5"/>
                </a:solidFill>
                <a:latin typeface="Liberation Sans"/>
              </a:defRPr>
            </a:pPr>
            <a:r>
              <a:t>Actual overview detail. Live demo: run → logs → campaign → comparisons →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38912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CEBE6"/>
                </a:solidFill>
                <a:latin typeface="Liberation Sans"/>
              </a:defRPr>
            </a:pPr>
            <a:r>
              <a:t>Verified engineering; bounded scientific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80B8A5"/>
                </a:solidFill>
                <a:latin typeface="Liberation Sans"/>
              </a:defRPr>
            </a:pPr>
            <a:r>
              <a:t>SYNTHETIC RESEARCH  /  GATE C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36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2BEBD"/>
                </a:solidFill>
                <a:latin typeface="Liberation Sans"/>
              </a:defRPr>
            </a:pPr>
            <a:r>
              <a:t>Project records: results/ and docs/VERIFICATION_REPORT.md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Executed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478 distinct tests passed in fresh Python 3.11.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Short legacy/pilot main, repeat, reload and check.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1,012,673 retained-pilot verifier checks;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30,985 TD updates replayed.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80B8A5"/>
                </a:solidFill>
                <a:latin typeface="Liberation Sans"/>
              </a:defRPr>
            </a:pPr>
            <a:r>
              <a:t>Still requires human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Approve authors, venue and AI-use policy.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Obtain genuine approved AI/similarity reports.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Select a project license.</a:t>
            </a:r>
          </a:p>
          <a:p>
            <a:pPr>
              <a:spcAft>
                <a:spcPts val="1200"/>
              </a:spcAft>
              <a:defRPr sz="2000" b="0">
                <a:solidFill>
                  <a:srgbClr val="ECEBE6"/>
                </a:solidFill>
                <a:latin typeface="Liberation Sans"/>
              </a:defRPr>
            </a:pPr>
            <a:r>
              <a:t>Do not infer real-world effectiveness.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E2B25B"/>
                </a:solidFill>
                <a:latin typeface="Liberation Sans"/>
              </a:defRPr>
            </a:pPr>
            <a:r>
              <a:t>Ready for exploratory academic review, not unqualified submission.</a:t>
            </a:r>
          </a:p>
          <a:p>
            <a:pPr>
              <a:spcAft>
                <a:spcPts val="1200"/>
              </a:spcAft>
              <a:defRPr sz="2100" b="0">
                <a:solidFill>
                  <a:srgbClr val="E2B25B"/>
                </a:solidFill>
                <a:latin typeface="Liberation Sans"/>
              </a:defRPr>
            </a:pPr>
            <a:r>
              <a:t>Scientific validity extends only as far as the evidence. Gate C remains 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Fraud Stress Lab: Faculty Review</dc:title>
  <dc:subject/>
  <dc:creator>Perplexity Computer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